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2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1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_rels/slideLayout5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1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18.png" ContentType="image/png"/>
  <Override PartName="/ppt/media/image86.png" ContentType="image/png"/>
  <Override PartName="/ppt/media/image34.svg" ContentType="image/svg"/>
  <Override PartName="/ppt/media/image115.png" ContentType="image/png"/>
  <Override PartName="/ppt/media/image15.png" ContentType="image/png"/>
  <Override PartName="/ppt/media/image131.svg" ContentType="image/svg"/>
  <Override PartName="/ppt/media/image113.png" ContentType="image/png"/>
  <Override PartName="/ppt/media/image13.png" ContentType="image/png"/>
  <Override PartName="/ppt/media/image109.png" ContentType="image/png"/>
  <Override PartName="/ppt/media/image93.svg" ContentType="image/svg"/>
  <Override PartName="/ppt/media/image125.svg" ContentType="image/svg"/>
  <Override PartName="/ppt/media/image177.png" ContentType="image/png"/>
  <Override PartName="/ppt/media/image108.png" ContentType="image/png"/>
  <Override PartName="/ppt/media/image76.png" ContentType="image/png"/>
  <Override PartName="/ppt/media/image107.png" ContentType="image/png"/>
  <Override PartName="/ppt/media/image91.svg" ContentType="image/svg"/>
  <Override PartName="/ppt/media/image123.svg" ContentType="image/svg"/>
  <Override PartName="/ppt/media/image175.png" ContentType="image/png"/>
  <Override PartName="/ppt/media/image101.svg" ContentType="image/svg"/>
  <Override PartName="/ppt/media/image7.png" ContentType="image/png"/>
  <Override PartName="/ppt/media/image53.png" ContentType="image/png"/>
  <Override PartName="/ppt/media/image153.png" ContentType="image/png"/>
  <Override PartName="/ppt/media/image98.png" ContentType="image/png"/>
  <Override PartName="/ppt/media/image11.jpeg" ContentType="image/jpeg"/>
  <Override PartName="/ppt/media/image96.png" ContentType="image/png"/>
  <Override PartName="/ppt/media/image28.png" ContentType="image/png"/>
  <Override PartName="/ppt/media/image128.png" ContentType="image/png"/>
  <Override PartName="/ppt/media/image94.png" ContentType="image/png"/>
  <Override PartName="/ppt/media/image26.png" ContentType="image/png"/>
  <Override PartName="/ppt/media/image126.png" ContentType="image/png"/>
  <Override PartName="/ppt/media/image88.png" ContentType="image/png"/>
  <Override PartName="/ppt/media/image36.svg" ContentType="image/svg"/>
  <Override PartName="/ppt/media/image10.jpeg" ContentType="image/jpeg"/>
  <Override PartName="/ppt/media/image87.svg" ContentType="image/svg"/>
  <Override PartName="/ppt/media/image119.svg" ContentType="image/svg"/>
  <Override PartName="/ppt/media/image83.svg" ContentType="image/svg"/>
  <Override PartName="/ppt/media/image81.svg" ContentType="image/svg"/>
  <Override PartName="/ppt/media/image165.png" ContentType="image/png"/>
  <Override PartName="/ppt/media/image124.png" ContentType="image/png"/>
  <Override PartName="/ppt/media/image92.png" ContentType="image/png"/>
  <Override PartName="/ppt/media/image24.png" ContentType="image/png"/>
  <Override PartName="/ppt/media/image122.png" ContentType="image/png"/>
  <Override PartName="/ppt/media/image90.png" ContentType="image/png"/>
  <Override PartName="/ppt/media/image22.png" ContentType="image/png"/>
  <Override PartName="/ppt/media/image74.png" ContentType="image/png"/>
  <Override PartName="/ppt/media/image106.png" ContentType="image/png"/>
  <Override PartName="/ppt/media/image174.png" ContentType="image/png"/>
  <Override PartName="/ppt/media/image121.svg" ContentType="image/svg"/>
  <Override PartName="/ppt/media/image173.png" ContentType="image/png"/>
  <Override PartName="/ppt/media/image73.svg" ContentType="image/svg"/>
  <Override PartName="/ppt/media/image105.svg" ContentType="image/svg"/>
  <Override PartName="/ppt/media/image120.png" ContentType="image/png"/>
  <Override PartName="/ppt/media/image20.png" ContentType="image/png"/>
  <Override PartName="/ppt/media/image38.svg" ContentType="image/svg"/>
  <Override PartName="/ppt/media/image59.svg" ContentType="image/svg"/>
  <Override PartName="/ppt/media/image152.png" ContentType="image/png"/>
  <Override PartName="/ppt/media/image6.png" ContentType="image/png"/>
  <Override PartName="/ppt/media/image52.png" ContentType="image/png"/>
  <Override PartName="/ppt/media/image100.png" ContentType="image/png"/>
  <Override PartName="/ppt/media/image12.jpeg" ContentType="image/jpeg"/>
  <Override PartName="/ppt/media/image30.png" ContentType="image/png"/>
  <Override PartName="/ppt/media/image130.png" ContentType="image/png"/>
  <Override PartName="/ppt/media/image14.png" ContentType="image/png"/>
  <Override PartName="/ppt/media/image82.png" ContentType="image/png"/>
  <Override PartName="/ppt/media/image31.png" ContentType="image/png"/>
  <Override PartName="/ppt/media/image159.png" ContentType="image/png"/>
  <Override PartName="/ppt/media/image75.svg" ContentType="image/svg"/>
  <Override PartName="/ppt/media/image89.svg" ContentType="image/svg"/>
  <Override PartName="/ppt/media/image40.png" ContentType="image/png"/>
  <Override PartName="/ppt/media/image140.png" ContentType="image/png"/>
  <Override PartName="/ppt/media/image132.png" ContentType="image/png"/>
  <Override PartName="/ppt/media/image176.svg" ContentType="image/svg"/>
  <Override PartName="/ppt/media/image19.png" ContentType="image/png"/>
  <Override PartName="/ppt/media/image54.png" ContentType="image/png"/>
  <Override PartName="/ppt/media/image8.png" ContentType="image/png"/>
  <Override PartName="/ppt/media/image154.png" ContentType="image/png"/>
  <Override PartName="/ppt/media/image178.svg" ContentType="image/svg"/>
  <Override PartName="/ppt/media/image57.jpeg" ContentType="image/jpeg"/>
  <Override PartName="/ppt/media/image111.png" ContentType="image/png"/>
  <Override PartName="/ppt/media/image138.png" ContentType="image/png"/>
  <Override PartName="/ppt/media/image161.png" ContentType="image/png"/>
  <Override PartName="/ppt/media/image148.png" ContentType="image/png"/>
  <Override PartName="/ppt/media/image48.png" ContentType="image/png"/>
  <Override PartName="/ppt/media/image163.png" ContentType="image/png"/>
  <Override PartName="/ppt/media/image150.png" ContentType="image/png"/>
  <Override PartName="/ppt/media/image50.png" ContentType="image/png"/>
  <Override PartName="/ppt/media/image141.png" ContentType="image/png"/>
  <Override PartName="/ppt/media/image41.png" ContentType="image/png"/>
  <Override PartName="/ppt/media/image133.svg" ContentType="image/svg"/>
  <Override PartName="/ppt/media/image136.png" ContentType="image/png"/>
  <Override PartName="/ppt/media/image5.png" ContentType="image/png"/>
  <Override PartName="/ppt/media/image151.png" ContentType="image/png"/>
  <Override PartName="/ppt/media/image51.png" ContentType="image/png"/>
  <Override PartName="/ppt/media/image46.png" ContentType="image/png"/>
  <Override PartName="/ppt/media/image146.png" ContentType="image/png"/>
  <Override PartName="/ppt/media/image39.png" ContentType="image/png"/>
  <Override PartName="/ppt/media/image139.png" ContentType="image/png"/>
  <Override PartName="/ppt/media/image171.png" ContentType="image/png"/>
  <Override PartName="/ppt/media/image143.png" ContentType="image/png"/>
  <Override PartName="/ppt/media/image170.jpeg" ContentType="image/jpeg"/>
  <Override PartName="/ppt/media/image142.png" ContentType="image/png"/>
  <Override PartName="/ppt/media/image42.png" ContentType="image/png"/>
  <Override PartName="/ppt/media/image37.png" ContentType="image/png"/>
  <Override PartName="/ppt/media/image137.png" ContentType="image/png"/>
  <Override PartName="/ppt/media/image157.svg" ContentType="image/svg"/>
  <Override PartName="/ppt/media/image99.svg" ContentType="image/svg"/>
  <Override PartName="/ppt/media/image129.svg" ContentType="image/svg"/>
  <Override PartName="/ppt/media/image29.svg" ContentType="image/svg"/>
  <Override PartName="/ppt/media/image97.svg" ContentType="image/svg"/>
  <Override PartName="/ppt/media/image44.png" ContentType="image/png"/>
  <Override PartName="/ppt/media/image144.png" ContentType="image/png"/>
  <Override PartName="/ppt/media/image156.png" ContentType="image/png"/>
  <Override PartName="/ppt/media/image56.png" ContentType="image/png"/>
  <Override PartName="/ppt/media/image134.png" ContentType="image/png"/>
  <Override PartName="/ppt/media/image4.svg" ContentType="image/svg"/>
  <Override PartName="/ppt/media/image135.png" ContentType="image/png"/>
  <Override PartName="/ppt/media/image35.png" ContentType="image/png"/>
  <Override PartName="/ppt/media/image79.svg" ContentType="image/svg"/>
  <Override PartName="/ppt/media/image95.svg" ContentType="image/svg"/>
  <Override PartName="/ppt/media/image127.svg" ContentType="image/svg"/>
  <Override PartName="/ppt/media/image179.png" ContentType="image/png"/>
  <Override PartName="/ppt/media/image3.png" ContentType="image/png"/>
  <Override PartName="/ppt/media/image181.jpeg" ContentType="image/jpeg"/>
  <Override PartName="/ppt/media/image2.png" ContentType="image/png"/>
  <Override PartName="/ppt/media/image33.png" ContentType="image/png"/>
  <Override PartName="/ppt/media/image77.svg" ContentType="image/svg"/>
  <Override PartName="/ppt/media/image1.png" ContentType="image/png"/>
  <Override PartName="/ppt/media/image18.jpeg" ContentType="image/jpeg"/>
  <Override PartName="/ppt/media/image78.png" ContentType="image/png"/>
  <Override PartName="/ppt/media/image58.png" ContentType="image/png"/>
  <Override PartName="/ppt/media/image158.png" ContentType="image/png"/>
  <Override PartName="/ppt/media/image27.png" ContentType="image/png"/>
  <Override PartName="/ppt/media/image43.svg" ContentType="image/svg"/>
  <Override PartName="/ppt/media/image21.png" ContentType="image/png"/>
  <Override PartName="/ppt/media/image65.svg" ContentType="image/svg"/>
  <Override PartName="/ppt/media/image149.png" ContentType="image/png"/>
  <Override PartName="/ppt/media/image47.svg" ContentType="image/svg"/>
  <Override PartName="/ppt/media/image23.png" ContentType="image/png"/>
  <Override PartName="/ppt/media/image67.svg" ContentType="image/svg"/>
  <Override PartName="/ppt/media/image167.svg" ContentType="image/svg"/>
  <Override PartName="/ppt/media/image49.svg" ContentType="image/svg"/>
  <Override PartName="/ppt/media/image102.png" ContentType="image/png"/>
  <Override PartName="/ppt/media/image70.png" ContentType="image/png"/>
  <Override PartName="/ppt/media/image25.png" ContentType="image/png"/>
  <Override PartName="/ppt/media/image69.svg" ContentType="image/svg"/>
  <Override PartName="/ppt/media/image169.svg" ContentType="image/svg"/>
  <Override PartName="/ppt/media/image85.svg" ContentType="image/svg"/>
  <Override PartName="/ppt/media/image117.svg" ContentType="image/svg"/>
  <Override PartName="/ppt/media/image17.svg" ContentType="image/svg"/>
  <Override PartName="/ppt/media/image60.png" ContentType="image/png"/>
  <Override PartName="/ppt/media/image160.png" ContentType="image/png"/>
  <Override PartName="/ppt/media/image45.png" ContentType="image/png"/>
  <Override PartName="/ppt/media/image145.png" ContentType="image/png"/>
  <Override PartName="/ppt/media/image61.svg" ContentType="image/svg"/>
  <Override PartName="/ppt/media/image162.png" ContentType="image/png"/>
  <Override PartName="/ppt/media/image62.png" ContentType="image/png"/>
  <Override PartName="/ppt/media/image110.png" ContentType="image/png"/>
  <Override PartName="/ppt/media/image147.png" ContentType="image/png"/>
  <Override PartName="/ppt/media/image63.svg" ContentType="image/svg"/>
  <Override PartName="/ppt/media/image180.svg" ContentType="image/svg"/>
  <Override PartName="/ppt/media/image164.png" ContentType="image/png"/>
  <Override PartName="/ppt/media/image64.png" ContentType="image/png"/>
  <Override PartName="/ppt/media/image80.png" ContentType="image/png"/>
  <Override PartName="/ppt/media/image112.png" ContentType="image/png"/>
  <Override PartName="/ppt/media/image166.png" ContentType="image/png"/>
  <Override PartName="/ppt/media/image114.svg" ContentType="image/svg"/>
  <Override PartName="/ppt/media/image66.png" ContentType="image/png"/>
  <Override PartName="/ppt/media/image168.png" ContentType="image/png"/>
  <Override PartName="/ppt/media/image68.png" ContentType="image/png"/>
  <Override PartName="/ppt/media/image84.png" ContentType="image/png"/>
  <Override PartName="/ppt/media/image32.svg" ContentType="image/svg"/>
  <Override PartName="/ppt/media/image116.png" ContentType="image/png"/>
  <Override PartName="/ppt/media/image16.png" ContentType="image/png"/>
  <Override PartName="/ppt/media/image9.png" ContentType="image/png"/>
  <Override PartName="/ppt/media/image55.png" ContentType="image/png"/>
  <Override PartName="/ppt/media/image103.svg" ContentType="image/svg"/>
  <Override PartName="/ppt/media/image155.png" ContentType="image/png"/>
  <Override PartName="/ppt/media/image71.svg" ContentType="image/svg"/>
  <Override PartName="/ppt/media/image72.png" ContentType="image/png"/>
  <Override PartName="/ppt/media/image104.png" ContentType="image/png"/>
  <Override PartName="/ppt/media/image172.png" ContentType="image/png"/>
  <Override PartName="/ppt/slides/slide56.xml" ContentType="application/vnd.openxmlformats-officedocument.presentationml.slide+xml"/>
  <Override PartName="/ppt/slides/slide55.xml" ContentType="application/vnd.openxmlformats-officedocument.presentationml.slide+xml"/>
  <Override PartName="/ppt/slides/slide54.xml" ContentType="application/vnd.openxmlformats-officedocument.presentationml.slide+xml"/>
  <Override PartName="/ppt/slides/slide53.xml" ContentType="application/vnd.openxmlformats-officedocument.presentationml.slide+xml"/>
  <Override PartName="/ppt/slides/slide52.xml" ContentType="application/vnd.openxmlformats-officedocument.presentationml.slide+xml"/>
  <Override PartName="/ppt/slides/slide51.xml" ContentType="application/vnd.openxmlformats-officedocument.presentationml.slide+xml"/>
  <Override PartName="/ppt/slides/slide50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43.xml" ContentType="application/vnd.openxmlformats-officedocument.presentationml.slide+xml"/>
  <Override PartName="/ppt/slides/slide42.xml" ContentType="application/vnd.openxmlformats-officedocument.presentationml.slide+xml"/>
  <Override PartName="/ppt/slides/slide41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47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4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_rels/slide40.xml.rels" ContentType="application/vnd.openxmlformats-package.relationships+xml"/>
  <Override PartName="/ppt/slides/_rels/slide39.xml.rels" ContentType="application/vnd.openxmlformats-package.relationships+xml"/>
  <Override PartName="/ppt/slides/_rels/slide38.xml.rels" ContentType="application/vnd.openxmlformats-package.relationships+xml"/>
  <Override PartName="/ppt/slides/_rels/slide37.xml.rels" ContentType="application/vnd.openxmlformats-package.relationships+xml"/>
  <Override PartName="/ppt/slides/_rels/slide36.xml.rels" ContentType="application/vnd.openxmlformats-package.relationships+xml"/>
  <Override PartName="/ppt/slides/_rels/slide35.xml.rels" ContentType="application/vnd.openxmlformats-package.relationships+xml"/>
  <Override PartName="/ppt/slides/_rels/slide34.xml.rels" ContentType="application/vnd.openxmlformats-package.relationships+xml"/>
  <Override PartName="/ppt/slides/_rels/slide33.xml.rels" ContentType="application/vnd.openxmlformats-package.relationships+xml"/>
  <Override PartName="/ppt/slides/_rels/slide13.xml.rels" ContentType="application/vnd.openxmlformats-package.relationships+xml"/>
  <Override PartName="/ppt/slides/_rels/slide59.xml.rels" ContentType="application/vnd.openxmlformats-package.relationships+xml"/>
  <Override PartName="/ppt/slides/_rels/slide22.xml.rels" ContentType="application/vnd.openxmlformats-package.relationships+xml"/>
  <Override PartName="/ppt/slides/_rels/slide5.xml.rels" ContentType="application/vnd.openxmlformats-package.relationships+xml"/>
  <Override PartName="/ppt/slides/_rels/slide71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46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.xml.rels" ContentType="application/vnd.openxmlformats-package.relationships+xml"/>
  <Override PartName="/ppt/slides/_rels/slide56.xml.rels" ContentType="application/vnd.openxmlformats-package.relationships+xml"/>
  <Override PartName="/ppt/slides/_rels/slide47.xml.rels" ContentType="application/vnd.openxmlformats-package.relationships+xml"/>
  <Override PartName="/ppt/slides/_rels/slide10.xml.rels" ContentType="application/vnd.openxmlformats-package.relationships+xml"/>
  <Override PartName="/ppt/slides/_rels/slide44.xml.rels" ContentType="application/vnd.openxmlformats-package.relationships+xml"/>
  <Override PartName="/ppt/slides/_rels/slide55.xml.rels" ContentType="application/vnd.openxmlformats-package.relationships+xml"/>
  <Override PartName="/ppt/slides/_rels/slide29.xml.rels" ContentType="application/vnd.openxmlformats-package.relationships+xml"/>
  <Override PartName="/ppt/slides/_rels/slide1.xml.rels" ContentType="application/vnd.openxmlformats-package.relationships+xml"/>
  <Override PartName="/ppt/slides/_rels/slide43.xml.rels" ContentType="application/vnd.openxmlformats-package.relationships+xml"/>
  <Override PartName="/ppt/slides/_rels/slide42.xml.rels" ContentType="application/vnd.openxmlformats-package.relationships+xml"/>
  <Override PartName="/ppt/slides/_rels/slide16.xml.rels" ContentType="application/vnd.openxmlformats-package.relationships+xml"/>
  <Override PartName="/ppt/slides/_rels/slide53.xml.rels" ContentType="application/vnd.openxmlformats-package.relationships+xml"/>
  <Override PartName="/ppt/slides/_rels/slide41.xml.rels" ContentType="application/vnd.openxmlformats-package.relationships+xml"/>
  <Override PartName="/ppt/slides/_rels/slide15.xml.rels" ContentType="application/vnd.openxmlformats-package.relationships+xml"/>
  <Override PartName="/ppt/slides/_rels/slide52.xml.rels" ContentType="application/vnd.openxmlformats-package.relationships+xml"/>
  <Override PartName="/ppt/slides/_rels/slide54.xml.rels" ContentType="application/vnd.openxmlformats-package.relationships+xml"/>
  <Override PartName="/ppt/slides/_rels/slide17.xml.rels" ContentType="application/vnd.openxmlformats-package.relationships+xml"/>
  <Override PartName="/ppt/slides/_rels/slide14.xml.rels" ContentType="application/vnd.openxmlformats-package.relationships+xml"/>
  <Override PartName="/ppt/slides/_rels/slide51.xml.rels" ContentType="application/vnd.openxmlformats-package.relationships+xml"/>
  <Override PartName="/ppt/slides/_rels/slide50.xml.rels" ContentType="application/vnd.openxmlformats-package.relationships+xml"/>
  <Override PartName="/ppt/slides/_rels/slide45.xml.rels" ContentType="application/vnd.openxmlformats-package.relationships+xml"/>
  <Override PartName="/ppt/slides/_rels/slide69.xml.rels" ContentType="application/vnd.openxmlformats-package.relationships+xml"/>
  <Override PartName="/ppt/slides/_rels/slide32.xml.rels" ContentType="application/vnd.openxmlformats-package.relationships+xml"/>
  <Override PartName="/ppt/slides/_rels/slide70.xml.rels" ContentType="application/vnd.openxmlformats-package.relationships+xml"/>
  <Override PartName="/ppt/slides/_rels/slide28.xml.rels" ContentType="application/vnd.openxmlformats-package.relationships+xml"/>
  <Override PartName="/ppt/slides/_rels/slide68.xml.rels" ContentType="application/vnd.openxmlformats-package.relationships+xml"/>
  <Override PartName="/ppt/slides/_rels/slide31.xml.rels" ContentType="application/vnd.openxmlformats-package.relationships+xml"/>
  <Override PartName="/ppt/slides/_rels/slide67.xml.rels" ContentType="application/vnd.openxmlformats-package.relationships+xml"/>
  <Override PartName="/ppt/slides/_rels/slide30.xml.rels" ContentType="application/vnd.openxmlformats-package.relationships+xml"/>
  <Override PartName="/ppt/slides/_rels/slide65.xml.rels" ContentType="application/vnd.openxmlformats-package.relationships+xml"/>
  <Override PartName="/ppt/slides/_rels/slide27.xml.rels" ContentType="application/vnd.openxmlformats-package.relationships+xml"/>
  <Override PartName="/ppt/slides/_rels/slide64.xml.rels" ContentType="application/vnd.openxmlformats-package.relationships+xml"/>
  <Override PartName="/ppt/slides/_rels/slide66.xml.rels" ContentType="application/vnd.openxmlformats-package.relationships+xml"/>
  <Override PartName="/ppt/slides/_rels/slide63.xml.rels" ContentType="application/vnd.openxmlformats-package.relationships+xml"/>
  <Override PartName="/ppt/slides/_rels/slide62.xml.rels" ContentType="application/vnd.openxmlformats-package.relationships+xml"/>
  <Override PartName="/ppt/slides/_rels/slide61.xml.rels" ContentType="application/vnd.openxmlformats-package.relationships+xml"/>
  <Override PartName="/ppt/slides/_rels/slide19.xml.rels" ContentType="application/vnd.openxmlformats-package.relationships+xml"/>
  <Override PartName="/ppt/slides/_rels/slide6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20.xml.rels" ContentType="application/vnd.openxmlformats-package.relationships+xml"/>
  <Override PartName="/ppt/slides/_rels/slide57.xml.rels" ContentType="application/vnd.openxmlformats-package.relationships+xml"/>
  <Override PartName="/ppt/slides/_rels/slide11.xml.rels" ContentType="application/vnd.openxmlformats-package.relationships+xml"/>
  <Override PartName="/ppt/slides/_rels/slide48.xml.rels" ContentType="application/vnd.openxmlformats-package.relationships+xml"/>
  <Override PartName="/ppt/slides/_rels/slide4.xml.rels" ContentType="application/vnd.openxmlformats-package.relationships+xml"/>
  <Override PartName="/ppt/slides/_rels/slide21.xml.rels" ContentType="application/vnd.openxmlformats-package.relationships+xml"/>
  <Override PartName="/ppt/slides/_rels/slide58.xml.rels" ContentType="application/vnd.openxmlformats-package.relationships+xml"/>
  <Override PartName="/ppt/slides/_rels/slide12.xml.rels" ContentType="application/vnd.openxmlformats-package.relationships+xml"/>
  <Override PartName="/ppt/slides/_rels/slide49.xml.rels" ContentType="application/vnd.openxmlformats-package.relationships+xml"/>
  <Override PartName="/ppt/slides/slide71.xml" ContentType="application/vnd.openxmlformats-officedocument.presentationml.slide+xml"/>
  <Override PartName="/ppt/slides/slide29.xml" ContentType="application/vnd.openxmlformats-officedocument.presentationml.slide+xml"/>
  <Override PartName="/ppt/slides/slide69.xml" ContentType="application/vnd.openxmlformats-officedocument.presentationml.slide+xml"/>
  <Override PartName="/ppt/slides/slide32.xml" ContentType="application/vnd.openxmlformats-officedocument.presentationml.slide+xml"/>
  <Override PartName="/ppt/slides/slide70.xml" ContentType="application/vnd.openxmlformats-officedocument.presentationml.slide+xml"/>
  <Override PartName="/ppt/slides/slide28.xml" ContentType="application/vnd.openxmlformats-officedocument.presentationml.slide+xml"/>
  <Override PartName="/ppt/slides/slide68.xml" ContentType="application/vnd.openxmlformats-officedocument.presentationml.slide+xml"/>
  <Override PartName="/ppt/slides/slide31.xml" ContentType="application/vnd.openxmlformats-officedocument.presentationml.slide+xml"/>
  <Override PartName="/ppt/slides/slide67.xml" ContentType="application/vnd.openxmlformats-officedocument.presentationml.slide+xml"/>
  <Override PartName="/ppt/slides/slide30.xml" ContentType="application/vnd.openxmlformats-officedocument.presentationml.slide+xml"/>
  <Override PartName="/ppt/slides/slide65.xml" ContentType="application/vnd.openxmlformats-officedocument.presentationml.slide+xml"/>
  <Override PartName="/ppt/slides/slide27.xml" ContentType="application/vnd.openxmlformats-officedocument.presentationml.slide+xml"/>
  <Override PartName="/ppt/slides/slide64.xml" ContentType="application/vnd.openxmlformats-officedocument.presentationml.slide+xml"/>
  <Override PartName="/ppt/slides/slide66.xml" ContentType="application/vnd.openxmlformats-officedocument.presentationml.slide+xml"/>
  <Override PartName="/ppt/slides/slide26.xml" ContentType="application/vnd.openxmlformats-officedocument.presentationml.slide+xml"/>
  <Override PartName="/ppt/slides/slide63.xml" ContentType="application/vnd.openxmlformats-officedocument.presentationml.slide+xml"/>
  <Override PartName="/ppt/slides/slide62.xml" ContentType="application/vnd.openxmlformats-officedocument.presentationml.slide+xml"/>
  <Override PartName="/ppt/slides/slide61.xml" ContentType="application/vnd.openxmlformats-officedocument.presentationml.slide+xml"/>
  <Override PartName="/ppt/slides/slide19.xml" ContentType="application/vnd.openxmlformats-officedocument.presentationml.slide+xml"/>
  <Override PartName="/ppt/slides/slide60.xml" ContentType="application/vnd.openxmlformats-officedocument.presentationml.slide+xml"/>
  <Override PartName="/ppt/slides/slide18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8.xml" ContentType="application/vnd.openxmlformats-officedocument.presentationml.slide+xml"/>
  <Override PartName="/ppt/slides/slide20.xml" ContentType="application/vnd.openxmlformats-officedocument.presentationml.slide+xml"/>
  <Override PartName="/ppt/slides/slide57.xml" ContentType="application/vnd.openxmlformats-officedocument.presentationml.slide+xml"/>
  <Override PartName="/ppt/slides/slide4.xml" ContentType="application/vnd.openxmlformats-officedocument.presentationml.slide+xml"/>
  <Override PartName="/ppt/slides/slide12.xml" ContentType="application/vnd.openxmlformats-officedocument.presentationml.slide+xml"/>
  <Override PartName="/ppt/slides/slide49.xml" ContentType="application/vnd.openxmlformats-officedocument.presentationml.slide+xml"/>
  <Override PartName="/ppt/slides/slide21.xml" ContentType="application/vnd.openxmlformats-officedocument.presentationml.slide+xml"/>
  <Override PartName="/ppt/slides/slide58.xml" ContentType="application/vnd.openxmlformats-officedocument.presentationml.slide+xml"/>
  <Override PartName="/ppt/slides/slide5.xml" ContentType="application/vnd.openxmlformats-officedocument.presentationml.slide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59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Slides/_rels/notesSlide69.xml.rels" ContentType="application/vnd.openxmlformats-package.relationships+xml"/>
  <Override PartName="/ppt/notesSlides/_rels/notesSlide37.xml.rels" ContentType="application/vnd.openxmlformats-package.relationships+xml"/>
  <Override PartName="/ppt/notesSlides/_rels/notesSlide36.xml.rels" ContentType="application/vnd.openxmlformats-package.relationships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6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3" r:id="rId4"/>
    <p:sldMasterId id="2147483658" r:id="rId5"/>
    <p:sldMasterId id="2147483660" r:id="rId6"/>
    <p:sldMasterId id="2147483662" r:id="rId7"/>
    <p:sldMasterId id="2147483664" r:id="rId8"/>
    <p:sldMasterId id="2147483666" r:id="rId9"/>
    <p:sldMasterId id="2147483670" r:id="rId10"/>
    <p:sldMasterId id="2147483672" r:id="rId11"/>
  </p:sldMasterIdLst>
  <p:notesMasterIdLst>
    <p:notesMasterId r:id="rId12"/>
  </p:notes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294" r:id="rId51"/>
    <p:sldId id="295" r:id="rId52"/>
    <p:sldId id="296" r:id="rId53"/>
    <p:sldId id="297" r:id="rId54"/>
    <p:sldId id="298" r:id="rId55"/>
    <p:sldId id="299" r:id="rId56"/>
    <p:sldId id="300" r:id="rId57"/>
    <p:sldId id="301" r:id="rId58"/>
    <p:sldId id="302" r:id="rId59"/>
    <p:sldId id="303" r:id="rId60"/>
    <p:sldId id="304" r:id="rId61"/>
    <p:sldId id="305" r:id="rId62"/>
    <p:sldId id="306" r:id="rId63"/>
    <p:sldId id="307" r:id="rId64"/>
    <p:sldId id="308" r:id="rId65"/>
    <p:sldId id="309" r:id="rId66"/>
    <p:sldId id="310" r:id="rId67"/>
    <p:sldId id="311" r:id="rId68"/>
    <p:sldId id="312" r:id="rId69"/>
    <p:sldId id="313" r:id="rId70"/>
    <p:sldId id="314" r:id="rId71"/>
    <p:sldId id="315" r:id="rId72"/>
    <p:sldId id="316" r:id="rId73"/>
    <p:sldId id="317" r:id="rId74"/>
    <p:sldId id="318" r:id="rId75"/>
    <p:sldId id="319" r:id="rId76"/>
    <p:sldId id="320" r:id="rId77"/>
    <p:sldId id="321" r:id="rId78"/>
    <p:sldId id="322" r:id="rId79"/>
    <p:sldId id="323" r:id="rId80"/>
    <p:sldId id="324" r:id="rId81"/>
    <p:sldId id="325" r:id="rId82"/>
    <p:sldId id="326" r:id="rId83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6.xml"/><Relationship Id="rId6" Type="http://schemas.openxmlformats.org/officeDocument/2006/relationships/slideMaster" Target="slideMasters/slideMaster7.xml"/><Relationship Id="rId7" Type="http://schemas.openxmlformats.org/officeDocument/2006/relationships/slideMaster" Target="slideMasters/slideMaster8.xml"/><Relationship Id="rId8" Type="http://schemas.openxmlformats.org/officeDocument/2006/relationships/slideMaster" Target="slideMasters/slideMaster9.xml"/><Relationship Id="rId9" Type="http://schemas.openxmlformats.org/officeDocument/2006/relationships/slideMaster" Target="slideMasters/slideMaster10.xml"/><Relationship Id="rId10" Type="http://schemas.openxmlformats.org/officeDocument/2006/relationships/slideMaster" Target="slideMasters/slideMaster11.xml"/><Relationship Id="rId11" Type="http://schemas.openxmlformats.org/officeDocument/2006/relationships/slideMaster" Target="slideMasters/slideMaster12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slide" Target="slides/slide34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Relationship Id="rId54" Type="http://schemas.openxmlformats.org/officeDocument/2006/relationships/slide" Target="slides/slide42.xml"/><Relationship Id="rId55" Type="http://schemas.openxmlformats.org/officeDocument/2006/relationships/slide" Target="slides/slide43.xml"/><Relationship Id="rId56" Type="http://schemas.openxmlformats.org/officeDocument/2006/relationships/slide" Target="slides/slide44.xml"/><Relationship Id="rId57" Type="http://schemas.openxmlformats.org/officeDocument/2006/relationships/slide" Target="slides/slide45.xml"/><Relationship Id="rId58" Type="http://schemas.openxmlformats.org/officeDocument/2006/relationships/slide" Target="slides/slide46.xml"/><Relationship Id="rId59" Type="http://schemas.openxmlformats.org/officeDocument/2006/relationships/slide" Target="slides/slide47.xml"/><Relationship Id="rId60" Type="http://schemas.openxmlformats.org/officeDocument/2006/relationships/slide" Target="slides/slide48.xml"/><Relationship Id="rId61" Type="http://schemas.openxmlformats.org/officeDocument/2006/relationships/slide" Target="slides/slide49.xml"/><Relationship Id="rId62" Type="http://schemas.openxmlformats.org/officeDocument/2006/relationships/slide" Target="slides/slide50.xml"/><Relationship Id="rId63" Type="http://schemas.openxmlformats.org/officeDocument/2006/relationships/slide" Target="slides/slide51.xml"/><Relationship Id="rId64" Type="http://schemas.openxmlformats.org/officeDocument/2006/relationships/slide" Target="slides/slide52.xml"/><Relationship Id="rId65" Type="http://schemas.openxmlformats.org/officeDocument/2006/relationships/slide" Target="slides/slide53.xml"/><Relationship Id="rId66" Type="http://schemas.openxmlformats.org/officeDocument/2006/relationships/slide" Target="slides/slide54.xml"/><Relationship Id="rId67" Type="http://schemas.openxmlformats.org/officeDocument/2006/relationships/slide" Target="slides/slide55.xml"/><Relationship Id="rId68" Type="http://schemas.openxmlformats.org/officeDocument/2006/relationships/slide" Target="slides/slide56.xml"/><Relationship Id="rId69" Type="http://schemas.openxmlformats.org/officeDocument/2006/relationships/slide" Target="slides/slide57.xml"/><Relationship Id="rId70" Type="http://schemas.openxmlformats.org/officeDocument/2006/relationships/slide" Target="slides/slide58.xml"/><Relationship Id="rId71" Type="http://schemas.openxmlformats.org/officeDocument/2006/relationships/slide" Target="slides/slide59.xml"/><Relationship Id="rId72" Type="http://schemas.openxmlformats.org/officeDocument/2006/relationships/slide" Target="slides/slide60.xml"/><Relationship Id="rId73" Type="http://schemas.openxmlformats.org/officeDocument/2006/relationships/slide" Target="slides/slide61.xml"/><Relationship Id="rId74" Type="http://schemas.openxmlformats.org/officeDocument/2006/relationships/slide" Target="slides/slide62.xml"/><Relationship Id="rId75" Type="http://schemas.openxmlformats.org/officeDocument/2006/relationships/slide" Target="slides/slide63.xml"/><Relationship Id="rId76" Type="http://schemas.openxmlformats.org/officeDocument/2006/relationships/slide" Target="slides/slide64.xml"/><Relationship Id="rId77" Type="http://schemas.openxmlformats.org/officeDocument/2006/relationships/slide" Target="slides/slide65.xml"/><Relationship Id="rId78" Type="http://schemas.openxmlformats.org/officeDocument/2006/relationships/slide" Target="slides/slide66.xml"/><Relationship Id="rId79" Type="http://schemas.openxmlformats.org/officeDocument/2006/relationships/slide" Target="slides/slide67.xml"/><Relationship Id="rId80" Type="http://schemas.openxmlformats.org/officeDocument/2006/relationships/slide" Target="slides/slide68.xml"/><Relationship Id="rId81" Type="http://schemas.openxmlformats.org/officeDocument/2006/relationships/slide" Target="slides/slide69.xml"/><Relationship Id="rId82" Type="http://schemas.openxmlformats.org/officeDocument/2006/relationships/slide" Target="slides/slide70.xml"/><Relationship Id="rId83" Type="http://schemas.openxmlformats.org/officeDocument/2006/relationships/slide" Target="slides/slide71.xml"/><Relationship Id="rId8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" name="PlaceHolder 4"/>
          <p:cNvSpPr>
            <a:spLocks noGrp="1"/>
          </p:cNvSpPr>
          <p:nvPr>
            <p:ph type="dt" idx="43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" name="PlaceHolder 5"/>
          <p:cNvSpPr>
            <a:spLocks noGrp="1"/>
          </p:cNvSpPr>
          <p:nvPr>
            <p:ph type="ftr" idx="44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PlaceHolder 6"/>
          <p:cNvSpPr>
            <a:spLocks noGrp="1"/>
          </p:cNvSpPr>
          <p:nvPr>
            <p:ph type="sldNum" idx="45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DAD96408-6B0B-43A0-913A-F0A2EB756F0A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69.xml.rels><?xml version="1.0" encoding="UTF-8"?>
<Relationships xmlns="http://schemas.openxmlformats.org/package/2006/relationships"><Relationship Id="rId1" Type="http://schemas.openxmlformats.org/officeDocument/2006/relationships/slide" Target="../slides/slide69.xml"/><Relationship Id="rId2" Type="http://schemas.openxmlformats.org/officeDocument/2006/relationships/notesMaster" Target="../notesMasters/notesMaster1.xml"/>
</Relationship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PlaceHolder 1"/>
          <p:cNvSpPr>
            <a:spLocks noGrp="1"/>
          </p:cNvSpPr>
          <p:nvPr>
            <p:ph type="sldImg"/>
          </p:nvPr>
        </p:nvSpPr>
        <p:spPr>
          <a:xfrm>
            <a:off x="870120" y="1257480"/>
            <a:ext cx="6031080" cy="3392640"/>
          </a:xfrm>
          <a:prstGeom prst="rect">
            <a:avLst/>
          </a:prstGeom>
          <a:ln w="0">
            <a:noFill/>
          </a:ln>
        </p:spPr>
      </p:sp>
      <p:sp>
        <p:nvSpPr>
          <p:cNvPr id="854" name="PlaceHolder 2"/>
          <p:cNvSpPr>
            <a:spLocks noGrp="1"/>
          </p:cNvSpPr>
          <p:nvPr>
            <p:ph type="body"/>
          </p:nvPr>
        </p:nvSpPr>
        <p:spPr>
          <a:xfrm>
            <a:off x="777960" y="4840200"/>
            <a:ext cx="6215040" cy="39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5" name="PlaceHolder 3"/>
          <p:cNvSpPr>
            <a:spLocks noGrp="1"/>
          </p:cNvSpPr>
          <p:nvPr>
            <p:ph type="sldNum" idx="46"/>
          </p:nvPr>
        </p:nvSpPr>
        <p:spPr>
          <a:xfrm>
            <a:off x="4402080" y="9553680"/>
            <a:ext cx="3367080" cy="50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FBF36E3-C1E6-4DEE-88C4-0F3C38F040CE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PlaceHolder 1"/>
          <p:cNvSpPr>
            <a:spLocks noGrp="1"/>
          </p:cNvSpPr>
          <p:nvPr>
            <p:ph type="sldImg"/>
          </p:nvPr>
        </p:nvSpPr>
        <p:spPr>
          <a:xfrm>
            <a:off x="870120" y="1257480"/>
            <a:ext cx="6031080" cy="3392640"/>
          </a:xfrm>
          <a:prstGeom prst="rect">
            <a:avLst/>
          </a:prstGeom>
          <a:ln w="0">
            <a:noFill/>
          </a:ln>
        </p:spPr>
      </p:sp>
      <p:sp>
        <p:nvSpPr>
          <p:cNvPr id="857" name="PlaceHolder 2"/>
          <p:cNvSpPr>
            <a:spLocks noGrp="1"/>
          </p:cNvSpPr>
          <p:nvPr>
            <p:ph type="body"/>
          </p:nvPr>
        </p:nvSpPr>
        <p:spPr>
          <a:xfrm>
            <a:off x="777960" y="4840200"/>
            <a:ext cx="6215040" cy="39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8" name="PlaceHolder 3"/>
          <p:cNvSpPr>
            <a:spLocks noGrp="1"/>
          </p:cNvSpPr>
          <p:nvPr>
            <p:ph type="sldNum" idx="47"/>
          </p:nvPr>
        </p:nvSpPr>
        <p:spPr>
          <a:xfrm>
            <a:off x="4402080" y="9553680"/>
            <a:ext cx="3367080" cy="50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261791E-998E-45B1-B07C-43B1C2565CF7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9" name="PlaceHolder 1"/>
          <p:cNvSpPr>
            <a:spLocks noGrp="1"/>
          </p:cNvSpPr>
          <p:nvPr>
            <p:ph type="sldImg"/>
          </p:nvPr>
        </p:nvSpPr>
        <p:spPr>
          <a:xfrm>
            <a:off x="870120" y="1257480"/>
            <a:ext cx="6026040" cy="3387600"/>
          </a:xfrm>
          <a:prstGeom prst="rect">
            <a:avLst/>
          </a:prstGeom>
          <a:ln w="0">
            <a:noFill/>
          </a:ln>
        </p:spPr>
      </p:sp>
      <p:sp>
        <p:nvSpPr>
          <p:cNvPr id="860" name="PlaceHolder 2"/>
          <p:cNvSpPr>
            <a:spLocks noGrp="1"/>
          </p:cNvSpPr>
          <p:nvPr>
            <p:ph type="body"/>
          </p:nvPr>
        </p:nvSpPr>
        <p:spPr>
          <a:xfrm>
            <a:off x="777960" y="4840200"/>
            <a:ext cx="6210000" cy="39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1" name="PlaceHolder 3"/>
          <p:cNvSpPr>
            <a:spLocks noGrp="1"/>
          </p:cNvSpPr>
          <p:nvPr>
            <p:ph type="sldNum" idx="48"/>
          </p:nvPr>
        </p:nvSpPr>
        <p:spPr>
          <a:xfrm>
            <a:off x="4402080" y="9553680"/>
            <a:ext cx="3362040" cy="49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734F120-E634-44C1-9BF6-982449089B6D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Master1-Office-The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838080" y="712800"/>
            <a:ext cx="105098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5120" cy="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/>
          </p:nvPr>
        </p:nvSpPr>
        <p:spPr>
          <a:xfrm>
            <a:off x="625680" y="1604520"/>
            <a:ext cx="15120" cy="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/>
          </p:nvPr>
        </p:nvSpPr>
        <p:spPr>
          <a:xfrm>
            <a:off x="609480" y="1608480"/>
            <a:ext cx="15120" cy="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/>
          </p:nvPr>
        </p:nvSpPr>
        <p:spPr>
          <a:xfrm>
            <a:off x="625680" y="1608480"/>
            <a:ext cx="15120" cy="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4C52E14-5734-42DA-AC1E-B0F35579FC6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Master1-Layout1-title-Title-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838080" y="889920"/>
            <a:ext cx="10512000" cy="2746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ctr">
            <a:sp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0680" cy="189324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0680" cy="189324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0680" cy="189324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0680" cy="189324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1200" cy="3614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39600" cy="3614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513FD74-EC64-464B-9E1E-3E23799A5039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39600" cy="3614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38080" y="889920"/>
            <a:ext cx="10512000" cy="2746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ctr">
            <a:sp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29440" cy="189324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29440" cy="189324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29440" cy="189324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29440" cy="189324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29440" cy="189324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29440" cy="189324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8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1200" cy="3614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9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39600" cy="3614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B570D21-100D-411D-AFC2-391D0AECF4A9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10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39600" cy="3614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Master1-Layout2-obj-Title-and-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838080" y="888120"/>
            <a:ext cx="1051200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70200" cy="20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1200" cy="3614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39600" cy="3614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36CF2E3-6A99-44B0-8B7E-0F44D4C50592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39600" cy="3614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838080" y="888120"/>
            <a:ext cx="1051200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3480" cy="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646200" y="1604520"/>
            <a:ext cx="33480" cy="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609480" y="1616040"/>
            <a:ext cx="33480" cy="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46200" y="1616040"/>
            <a:ext cx="33480" cy="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1200" cy="3614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7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39600" cy="3614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161A2BE-8A65-4B4A-B99D-81CA9C9F6B1B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8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39600" cy="3614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838080" y="888120"/>
            <a:ext cx="1051200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3480" cy="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646200" y="1604520"/>
            <a:ext cx="33480" cy="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body"/>
          </p:nvPr>
        </p:nvSpPr>
        <p:spPr>
          <a:xfrm>
            <a:off x="609480" y="1616040"/>
            <a:ext cx="33480" cy="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body"/>
          </p:nvPr>
        </p:nvSpPr>
        <p:spPr>
          <a:xfrm>
            <a:off x="646200" y="1616040"/>
            <a:ext cx="33480" cy="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1200" cy="3614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7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39600" cy="3614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3F22AF4-341F-4C32-AC52-38D20C30135F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8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39600" cy="3614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838080" y="888120"/>
            <a:ext cx="1051200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3480" cy="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body"/>
          </p:nvPr>
        </p:nvSpPr>
        <p:spPr>
          <a:xfrm>
            <a:off x="646200" y="1604520"/>
            <a:ext cx="33480" cy="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body"/>
          </p:nvPr>
        </p:nvSpPr>
        <p:spPr>
          <a:xfrm>
            <a:off x="609480" y="1616040"/>
            <a:ext cx="33480" cy="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5"/>
          <p:cNvSpPr>
            <a:spLocks noGrp="1"/>
          </p:cNvSpPr>
          <p:nvPr>
            <p:ph type="body"/>
          </p:nvPr>
        </p:nvSpPr>
        <p:spPr>
          <a:xfrm>
            <a:off x="646200" y="1616040"/>
            <a:ext cx="33480" cy="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6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11200" cy="3614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7"/>
          <p:cNvSpPr>
            <a:spLocks noGrp="1"/>
          </p:cNvSpPr>
          <p:nvPr>
            <p:ph type="sldNum" idx="20"/>
          </p:nvPr>
        </p:nvSpPr>
        <p:spPr>
          <a:xfrm>
            <a:off x="8610480" y="6356520"/>
            <a:ext cx="2739600" cy="3614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C230322-F13A-4BD7-BFC6-80211E491CD0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8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39600" cy="3614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Master1-Layout2-obj-Title-and-Content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838080" y="712800"/>
            <a:ext cx="105098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5120" cy="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/>
          </p:nvPr>
        </p:nvSpPr>
        <p:spPr>
          <a:xfrm>
            <a:off x="625680" y="1604520"/>
            <a:ext cx="15120" cy="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/>
          </p:nvPr>
        </p:nvSpPr>
        <p:spPr>
          <a:xfrm>
            <a:off x="609480" y="1608480"/>
            <a:ext cx="15120" cy="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5"/>
          <p:cNvSpPr>
            <a:spLocks noGrp="1"/>
          </p:cNvSpPr>
          <p:nvPr>
            <p:ph/>
          </p:nvPr>
        </p:nvSpPr>
        <p:spPr>
          <a:xfrm>
            <a:off x="625680" y="1608480"/>
            <a:ext cx="15120" cy="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9CE52AD8-D501-42C4-A2B6-7F87F00D924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838080" y="712800"/>
            <a:ext cx="105098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subTitle"/>
          </p:nvPr>
        </p:nvSpPr>
        <p:spPr>
          <a:xfrm>
            <a:off x="609480" y="-2266200"/>
            <a:ext cx="31320" cy="774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313399E9-1C2B-44A5-81BC-4ADA0450073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838080" y="712800"/>
            <a:ext cx="105098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1320" cy="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27B94D98-1F0D-4B97-A640-FB951E993FE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838080" y="712800"/>
            <a:ext cx="105098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5120" cy="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/>
          </p:nvPr>
        </p:nvSpPr>
        <p:spPr>
          <a:xfrm>
            <a:off x="625680" y="1604520"/>
            <a:ext cx="15120" cy="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4"/>
          <p:cNvSpPr>
            <a:spLocks noGrp="1"/>
          </p:cNvSpPr>
          <p:nvPr>
            <p:ph/>
          </p:nvPr>
        </p:nvSpPr>
        <p:spPr>
          <a:xfrm>
            <a:off x="609480" y="1608480"/>
            <a:ext cx="15120" cy="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5"/>
          <p:cNvSpPr>
            <a:spLocks noGrp="1"/>
          </p:cNvSpPr>
          <p:nvPr>
            <p:ph/>
          </p:nvPr>
        </p:nvSpPr>
        <p:spPr>
          <a:xfrm>
            <a:off x="625680" y="1608480"/>
            <a:ext cx="15120" cy="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CB07DAF5-9CF9-4898-9D4C-756DDC53792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838080" y="712800"/>
            <a:ext cx="105098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1320" cy="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914F5007-8A47-4F71-BA33-AF6C40DB0D9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838080" y="712800"/>
            <a:ext cx="105098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 type="subTitle"/>
          </p:nvPr>
        </p:nvSpPr>
        <p:spPr>
          <a:xfrm>
            <a:off x="609480" y="-2266200"/>
            <a:ext cx="31320" cy="774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07661883-05BB-4FC1-9168-4A20476D005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838080" y="712800"/>
            <a:ext cx="105098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5120" cy="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625680" y="1604520"/>
            <a:ext cx="15120" cy="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609480" y="1608480"/>
            <a:ext cx="15120" cy="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625680" y="1608480"/>
            <a:ext cx="15120" cy="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965B4EFB-A672-4975-A542-D406C3E55D7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838080" y="712800"/>
            <a:ext cx="105098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5120" cy="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PlaceHolder 3"/>
          <p:cNvSpPr>
            <a:spLocks noGrp="1"/>
          </p:cNvSpPr>
          <p:nvPr>
            <p:ph/>
          </p:nvPr>
        </p:nvSpPr>
        <p:spPr>
          <a:xfrm>
            <a:off x="625680" y="1604520"/>
            <a:ext cx="15120" cy="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PlaceHolder 4"/>
          <p:cNvSpPr>
            <a:spLocks noGrp="1"/>
          </p:cNvSpPr>
          <p:nvPr>
            <p:ph/>
          </p:nvPr>
        </p:nvSpPr>
        <p:spPr>
          <a:xfrm>
            <a:off x="609480" y="1608480"/>
            <a:ext cx="15120" cy="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PlaceHolder 5"/>
          <p:cNvSpPr>
            <a:spLocks noGrp="1"/>
          </p:cNvSpPr>
          <p:nvPr>
            <p:ph/>
          </p:nvPr>
        </p:nvSpPr>
        <p:spPr>
          <a:xfrm>
            <a:off x="625680" y="1608480"/>
            <a:ext cx="15120" cy="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EAC25DE1-BD44-4010-AA92-BCF4A44D502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5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838080" y="712800"/>
            <a:ext cx="105098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 type="subTitle"/>
          </p:nvPr>
        </p:nvSpPr>
        <p:spPr>
          <a:xfrm>
            <a:off x="609480" y="-2266200"/>
            <a:ext cx="31320" cy="774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EB94CCC8-88DF-4C2D-8457-56FCC2B64B8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8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9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10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11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15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838080" y="887760"/>
            <a:ext cx="1051200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5840" cy="3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626760" y="1604520"/>
            <a:ext cx="15840" cy="3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body"/>
          </p:nvPr>
        </p:nvSpPr>
        <p:spPr>
          <a:xfrm>
            <a:off x="609480" y="1609560"/>
            <a:ext cx="15840" cy="3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26760" y="1609560"/>
            <a:ext cx="15840" cy="3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6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1200" cy="3614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7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39600" cy="3614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B90611F-9B73-45FE-B519-A5A8DB04436D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8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39600" cy="3614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  <p:sldLayoutId id="2147483652" r:id="rId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2"/>
    <p:sldLayoutId id="2147483655" r:id="rId3"/>
    <p:sldLayoutId id="2147483656" r:id="rId4"/>
    <p:sldLayoutId id="2147483657" r:id="rId5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838080" y="887760"/>
            <a:ext cx="1051200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5840" cy="3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body"/>
          </p:nvPr>
        </p:nvSpPr>
        <p:spPr>
          <a:xfrm>
            <a:off x="626760" y="1604520"/>
            <a:ext cx="15840" cy="3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 type="body"/>
          </p:nvPr>
        </p:nvSpPr>
        <p:spPr>
          <a:xfrm>
            <a:off x="609480" y="1609560"/>
            <a:ext cx="15840" cy="3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 type="body"/>
          </p:nvPr>
        </p:nvSpPr>
        <p:spPr>
          <a:xfrm>
            <a:off x="626760" y="1609560"/>
            <a:ext cx="15840" cy="3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6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07600" cy="3578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7"/>
          <p:cNvSpPr>
            <a:spLocks noGrp="1"/>
          </p:cNvSpPr>
          <p:nvPr>
            <p:ph type="sldNum" idx="23"/>
          </p:nvPr>
        </p:nvSpPr>
        <p:spPr>
          <a:xfrm>
            <a:off x="8610480" y="6356520"/>
            <a:ext cx="2736000" cy="3578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894032C-AC19-43E6-8DBE-02E78749FF59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PlaceHolder 8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36000" cy="3578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838080" y="887760"/>
            <a:ext cx="1051200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ftr" idx="25"/>
          </p:nvPr>
        </p:nvSpPr>
        <p:spPr>
          <a:xfrm>
            <a:off x="3447360" y="5165280"/>
            <a:ext cx="3189960" cy="38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 type="sldNum" idx="26"/>
          </p:nvPr>
        </p:nvSpPr>
        <p:spPr>
          <a:xfrm>
            <a:off x="7227360" y="5165280"/>
            <a:ext cx="2343240" cy="38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96ACCD1-D8D5-4007-B101-059E56104AC4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 type="dt" idx="27"/>
          </p:nvPr>
        </p:nvSpPr>
        <p:spPr>
          <a:xfrm>
            <a:off x="504000" y="5165280"/>
            <a:ext cx="2343240" cy="38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838080" y="887760"/>
            <a:ext cx="1051200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3480" cy="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07600" cy="3578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 type="sldNum" idx="29"/>
          </p:nvPr>
        </p:nvSpPr>
        <p:spPr>
          <a:xfrm>
            <a:off x="8610480" y="6356520"/>
            <a:ext cx="2736000" cy="3578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1C054A9-637A-4D87-BE6D-3A273174CCA1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5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36000" cy="3578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838080" y="887400"/>
            <a:ext cx="105109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6840" cy="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body"/>
          </p:nvPr>
        </p:nvSpPr>
        <p:spPr>
          <a:xfrm>
            <a:off x="617760" y="1604520"/>
            <a:ext cx="6840" cy="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body"/>
          </p:nvPr>
        </p:nvSpPr>
        <p:spPr>
          <a:xfrm>
            <a:off x="609480" y="1606320"/>
            <a:ext cx="6840" cy="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5"/>
          <p:cNvSpPr>
            <a:spLocks noGrp="1"/>
          </p:cNvSpPr>
          <p:nvPr>
            <p:ph type="body"/>
          </p:nvPr>
        </p:nvSpPr>
        <p:spPr>
          <a:xfrm>
            <a:off x="617760" y="1606320"/>
            <a:ext cx="6840" cy="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6"/>
          <p:cNvSpPr>
            <a:spLocks noGrp="1"/>
          </p:cNvSpPr>
          <p:nvPr>
            <p:ph type="ftr" idx="31"/>
          </p:nvPr>
        </p:nvSpPr>
        <p:spPr>
          <a:xfrm>
            <a:off x="4038480" y="6356520"/>
            <a:ext cx="4106520" cy="3567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PlaceHolder 7"/>
          <p:cNvSpPr>
            <a:spLocks noGrp="1"/>
          </p:cNvSpPr>
          <p:nvPr>
            <p:ph type="sldNum" idx="32"/>
          </p:nvPr>
        </p:nvSpPr>
        <p:spPr>
          <a:xfrm>
            <a:off x="8610480" y="6356520"/>
            <a:ext cx="2734920" cy="3567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7DC5A46-E128-4959-A46B-9401EDA0C742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PlaceHolder 8"/>
          <p:cNvSpPr>
            <a:spLocks noGrp="1"/>
          </p:cNvSpPr>
          <p:nvPr>
            <p:ph type="dt" idx="33"/>
          </p:nvPr>
        </p:nvSpPr>
        <p:spPr>
          <a:xfrm>
            <a:off x="838080" y="6356520"/>
            <a:ext cx="2734920" cy="3567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838080" y="888120"/>
            <a:ext cx="105098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1320" cy="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body"/>
          </p:nvPr>
        </p:nvSpPr>
        <p:spPr>
          <a:xfrm>
            <a:off x="646200" y="1604520"/>
            <a:ext cx="31320" cy="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PlaceHolder 4"/>
          <p:cNvSpPr>
            <a:spLocks noGrp="1"/>
          </p:cNvSpPr>
          <p:nvPr>
            <p:ph type="body"/>
          </p:nvPr>
        </p:nvSpPr>
        <p:spPr>
          <a:xfrm>
            <a:off x="609480" y="1616040"/>
            <a:ext cx="31320" cy="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PlaceHolder 5"/>
          <p:cNvSpPr>
            <a:spLocks noGrp="1"/>
          </p:cNvSpPr>
          <p:nvPr>
            <p:ph type="body"/>
          </p:nvPr>
        </p:nvSpPr>
        <p:spPr>
          <a:xfrm>
            <a:off x="646200" y="1616040"/>
            <a:ext cx="31320" cy="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PlaceHolder 6"/>
          <p:cNvSpPr>
            <a:spLocks noGrp="1"/>
          </p:cNvSpPr>
          <p:nvPr>
            <p:ph type="ftr" idx="34"/>
          </p:nvPr>
        </p:nvSpPr>
        <p:spPr>
          <a:xfrm>
            <a:off x="4038480" y="6356520"/>
            <a:ext cx="4109040" cy="359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PlaceHolder 7"/>
          <p:cNvSpPr>
            <a:spLocks noGrp="1"/>
          </p:cNvSpPr>
          <p:nvPr>
            <p:ph type="sldNum" idx="35"/>
          </p:nvPr>
        </p:nvSpPr>
        <p:spPr>
          <a:xfrm>
            <a:off x="8610480" y="6356520"/>
            <a:ext cx="2737440" cy="359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8BE7573-20A7-4492-82CF-6418B974BCB4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PlaceHolder 8"/>
          <p:cNvSpPr>
            <a:spLocks noGrp="1"/>
          </p:cNvSpPr>
          <p:nvPr>
            <p:ph type="dt" idx="36"/>
          </p:nvPr>
        </p:nvSpPr>
        <p:spPr>
          <a:xfrm>
            <a:off x="838080" y="6356520"/>
            <a:ext cx="2737440" cy="359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2"/>
    <p:sldLayoutId id="2147483668" r:id="rId3"/>
    <p:sldLayoutId id="2147483669" r:id="rId4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838080" y="887400"/>
            <a:ext cx="105098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76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 type="body"/>
          </p:nvPr>
        </p:nvSpPr>
        <p:spPr>
          <a:xfrm>
            <a:off x="617760" y="1604520"/>
            <a:ext cx="576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 type="body"/>
          </p:nvPr>
        </p:nvSpPr>
        <p:spPr>
          <a:xfrm>
            <a:off x="609480" y="1606320"/>
            <a:ext cx="576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 type="body"/>
          </p:nvPr>
        </p:nvSpPr>
        <p:spPr>
          <a:xfrm>
            <a:off x="617760" y="1606320"/>
            <a:ext cx="576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 type="ftr" idx="37"/>
          </p:nvPr>
        </p:nvSpPr>
        <p:spPr>
          <a:xfrm>
            <a:off x="4038480" y="6356520"/>
            <a:ext cx="4105440" cy="3556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 type="sldNum" idx="38"/>
          </p:nvPr>
        </p:nvSpPr>
        <p:spPr>
          <a:xfrm>
            <a:off x="8610480" y="6356520"/>
            <a:ext cx="2733840" cy="3556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6BA3042-0CC0-4440-842B-71FEBAF68A68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" name="PlaceHolder 8"/>
          <p:cNvSpPr>
            <a:spLocks noGrp="1"/>
          </p:cNvSpPr>
          <p:nvPr>
            <p:ph type="dt" idx="39"/>
          </p:nvPr>
        </p:nvSpPr>
        <p:spPr>
          <a:xfrm>
            <a:off x="838080" y="6356520"/>
            <a:ext cx="2733840" cy="3556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838080" y="887040"/>
            <a:ext cx="105098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 type="ftr" idx="40"/>
          </p:nvPr>
        </p:nvSpPr>
        <p:spPr>
          <a:xfrm>
            <a:off x="3447360" y="5165280"/>
            <a:ext cx="3188880" cy="38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 type="sldNum" idx="41"/>
          </p:nvPr>
        </p:nvSpPr>
        <p:spPr>
          <a:xfrm>
            <a:off x="7227360" y="5165280"/>
            <a:ext cx="2342160" cy="38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17808A8-8954-44D2-9FD8-C7324F2FCC55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 type="dt" idx="42"/>
          </p:nvPr>
        </p:nvSpPr>
        <p:spPr>
          <a:xfrm>
            <a:off x="504000" y="5165280"/>
            <a:ext cx="2342160" cy="38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slideLayout" Target="../slideLayouts/slideLayout7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8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8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8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8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0.jpe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8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0.jpe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1.jpe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8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2.jpeg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8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2.jpeg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8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1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7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7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7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svg"/><Relationship Id="rId6" Type="http://schemas.openxmlformats.org/officeDocument/2006/relationships/slideLayout" Target="../slideLayouts/slideLayout16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18.jpeg"/><Relationship Id="rId4" Type="http://schemas.openxmlformats.org/officeDocument/2006/relationships/slideLayout" Target="../slideLayouts/slideLayout16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7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1.png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slideLayout" Target="../slideLayouts/slideLayout7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7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6.png"/><Relationship Id="rId6" Type="http://schemas.openxmlformats.org/officeDocument/2006/relationships/slideLayout" Target="../slideLayouts/slideLayout7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6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7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28.png"/><Relationship Id="rId3" Type="http://schemas.openxmlformats.org/officeDocument/2006/relationships/image" Target="../media/image29.svg"/><Relationship Id="rId4" Type="http://schemas.openxmlformats.org/officeDocument/2006/relationships/image" Target="../media/image1.png"/><Relationship Id="rId5" Type="http://schemas.openxmlformats.org/officeDocument/2006/relationships/image" Target="../media/image6.png"/><Relationship Id="rId6" Type="http://schemas.openxmlformats.org/officeDocument/2006/relationships/slideLayout" Target="../slideLayouts/slideLayout7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8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image" Target="../media/image31.png"/><Relationship Id="rId3" Type="http://schemas.openxmlformats.org/officeDocument/2006/relationships/image" Target="../media/image32.svg"/><Relationship Id="rId4" Type="http://schemas.openxmlformats.org/officeDocument/2006/relationships/image" Target="../media/image33.png"/><Relationship Id="rId5" Type="http://schemas.openxmlformats.org/officeDocument/2006/relationships/image" Target="../media/image34.svg"/><Relationship Id="rId6" Type="http://schemas.openxmlformats.org/officeDocument/2006/relationships/image" Target="../media/image35.png"/><Relationship Id="rId7" Type="http://schemas.openxmlformats.org/officeDocument/2006/relationships/image" Target="../media/image36.svg"/><Relationship Id="rId8" Type="http://schemas.openxmlformats.org/officeDocument/2006/relationships/image" Target="../media/image37.png"/><Relationship Id="rId9" Type="http://schemas.openxmlformats.org/officeDocument/2006/relationships/image" Target="../media/image38.svg"/><Relationship Id="rId10" Type="http://schemas.openxmlformats.org/officeDocument/2006/relationships/image" Target="../media/image1.png"/><Relationship Id="rId11" Type="http://schemas.openxmlformats.org/officeDocument/2006/relationships/image" Target="../media/image6.png"/><Relationship Id="rId12" Type="http://schemas.openxmlformats.org/officeDocument/2006/relationships/slideLayout" Target="../slideLayouts/slideLayout7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slideLayout" Target="../slideLayouts/slideLayout8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image" Target="../media/image43.svg"/><Relationship Id="rId5" Type="http://schemas.openxmlformats.org/officeDocument/2006/relationships/image" Target="../media/image44.png"/><Relationship Id="rId6" Type="http://schemas.openxmlformats.org/officeDocument/2006/relationships/slideLayout" Target="../slideLayouts/slideLayout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5.png"/><Relationship Id="rId3" Type="http://schemas.openxmlformats.org/officeDocument/2006/relationships/slideLayout" Target="../slideLayouts/slideLayout8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image" Target="../media/image46.png"/><Relationship Id="rId3" Type="http://schemas.openxmlformats.org/officeDocument/2006/relationships/image" Target="../media/image47.svg"/><Relationship Id="rId4" Type="http://schemas.openxmlformats.org/officeDocument/2006/relationships/image" Target="../media/image48.png"/><Relationship Id="rId5" Type="http://schemas.openxmlformats.org/officeDocument/2006/relationships/image" Target="../media/image49.svg"/><Relationship Id="rId6" Type="http://schemas.openxmlformats.org/officeDocument/2006/relationships/image" Target="../media/image1.png"/><Relationship Id="rId7" Type="http://schemas.openxmlformats.org/officeDocument/2006/relationships/image" Target="../media/image6.png"/><Relationship Id="rId8" Type="http://schemas.openxmlformats.org/officeDocument/2006/relationships/slideLayout" Target="../slideLayouts/slideLayout7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50.png"/><Relationship Id="rId2" Type="http://schemas.openxmlformats.org/officeDocument/2006/relationships/image" Target="../media/image50.png"/><Relationship Id="rId3" Type="http://schemas.openxmlformats.org/officeDocument/2006/relationships/image" Target="../media/image46.png"/><Relationship Id="rId4" Type="http://schemas.openxmlformats.org/officeDocument/2006/relationships/image" Target="../media/image47.svg"/><Relationship Id="rId5" Type="http://schemas.openxmlformats.org/officeDocument/2006/relationships/image" Target="../media/image1.pn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7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slideLayout" Target="../slideLayouts/slideLayout7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53.png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8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54.png"/><Relationship Id="rId2" Type="http://schemas.openxmlformats.org/officeDocument/2006/relationships/image" Target="../media/image55.png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56.png"/><Relationship Id="rId6" Type="http://schemas.openxmlformats.org/officeDocument/2006/relationships/slideLayout" Target="../slideLayouts/slideLayout8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52.png"/><Relationship Id="rId3" Type="http://schemas.openxmlformats.org/officeDocument/2006/relationships/image" Target="../media/image57.jpeg"/><Relationship Id="rId4" Type="http://schemas.openxmlformats.org/officeDocument/2006/relationships/slideLayout" Target="../slideLayouts/slideLayout8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image" Target="../media/image58.png"/><Relationship Id="rId3" Type="http://schemas.openxmlformats.org/officeDocument/2006/relationships/image" Target="../media/image59.svg"/><Relationship Id="rId4" Type="http://schemas.openxmlformats.org/officeDocument/2006/relationships/image" Target="../media/image60.png"/><Relationship Id="rId5" Type="http://schemas.openxmlformats.org/officeDocument/2006/relationships/image" Target="../media/image61.svg"/><Relationship Id="rId6" Type="http://schemas.openxmlformats.org/officeDocument/2006/relationships/image" Target="../media/image62.png"/><Relationship Id="rId7" Type="http://schemas.openxmlformats.org/officeDocument/2006/relationships/image" Target="../media/image63.svg"/><Relationship Id="rId8" Type="http://schemas.openxmlformats.org/officeDocument/2006/relationships/image" Target="../media/image64.png"/><Relationship Id="rId9" Type="http://schemas.openxmlformats.org/officeDocument/2006/relationships/image" Target="../media/image65.svg"/><Relationship Id="rId10" Type="http://schemas.openxmlformats.org/officeDocument/2006/relationships/image" Target="../media/image1.png"/><Relationship Id="rId11" Type="http://schemas.openxmlformats.org/officeDocument/2006/relationships/image" Target="../media/image6.png"/><Relationship Id="rId12" Type="http://schemas.openxmlformats.org/officeDocument/2006/relationships/slideLayout" Target="../slideLayouts/slideLayout7.xml"/><Relationship Id="rId13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66.png"/><Relationship Id="rId2" Type="http://schemas.openxmlformats.org/officeDocument/2006/relationships/image" Target="../media/image67.svg"/><Relationship Id="rId3" Type="http://schemas.openxmlformats.org/officeDocument/2006/relationships/image" Target="../media/image30.png"/><Relationship Id="rId4" Type="http://schemas.openxmlformats.org/officeDocument/2006/relationships/image" Target="../media/image68.png"/><Relationship Id="rId5" Type="http://schemas.openxmlformats.org/officeDocument/2006/relationships/image" Target="../media/image69.svg"/><Relationship Id="rId6" Type="http://schemas.openxmlformats.org/officeDocument/2006/relationships/image" Target="../media/image70.png"/><Relationship Id="rId7" Type="http://schemas.openxmlformats.org/officeDocument/2006/relationships/image" Target="../media/image71.svg"/><Relationship Id="rId8" Type="http://schemas.openxmlformats.org/officeDocument/2006/relationships/image" Target="../media/image72.png"/><Relationship Id="rId9" Type="http://schemas.openxmlformats.org/officeDocument/2006/relationships/image" Target="../media/image73.svg"/><Relationship Id="rId10" Type="http://schemas.openxmlformats.org/officeDocument/2006/relationships/image" Target="../media/image74.png"/><Relationship Id="rId11" Type="http://schemas.openxmlformats.org/officeDocument/2006/relationships/image" Target="../media/image75.svg"/><Relationship Id="rId12" Type="http://schemas.openxmlformats.org/officeDocument/2006/relationships/image" Target="../media/image1.png"/><Relationship Id="rId13" Type="http://schemas.openxmlformats.org/officeDocument/2006/relationships/image" Target="../media/image6.png"/><Relationship Id="rId14" Type="http://schemas.openxmlformats.org/officeDocument/2006/relationships/slideLayout" Target="../slideLayouts/slideLayout7.xml"/><Relationship Id="rId15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image" Target="../media/image76.png"/><Relationship Id="rId3" Type="http://schemas.openxmlformats.org/officeDocument/2006/relationships/image" Target="../media/image77.svg"/><Relationship Id="rId4" Type="http://schemas.openxmlformats.org/officeDocument/2006/relationships/image" Target="../media/image78.png"/><Relationship Id="rId5" Type="http://schemas.openxmlformats.org/officeDocument/2006/relationships/image" Target="../media/image79.svg"/><Relationship Id="rId6" Type="http://schemas.openxmlformats.org/officeDocument/2006/relationships/image" Target="../media/image80.png"/><Relationship Id="rId7" Type="http://schemas.openxmlformats.org/officeDocument/2006/relationships/image" Target="../media/image81.svg"/><Relationship Id="rId8" Type="http://schemas.openxmlformats.org/officeDocument/2006/relationships/image" Target="../media/image82.png"/><Relationship Id="rId9" Type="http://schemas.openxmlformats.org/officeDocument/2006/relationships/image" Target="../media/image83.svg"/><Relationship Id="rId10" Type="http://schemas.openxmlformats.org/officeDocument/2006/relationships/image" Target="../media/image84.png"/><Relationship Id="rId11" Type="http://schemas.openxmlformats.org/officeDocument/2006/relationships/image" Target="../media/image85.svg"/><Relationship Id="rId12" Type="http://schemas.openxmlformats.org/officeDocument/2006/relationships/image" Target="../media/image86.png"/><Relationship Id="rId13" Type="http://schemas.openxmlformats.org/officeDocument/2006/relationships/image" Target="../media/image87.svg"/><Relationship Id="rId14" Type="http://schemas.openxmlformats.org/officeDocument/2006/relationships/image" Target="../media/image1.png"/><Relationship Id="rId15" Type="http://schemas.openxmlformats.org/officeDocument/2006/relationships/image" Target="../media/image6.png"/><Relationship Id="rId16" Type="http://schemas.openxmlformats.org/officeDocument/2006/relationships/slideLayout" Target="../slideLayouts/slideLayout7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image" Target="../media/image88.png"/><Relationship Id="rId3" Type="http://schemas.openxmlformats.org/officeDocument/2006/relationships/image" Target="../media/image89.svg"/><Relationship Id="rId4" Type="http://schemas.openxmlformats.org/officeDocument/2006/relationships/image" Target="../media/image90.png"/><Relationship Id="rId5" Type="http://schemas.openxmlformats.org/officeDocument/2006/relationships/image" Target="../media/image91.svg"/><Relationship Id="rId6" Type="http://schemas.openxmlformats.org/officeDocument/2006/relationships/image" Target="../media/image92.png"/><Relationship Id="rId7" Type="http://schemas.openxmlformats.org/officeDocument/2006/relationships/image" Target="../media/image93.svg"/><Relationship Id="rId8" Type="http://schemas.openxmlformats.org/officeDocument/2006/relationships/image" Target="../media/image94.png"/><Relationship Id="rId9" Type="http://schemas.openxmlformats.org/officeDocument/2006/relationships/image" Target="../media/image95.svg"/><Relationship Id="rId10" Type="http://schemas.openxmlformats.org/officeDocument/2006/relationships/image" Target="../media/image96.png"/><Relationship Id="rId11" Type="http://schemas.openxmlformats.org/officeDocument/2006/relationships/image" Target="../media/image97.svg"/><Relationship Id="rId12" Type="http://schemas.openxmlformats.org/officeDocument/2006/relationships/image" Target="../media/image1.png"/><Relationship Id="rId13" Type="http://schemas.openxmlformats.org/officeDocument/2006/relationships/image" Target="../media/image6.png"/><Relationship Id="rId14" Type="http://schemas.openxmlformats.org/officeDocument/2006/relationships/slideLayout" Target="../slideLayouts/slideLayout7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image" Target="../media/image98.png"/><Relationship Id="rId3" Type="http://schemas.openxmlformats.org/officeDocument/2006/relationships/image" Target="../media/image99.svg"/><Relationship Id="rId4" Type="http://schemas.openxmlformats.org/officeDocument/2006/relationships/image" Target="../media/image100.png"/><Relationship Id="rId5" Type="http://schemas.openxmlformats.org/officeDocument/2006/relationships/image" Target="../media/image101.svg"/><Relationship Id="rId6" Type="http://schemas.openxmlformats.org/officeDocument/2006/relationships/image" Target="../media/image102.png"/><Relationship Id="rId7" Type="http://schemas.openxmlformats.org/officeDocument/2006/relationships/image" Target="../media/image103.svg"/><Relationship Id="rId8" Type="http://schemas.openxmlformats.org/officeDocument/2006/relationships/image" Target="../media/image104.png"/><Relationship Id="rId9" Type="http://schemas.openxmlformats.org/officeDocument/2006/relationships/image" Target="../media/image105.svg"/><Relationship Id="rId10" Type="http://schemas.openxmlformats.org/officeDocument/2006/relationships/image" Target="../media/image1.png"/><Relationship Id="rId11" Type="http://schemas.openxmlformats.org/officeDocument/2006/relationships/image" Target="../media/image6.png"/><Relationship Id="rId12" Type="http://schemas.openxmlformats.org/officeDocument/2006/relationships/slideLayout" Target="../slideLayouts/slideLayout7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image" Target="../media/image98.png"/><Relationship Id="rId3" Type="http://schemas.openxmlformats.org/officeDocument/2006/relationships/image" Target="../media/image99.svg"/><Relationship Id="rId4" Type="http://schemas.openxmlformats.org/officeDocument/2006/relationships/image" Target="../media/image100.png"/><Relationship Id="rId5" Type="http://schemas.openxmlformats.org/officeDocument/2006/relationships/image" Target="../media/image101.svg"/><Relationship Id="rId6" Type="http://schemas.openxmlformats.org/officeDocument/2006/relationships/image" Target="../media/image102.png"/><Relationship Id="rId7" Type="http://schemas.openxmlformats.org/officeDocument/2006/relationships/image" Target="../media/image103.svg"/><Relationship Id="rId8" Type="http://schemas.openxmlformats.org/officeDocument/2006/relationships/image" Target="../media/image104.png"/><Relationship Id="rId9" Type="http://schemas.openxmlformats.org/officeDocument/2006/relationships/image" Target="../media/image105.svg"/><Relationship Id="rId10" Type="http://schemas.openxmlformats.org/officeDocument/2006/relationships/image" Target="../media/image1.png"/><Relationship Id="rId11" Type="http://schemas.openxmlformats.org/officeDocument/2006/relationships/image" Target="../media/image6.png"/><Relationship Id="rId12" Type="http://schemas.openxmlformats.org/officeDocument/2006/relationships/slideLayout" Target="../slideLayouts/slideLayout7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106.png"/><Relationship Id="rId2" Type="http://schemas.openxmlformats.org/officeDocument/2006/relationships/image" Target="../media/image14.png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slideLayout" Target="../slideLayouts/slideLayout7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107.png"/><Relationship Id="rId2" Type="http://schemas.openxmlformats.org/officeDocument/2006/relationships/image" Target="../media/image107.png"/><Relationship Id="rId3" Type="http://schemas.openxmlformats.org/officeDocument/2006/relationships/image" Target="../media/image98.png"/><Relationship Id="rId4" Type="http://schemas.openxmlformats.org/officeDocument/2006/relationships/image" Target="../media/image99.svg"/><Relationship Id="rId5" Type="http://schemas.openxmlformats.org/officeDocument/2006/relationships/image" Target="../media/image1.pn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7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106.png"/><Relationship Id="rId2" Type="http://schemas.openxmlformats.org/officeDocument/2006/relationships/image" Target="../media/image1.png"/><Relationship Id="rId3" Type="http://schemas.openxmlformats.org/officeDocument/2006/relationships/image" Target="../media/image108.png"/><Relationship Id="rId4" Type="http://schemas.openxmlformats.org/officeDocument/2006/relationships/image" Target="../media/image6.png"/><Relationship Id="rId5" Type="http://schemas.openxmlformats.org/officeDocument/2006/relationships/slideLayout" Target="../slideLayouts/slideLayout7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106.png"/><Relationship Id="rId2" Type="http://schemas.openxmlformats.org/officeDocument/2006/relationships/image" Target="../media/image109.png"/><Relationship Id="rId3" Type="http://schemas.openxmlformats.org/officeDocument/2006/relationships/image" Target="../media/image110.png"/><Relationship Id="rId4" Type="http://schemas.openxmlformats.org/officeDocument/2006/relationships/image" Target="../media/image1.png"/><Relationship Id="rId5" Type="http://schemas.openxmlformats.org/officeDocument/2006/relationships/image" Target="../media/image6.png"/><Relationship Id="rId6" Type="http://schemas.openxmlformats.org/officeDocument/2006/relationships/slideLayout" Target="../slideLayouts/slideLayout7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7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111.png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14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112.png"/><Relationship Id="rId2" Type="http://schemas.openxmlformats.org/officeDocument/2006/relationships/image" Target="../media/image113.png"/><Relationship Id="rId3" Type="http://schemas.openxmlformats.org/officeDocument/2006/relationships/image" Target="../media/image114.svg"/><Relationship Id="rId4" Type="http://schemas.openxmlformats.org/officeDocument/2006/relationships/image" Target="../media/image115.png"/><Relationship Id="rId5" Type="http://schemas.openxmlformats.org/officeDocument/2006/relationships/image" Target="../media/image6.png"/><Relationship Id="rId6" Type="http://schemas.openxmlformats.org/officeDocument/2006/relationships/image" Target="../media/image1.png"/><Relationship Id="rId7" Type="http://schemas.openxmlformats.org/officeDocument/2006/relationships/slideLayout" Target="../slideLayouts/slideLayout7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image" Target="../media/image116.png"/><Relationship Id="rId3" Type="http://schemas.openxmlformats.org/officeDocument/2006/relationships/image" Target="../media/image117.svg"/><Relationship Id="rId4" Type="http://schemas.openxmlformats.org/officeDocument/2006/relationships/image" Target="../media/image118.png"/><Relationship Id="rId5" Type="http://schemas.openxmlformats.org/officeDocument/2006/relationships/image" Target="../media/image119.svg"/><Relationship Id="rId6" Type="http://schemas.openxmlformats.org/officeDocument/2006/relationships/image" Target="../media/image120.png"/><Relationship Id="rId7" Type="http://schemas.openxmlformats.org/officeDocument/2006/relationships/image" Target="../media/image121.svg"/><Relationship Id="rId8" Type="http://schemas.openxmlformats.org/officeDocument/2006/relationships/image" Target="../media/image122.png"/><Relationship Id="rId9" Type="http://schemas.openxmlformats.org/officeDocument/2006/relationships/image" Target="../media/image123.svg"/><Relationship Id="rId10" Type="http://schemas.openxmlformats.org/officeDocument/2006/relationships/image" Target="../media/image1.png"/><Relationship Id="rId11" Type="http://schemas.openxmlformats.org/officeDocument/2006/relationships/image" Target="../media/image6.png"/><Relationship Id="rId12" Type="http://schemas.openxmlformats.org/officeDocument/2006/relationships/slideLayout" Target="../slideLayouts/slideLayout7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image" Target="../media/image124.png"/><Relationship Id="rId3" Type="http://schemas.openxmlformats.org/officeDocument/2006/relationships/image" Target="../media/image125.svg"/><Relationship Id="rId4" Type="http://schemas.openxmlformats.org/officeDocument/2006/relationships/image" Target="../media/image126.png"/><Relationship Id="rId5" Type="http://schemas.openxmlformats.org/officeDocument/2006/relationships/image" Target="../media/image127.svg"/><Relationship Id="rId6" Type="http://schemas.openxmlformats.org/officeDocument/2006/relationships/image" Target="../media/image1.png"/><Relationship Id="rId7" Type="http://schemas.openxmlformats.org/officeDocument/2006/relationships/image" Target="../media/image6.png"/><Relationship Id="rId8" Type="http://schemas.openxmlformats.org/officeDocument/2006/relationships/slideLayout" Target="../slideLayouts/slideLayout7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image" Target="../media/image128.png"/><Relationship Id="rId3" Type="http://schemas.openxmlformats.org/officeDocument/2006/relationships/image" Target="../media/image129.svg"/><Relationship Id="rId4" Type="http://schemas.openxmlformats.org/officeDocument/2006/relationships/image" Target="../media/image130.png"/><Relationship Id="rId5" Type="http://schemas.openxmlformats.org/officeDocument/2006/relationships/image" Target="../media/image131.svg"/><Relationship Id="rId6" Type="http://schemas.openxmlformats.org/officeDocument/2006/relationships/image" Target="../media/image132.png"/><Relationship Id="rId7" Type="http://schemas.openxmlformats.org/officeDocument/2006/relationships/image" Target="../media/image133.svg"/><Relationship Id="rId8" Type="http://schemas.openxmlformats.org/officeDocument/2006/relationships/image" Target="../media/image132.png"/><Relationship Id="rId9" Type="http://schemas.openxmlformats.org/officeDocument/2006/relationships/image" Target="../media/image133.svg"/><Relationship Id="rId10" Type="http://schemas.openxmlformats.org/officeDocument/2006/relationships/image" Target="../media/image1.png"/><Relationship Id="rId11" Type="http://schemas.openxmlformats.org/officeDocument/2006/relationships/image" Target="../media/image6.png"/><Relationship Id="rId12" Type="http://schemas.openxmlformats.org/officeDocument/2006/relationships/slideLayout" Target="../slideLayouts/slideLayout7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3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7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13.png"/><Relationship Id="rId4" Type="http://schemas.openxmlformats.org/officeDocument/2006/relationships/image" Target="../media/image134.png"/><Relationship Id="rId5" Type="http://schemas.openxmlformats.org/officeDocument/2006/relationships/image" Target="../media/image135.png"/><Relationship Id="rId6" Type="http://schemas.openxmlformats.org/officeDocument/2006/relationships/slideLayout" Target="../slideLayouts/slideLayout7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136.png"/><Relationship Id="rId4" Type="http://schemas.openxmlformats.org/officeDocument/2006/relationships/image" Target="../media/image137.png"/><Relationship Id="rId5" Type="http://schemas.openxmlformats.org/officeDocument/2006/relationships/image" Target="../media/image138.png"/><Relationship Id="rId6" Type="http://schemas.openxmlformats.org/officeDocument/2006/relationships/slideLayout" Target="../slideLayouts/slideLayout14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139.png"/><Relationship Id="rId4" Type="http://schemas.openxmlformats.org/officeDocument/2006/relationships/image" Target="../media/image140.png"/><Relationship Id="rId5" Type="http://schemas.openxmlformats.org/officeDocument/2006/relationships/image" Target="../media/image141.png"/><Relationship Id="rId6" Type="http://schemas.openxmlformats.org/officeDocument/2006/relationships/slideLayout" Target="../slideLayouts/slideLayout14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142.png"/><Relationship Id="rId4" Type="http://schemas.openxmlformats.org/officeDocument/2006/relationships/image" Target="../media/image143.png"/><Relationship Id="rId5" Type="http://schemas.openxmlformats.org/officeDocument/2006/relationships/image" Target="../media/image144.png"/><Relationship Id="rId6" Type="http://schemas.openxmlformats.org/officeDocument/2006/relationships/image" Target="../media/image145.png"/><Relationship Id="rId7" Type="http://schemas.openxmlformats.org/officeDocument/2006/relationships/slideLayout" Target="../slideLayouts/slideLayout14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146.png"/><Relationship Id="rId4" Type="http://schemas.openxmlformats.org/officeDocument/2006/relationships/image" Target="../media/image147.png"/><Relationship Id="rId5" Type="http://schemas.openxmlformats.org/officeDocument/2006/relationships/image" Target="../media/image148.png"/><Relationship Id="rId6" Type="http://schemas.openxmlformats.org/officeDocument/2006/relationships/image" Target="../media/image140.png"/><Relationship Id="rId7" Type="http://schemas.openxmlformats.org/officeDocument/2006/relationships/slideLayout" Target="../slideLayouts/slideLayout14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image" Target="../media/image149.png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7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50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7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8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151.png"/><Relationship Id="rId4" Type="http://schemas.openxmlformats.org/officeDocument/2006/relationships/image" Target="../media/image152.png"/><Relationship Id="rId5" Type="http://schemas.openxmlformats.org/officeDocument/2006/relationships/slideLayout" Target="../slideLayouts/slideLayout8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53.png"/><Relationship Id="rId3" Type="http://schemas.openxmlformats.org/officeDocument/2006/relationships/image" Target="../media/image154.png"/><Relationship Id="rId4" Type="http://schemas.openxmlformats.org/officeDocument/2006/relationships/image" Target="../media/image155.png"/><Relationship Id="rId5" Type="http://schemas.openxmlformats.org/officeDocument/2006/relationships/image" Target="../media/image156.png"/><Relationship Id="rId6" Type="http://schemas.openxmlformats.org/officeDocument/2006/relationships/image" Target="../media/image157.svg"/><Relationship Id="rId7" Type="http://schemas.openxmlformats.org/officeDocument/2006/relationships/image" Target="../media/image6.png"/><Relationship Id="rId8" Type="http://schemas.openxmlformats.org/officeDocument/2006/relationships/slideLayout" Target="../slideLayouts/slideLayout8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image" Target="../media/image158.png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15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59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15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60.png"/><Relationship Id="rId3" Type="http://schemas.openxmlformats.org/officeDocument/2006/relationships/slideLayout" Target="../slideLayouts/slideLayout15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61.png"/><Relationship Id="rId3" Type="http://schemas.openxmlformats.org/officeDocument/2006/relationships/slideLayout" Target="../slideLayouts/slideLayout15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62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8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image" Target="../media/image163.png"/><Relationship Id="rId2" Type="http://schemas.openxmlformats.org/officeDocument/2006/relationships/image" Target="../media/image164.png"/><Relationship Id="rId3" Type="http://schemas.openxmlformats.org/officeDocument/2006/relationships/image" Target="../media/image165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166.png"/><Relationship Id="rId7" Type="http://schemas.openxmlformats.org/officeDocument/2006/relationships/image" Target="../media/image167.svg"/><Relationship Id="rId8" Type="http://schemas.openxmlformats.org/officeDocument/2006/relationships/image" Target="../media/image168.png"/><Relationship Id="rId9" Type="http://schemas.openxmlformats.org/officeDocument/2006/relationships/image" Target="../media/image169.svg"/><Relationship Id="rId10" Type="http://schemas.openxmlformats.org/officeDocument/2006/relationships/image" Target="../media/image170.jpeg"/><Relationship Id="rId11" Type="http://schemas.openxmlformats.org/officeDocument/2006/relationships/image" Target="../media/image171.png"/><Relationship Id="rId12" Type="http://schemas.openxmlformats.org/officeDocument/2006/relationships/image" Target="../media/image2.png"/><Relationship Id="rId13" Type="http://schemas.openxmlformats.org/officeDocument/2006/relationships/image" Target="../media/image172.png"/><Relationship Id="rId14" Type="http://schemas.openxmlformats.org/officeDocument/2006/relationships/slideLayout" Target="../slideLayouts/slideLayout8.xml"/><Relationship Id="rId15" Type="http://schemas.openxmlformats.org/officeDocument/2006/relationships/notesSlide" Target="../notesSlides/notesSlide69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image" Target="../media/image155.png"/><Relationship Id="rId2" Type="http://schemas.openxmlformats.org/officeDocument/2006/relationships/image" Target="../media/image112.png"/><Relationship Id="rId3" Type="http://schemas.openxmlformats.org/officeDocument/2006/relationships/image" Target="../media/image40.png"/><Relationship Id="rId4" Type="http://schemas.openxmlformats.org/officeDocument/2006/relationships/image" Target="../media/image173.png"/><Relationship Id="rId5" Type="http://schemas.openxmlformats.org/officeDocument/2006/relationships/image" Target="../media/image174.png"/><Relationship Id="rId6" Type="http://schemas.openxmlformats.org/officeDocument/2006/relationships/image" Target="../media/image155.png"/><Relationship Id="rId7" Type="http://schemas.openxmlformats.org/officeDocument/2006/relationships/image" Target="../media/image113.png"/><Relationship Id="rId8" Type="http://schemas.openxmlformats.org/officeDocument/2006/relationships/image" Target="../media/image114.svg"/><Relationship Id="rId9" Type="http://schemas.openxmlformats.org/officeDocument/2006/relationships/image" Target="../media/image175.png"/><Relationship Id="rId10" Type="http://schemas.openxmlformats.org/officeDocument/2006/relationships/image" Target="../media/image176.svg"/><Relationship Id="rId11" Type="http://schemas.openxmlformats.org/officeDocument/2006/relationships/image" Target="../media/image177.png"/><Relationship Id="rId12" Type="http://schemas.openxmlformats.org/officeDocument/2006/relationships/image" Target="../media/image178.svg"/><Relationship Id="rId13" Type="http://schemas.openxmlformats.org/officeDocument/2006/relationships/image" Target="../media/image42.png"/><Relationship Id="rId14" Type="http://schemas.openxmlformats.org/officeDocument/2006/relationships/image" Target="../media/image43.svg"/><Relationship Id="rId15" Type="http://schemas.openxmlformats.org/officeDocument/2006/relationships/image" Target="../media/image179.png"/><Relationship Id="rId16" Type="http://schemas.openxmlformats.org/officeDocument/2006/relationships/image" Target="../media/image180.svg"/><Relationship Id="rId17" Type="http://schemas.openxmlformats.org/officeDocument/2006/relationships/image" Target="../media/image156.png"/><Relationship Id="rId18" Type="http://schemas.openxmlformats.org/officeDocument/2006/relationships/image" Target="../media/image157.svg"/><Relationship Id="rId19" Type="http://schemas.openxmlformats.org/officeDocument/2006/relationships/image" Target="../media/image6.png"/><Relationship Id="rId20" Type="http://schemas.openxmlformats.org/officeDocument/2006/relationships/image" Target="../media/image1.png"/><Relationship Id="rId21" Type="http://schemas.openxmlformats.org/officeDocument/2006/relationships/slideLayout" Target="../slideLayouts/slideLayout14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181.jpeg"/><Relationship Id="rId4" Type="http://schemas.openxmlformats.org/officeDocument/2006/relationships/slideLayout" Target="../slideLayouts/slideLayout1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1164600" y="1848600"/>
            <a:ext cx="10512000" cy="1321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fontScale="92500" lnSpcReduction="19999"/>
          </a:bodyPr>
          <a:p>
            <a:pPr indent="0" algn="ctr" defTabSz="91440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en-US" sz="3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“Why not both?” A semi-supervised pipeline for a comprehensive and scalable analysis of immune heterogeneity in human samples</a:t>
            </a:r>
            <a:br>
              <a:rPr sz="3100"/>
            </a:br>
            <a:endParaRPr b="0" lang="en-US" sz="3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/>
          </p:nvPr>
        </p:nvSpPr>
        <p:spPr>
          <a:xfrm>
            <a:off x="914760" y="2977200"/>
            <a:ext cx="10512000" cy="41058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t" anchorCtr="1">
            <a:normAutofit/>
          </a:bodyPr>
          <a:p>
            <a:pPr marL="432000" indent="0" algn="ctr" defTabSz="91440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David Rach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, Nginache Nampota-Nkomba, Godfrey Mvula, Felix A. Mkandawire, Osward M. Nyirenda, Winter A. Okoth,  Daniela Franco, Andrea G. Buchwald, Franklin R. Toapanta, Marcelo B. Sztein, Miriam K. Laufer, </a:t>
            </a: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Kirsten E. Lyke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, </a:t>
            </a: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Cristiana Cairo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ctr" defTabSz="91440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Noto Sans CJK SC"/>
              </a:rPr>
              <a:t>University of Maryland School of Medicine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ctr" defTabSz="914400">
              <a:lnSpc>
                <a:spcPct val="100000"/>
              </a:lnSpc>
              <a:spcBef>
                <a:spcPts val="1701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Noto Sans CJK SC"/>
              </a:rPr>
              <a:t>October 28, 2026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4" name="Picture 46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5" name="TextBox 2"/>
          <p:cNvSpPr/>
          <p:nvPr/>
        </p:nvSpPr>
        <p:spPr>
          <a:xfrm>
            <a:off x="122760" y="6332400"/>
            <a:ext cx="21045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Slides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6" name="Picture 8" descr=""/>
          <p:cNvPicPr/>
          <p:nvPr/>
        </p:nvPicPr>
        <p:blipFill>
          <a:blip r:embed="rId2"/>
          <a:stretch/>
        </p:blipFill>
        <p:spPr>
          <a:xfrm>
            <a:off x="9073800" y="156240"/>
            <a:ext cx="2854440" cy="1072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7" name="Graphic 3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47960" y="123480"/>
            <a:ext cx="3437640" cy="898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"/>
          <p:cNvSpPr/>
          <p:nvPr/>
        </p:nvSpPr>
        <p:spPr>
          <a:xfrm>
            <a:off x="686160" y="1052640"/>
            <a:ext cx="5253480" cy="145800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08960" cy="6346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Spectral Flow Cytometry is amazing!!!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0" name="Picture 12" descr=""/>
          <p:cNvPicPr/>
          <p:nvPr/>
        </p:nvPicPr>
        <p:blipFill>
          <a:blip r:embed="rId1"/>
          <a:stretch/>
        </p:blipFill>
        <p:spPr>
          <a:xfrm>
            <a:off x="6095880" y="1037880"/>
            <a:ext cx="5496840" cy="4444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1" name="Picture 14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7960" cy="396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2" name=""/>
          <p:cNvSpPr/>
          <p:nvPr/>
        </p:nvSpPr>
        <p:spPr>
          <a:xfrm>
            <a:off x="686160" y="2660400"/>
            <a:ext cx="5253480" cy="1596240"/>
          </a:xfrm>
          <a:prstGeom prst="rect">
            <a:avLst/>
          </a:prstGeom>
          <a:solidFill>
            <a:srgbClr val="729fc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3" name="Rectangle 7"/>
          <p:cNvSpPr/>
          <p:nvPr/>
        </p:nvSpPr>
        <p:spPr>
          <a:xfrm>
            <a:off x="748800" y="1052640"/>
            <a:ext cx="5190840" cy="20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Capable of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resolving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remarkably similar fluorophores →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increased number of markers per panel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compared to conventional flow cytometry (CFC)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Rectangle 11"/>
          <p:cNvSpPr/>
          <p:nvPr/>
        </p:nvSpPr>
        <p:spPr>
          <a:xfrm>
            <a:off x="748800" y="2707200"/>
            <a:ext cx="5190840" cy="168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Allows for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rapid acquisition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of millions of events in a few minutes → typically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greater number of acquired cells per sample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compared to mass cytometry (MC)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Rectangle 12"/>
          <p:cNvSpPr/>
          <p:nvPr/>
        </p:nvSpPr>
        <p:spPr>
          <a:xfrm>
            <a:off x="685800" y="4440600"/>
            <a:ext cx="519084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Spectral Flow Cytometry (SFC) datasets have an unique combination of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width and depth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compared to preceding technologies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"/>
          <p:cNvSpPr/>
          <p:nvPr/>
        </p:nvSpPr>
        <p:spPr>
          <a:xfrm>
            <a:off x="685800" y="4397760"/>
            <a:ext cx="5253840" cy="1084680"/>
          </a:xfrm>
          <a:prstGeom prst="rect">
            <a:avLst/>
          </a:prstGeom>
          <a:solidFill>
            <a:srgbClr val="77bc6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57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560" cy="638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Spectral Flow Cytometry is amazing!!!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9" name="Picture 42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0" name=""/>
          <p:cNvSpPr/>
          <p:nvPr/>
        </p:nvSpPr>
        <p:spPr>
          <a:xfrm>
            <a:off x="6629400" y="1198800"/>
            <a:ext cx="5028120" cy="1230120"/>
          </a:xfrm>
          <a:prstGeom prst="rect">
            <a:avLst/>
          </a:prstGeom>
          <a:solidFill>
            <a:srgbClr val="729fc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1" name=""/>
          <p:cNvSpPr/>
          <p:nvPr/>
        </p:nvSpPr>
        <p:spPr>
          <a:xfrm>
            <a:off x="6629400" y="3837600"/>
            <a:ext cx="5025240" cy="832680"/>
          </a:xfrm>
          <a:prstGeom prst="rect">
            <a:avLst/>
          </a:prstGeom>
          <a:solidFill>
            <a:srgbClr val="77bc6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2" name=""/>
          <p:cNvSpPr/>
          <p:nvPr/>
        </p:nvSpPr>
        <p:spPr>
          <a:xfrm>
            <a:off x="6629400" y="3895200"/>
            <a:ext cx="525384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Expand our knowledge about immune system heterogeneity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"/>
          <p:cNvSpPr/>
          <p:nvPr/>
        </p:nvSpPr>
        <p:spPr>
          <a:xfrm>
            <a:off x="6629400" y="1234800"/>
            <a:ext cx="5025240" cy="237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Able to efficiently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acquire greater number of cells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more thorough profiling of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rare cell subsets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Build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one panel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, evaluate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multiple cell types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invaluable for studies with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limited biospecimen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"/>
          <p:cNvSpPr/>
          <p:nvPr/>
        </p:nvSpPr>
        <p:spPr>
          <a:xfrm>
            <a:off x="6626520" y="2498400"/>
            <a:ext cx="5028120" cy="1230120"/>
          </a:xfrm>
          <a:prstGeom prst="rect">
            <a:avLst/>
          </a:prstGeom>
          <a:solidFill>
            <a:srgbClr val="ff972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65" name="" descr=""/>
          <p:cNvPicPr/>
          <p:nvPr/>
        </p:nvPicPr>
        <p:blipFill>
          <a:blip r:embed="rId2"/>
          <a:stretch/>
        </p:blipFill>
        <p:spPr>
          <a:xfrm>
            <a:off x="914400" y="1143000"/>
            <a:ext cx="5027760" cy="3770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6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"/>
          <p:cNvSpPr/>
          <p:nvPr/>
        </p:nvSpPr>
        <p:spPr>
          <a:xfrm>
            <a:off x="903960" y="3466080"/>
            <a:ext cx="5036040" cy="1453320"/>
          </a:xfrm>
          <a:prstGeom prst="rect">
            <a:avLst/>
          </a:prstGeom>
          <a:solidFill>
            <a:srgbClr val="780373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8" name=""/>
          <p:cNvSpPr/>
          <p:nvPr/>
        </p:nvSpPr>
        <p:spPr>
          <a:xfrm>
            <a:off x="909360" y="1603080"/>
            <a:ext cx="5024160" cy="1367640"/>
          </a:xfrm>
          <a:prstGeom prst="rect">
            <a:avLst/>
          </a:prstGeom>
          <a:solidFill>
            <a:srgbClr val="ffd8ce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5280" cy="13183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Trade-off: Increasing analytical complexity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Rectangle 3"/>
          <p:cNvSpPr/>
          <p:nvPr/>
        </p:nvSpPr>
        <p:spPr>
          <a:xfrm>
            <a:off x="909360" y="1603080"/>
            <a:ext cx="48700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you are only interested in a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single population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of cells → analysis process remains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essentially unchanged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(manual gating with a few more gates)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Rectangle 13"/>
          <p:cNvSpPr/>
          <p:nvPr/>
        </p:nvSpPr>
        <p:spPr>
          <a:xfrm>
            <a:off x="970560" y="3514680"/>
            <a:ext cx="496944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your goal is to characterize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all cell populations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that may be present →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the breadth and depth of the datasets complicate the analysis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2" name="Picture 15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7960" cy="396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3" name="Picture 17" descr=""/>
          <p:cNvPicPr/>
          <p:nvPr/>
        </p:nvPicPr>
        <p:blipFill>
          <a:blip r:embed="rId2"/>
          <a:stretch/>
        </p:blipFill>
        <p:spPr>
          <a:xfrm>
            <a:off x="6400800" y="1371600"/>
            <a:ext cx="3882600" cy="4104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4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"/>
          <p:cNvSpPr/>
          <p:nvPr/>
        </p:nvSpPr>
        <p:spPr>
          <a:xfrm>
            <a:off x="5486400" y="4114800"/>
            <a:ext cx="5940000" cy="136800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5280" cy="13183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Complex Datasets: Combinatorially Exponential Clusters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7" name="Picture 18" descr=""/>
          <p:cNvPicPr/>
          <p:nvPr/>
        </p:nvPicPr>
        <p:blipFill>
          <a:blip r:embed="rId1"/>
          <a:stretch/>
        </p:blipFill>
        <p:spPr>
          <a:xfrm>
            <a:off x="457200" y="1175400"/>
            <a:ext cx="5022000" cy="446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8" name="Rectangle 16"/>
          <p:cNvSpPr/>
          <p:nvPr/>
        </p:nvSpPr>
        <p:spPr>
          <a:xfrm>
            <a:off x="5403600" y="3154680"/>
            <a:ext cx="5571720" cy="766440"/>
          </a:xfrm>
          <a:prstGeom prst="rect">
            <a:avLst/>
          </a:prstGeom>
          <a:noFill/>
          <a:ln w="36720">
            <a:noFill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And at the end, we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grouped cells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that only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expressed the same markers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Rectangle 17"/>
          <p:cNvSpPr/>
          <p:nvPr/>
        </p:nvSpPr>
        <p:spPr>
          <a:xfrm>
            <a:off x="5482800" y="4114800"/>
            <a:ext cx="596772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0" name="Rectangle 18"/>
          <p:cNvSpPr/>
          <p:nvPr/>
        </p:nvSpPr>
        <p:spPr>
          <a:xfrm>
            <a:off x="5486400" y="4572000"/>
            <a:ext cx="59400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marL="216000" indent="-216000"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“Groups” per panel = 2</a:t>
            </a:r>
            <a:r>
              <a:rPr b="0" lang="en-US" sz="2400" strike="noStrike" u="none" baseline="33000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Number of Fluorophores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1" name="Picture 21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7960" cy="396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2" name=""/>
          <p:cNvSpPr/>
          <p:nvPr/>
        </p:nvSpPr>
        <p:spPr>
          <a:xfrm>
            <a:off x="5481720" y="1403640"/>
            <a:ext cx="5861880" cy="250236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3" name="Rectangle 19"/>
          <p:cNvSpPr/>
          <p:nvPr/>
        </p:nvSpPr>
        <p:spPr>
          <a:xfrm>
            <a:off x="5403600" y="1325880"/>
            <a:ext cx="5711400" cy="766440"/>
          </a:xfrm>
          <a:prstGeom prst="rect">
            <a:avLst/>
          </a:prstGeom>
          <a:noFill/>
          <a:ln w="36720">
            <a:noFill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If for a given marker in your panel, you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split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the cells into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positive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and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negative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populations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Rectangle 30"/>
          <p:cNvSpPr/>
          <p:nvPr/>
        </p:nvSpPr>
        <p:spPr>
          <a:xfrm>
            <a:off x="5403600" y="2240280"/>
            <a:ext cx="5940000" cy="766440"/>
          </a:xfrm>
          <a:prstGeom prst="rect">
            <a:avLst/>
          </a:prstGeom>
          <a:noFill/>
          <a:ln w="36720">
            <a:noFill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And this splitting process was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repeated for every marker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in your panel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Rectangle 31"/>
          <p:cNvSpPr/>
          <p:nvPr/>
        </p:nvSpPr>
        <p:spPr>
          <a:xfrm>
            <a:off x="5486400" y="5029200"/>
            <a:ext cx="617220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86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"/>
          <p:cNvSpPr/>
          <p:nvPr/>
        </p:nvSpPr>
        <p:spPr>
          <a:xfrm>
            <a:off x="5486400" y="4114800"/>
            <a:ext cx="5940000" cy="136800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8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5280" cy="13183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Complex Datasets: Combinatorially Exponential Clusters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9" name="Picture 23" descr=""/>
          <p:cNvPicPr/>
          <p:nvPr/>
        </p:nvPicPr>
        <p:blipFill>
          <a:blip r:embed="rId1"/>
          <a:stretch/>
        </p:blipFill>
        <p:spPr>
          <a:xfrm>
            <a:off x="457200" y="1175400"/>
            <a:ext cx="5022000" cy="446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0" name="Rectangle 2"/>
          <p:cNvSpPr/>
          <p:nvPr/>
        </p:nvSpPr>
        <p:spPr>
          <a:xfrm>
            <a:off x="5403600" y="3154680"/>
            <a:ext cx="5571720" cy="766440"/>
          </a:xfrm>
          <a:prstGeom prst="rect">
            <a:avLst/>
          </a:prstGeom>
          <a:noFill/>
          <a:ln w="36720">
            <a:noFill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And at the end, we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grouped cells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that only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expressed the same markers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Rectangle 32"/>
          <p:cNvSpPr/>
          <p:nvPr/>
        </p:nvSpPr>
        <p:spPr>
          <a:xfrm>
            <a:off x="5482800" y="4114800"/>
            <a:ext cx="59677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9-color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512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at most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Rectangle 33"/>
          <p:cNvSpPr/>
          <p:nvPr/>
        </p:nvSpPr>
        <p:spPr>
          <a:xfrm>
            <a:off x="5482800" y="4572000"/>
            <a:ext cx="61722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40-color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1.1e+12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(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trillion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3" name="Picture 26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7960" cy="396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4" name=""/>
          <p:cNvSpPr/>
          <p:nvPr/>
        </p:nvSpPr>
        <p:spPr>
          <a:xfrm>
            <a:off x="5481720" y="1403640"/>
            <a:ext cx="5861880" cy="250236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5" name="Rectangle 34"/>
          <p:cNvSpPr/>
          <p:nvPr/>
        </p:nvSpPr>
        <p:spPr>
          <a:xfrm>
            <a:off x="5403600" y="1325880"/>
            <a:ext cx="5711400" cy="766440"/>
          </a:xfrm>
          <a:prstGeom prst="rect">
            <a:avLst/>
          </a:prstGeom>
          <a:noFill/>
          <a:ln w="36720">
            <a:noFill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If for a given marker in your panel, you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split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the cells into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positive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and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negative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populations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Rectangle 35"/>
          <p:cNvSpPr/>
          <p:nvPr/>
        </p:nvSpPr>
        <p:spPr>
          <a:xfrm>
            <a:off x="5403600" y="2240280"/>
            <a:ext cx="5940000" cy="766440"/>
          </a:xfrm>
          <a:prstGeom prst="rect">
            <a:avLst/>
          </a:prstGeom>
          <a:noFill/>
          <a:ln w="36720">
            <a:noFill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And this splitting process was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repeated for every marker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in your panel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Rectangle 36"/>
          <p:cNvSpPr/>
          <p:nvPr/>
        </p:nvSpPr>
        <p:spPr>
          <a:xfrm>
            <a:off x="5486400" y="5029200"/>
            <a:ext cx="61722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1.2e+18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(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quintillion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8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"/>
          <p:cNvSpPr/>
          <p:nvPr/>
        </p:nvSpPr>
        <p:spPr>
          <a:xfrm>
            <a:off x="457200" y="2784600"/>
            <a:ext cx="5940000" cy="160200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00" name="PlaceHolder 1"/>
          <p:cNvSpPr>
            <a:spLocks noGrp="1"/>
          </p:cNvSpPr>
          <p:nvPr>
            <p:ph type="title"/>
          </p:nvPr>
        </p:nvSpPr>
        <p:spPr>
          <a:xfrm>
            <a:off x="36000" y="33480"/>
            <a:ext cx="12185280" cy="651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What even is a quintillion? 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Rectangle 37"/>
          <p:cNvSpPr/>
          <p:nvPr/>
        </p:nvSpPr>
        <p:spPr>
          <a:xfrm>
            <a:off x="457200" y="2738520"/>
            <a:ext cx="59677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 gate, every 10 seconds → 6 groups/minute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2" name="Picture 29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7960" cy="396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3" name="Rectangle 38"/>
          <p:cNvSpPr/>
          <p:nvPr/>
        </p:nvSpPr>
        <p:spPr>
          <a:xfrm>
            <a:off x="453600" y="1945800"/>
            <a:ext cx="61722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1.2e+18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(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quintillion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Rectangle 39"/>
          <p:cNvSpPr/>
          <p:nvPr/>
        </p:nvSpPr>
        <p:spPr>
          <a:xfrm>
            <a:off x="457200" y="3134520"/>
            <a:ext cx="59677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 minutes in an hour → 360 groups/hour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Rectangle 40"/>
          <p:cNvSpPr/>
          <p:nvPr/>
        </p:nvSpPr>
        <p:spPr>
          <a:xfrm>
            <a:off x="457200" y="3530520"/>
            <a:ext cx="59677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Awake 16 hours a day → 5760 groups/day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Rectangle 41"/>
          <p:cNvSpPr/>
          <p:nvPr/>
        </p:nvSpPr>
        <p:spPr>
          <a:xfrm>
            <a:off x="457200" y="3962520"/>
            <a:ext cx="61686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365 days per year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2,102,400 groups/year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"/>
          <p:cNvSpPr/>
          <p:nvPr/>
        </p:nvSpPr>
        <p:spPr>
          <a:xfrm>
            <a:off x="457200" y="1899000"/>
            <a:ext cx="5940000" cy="453600"/>
          </a:xfrm>
          <a:prstGeom prst="rect">
            <a:avLst/>
          </a:prstGeom>
          <a:solidFill>
            <a:srgbClr val="6b5e9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08" name="" descr=""/>
          <p:cNvPicPr/>
          <p:nvPr/>
        </p:nvPicPr>
        <p:blipFill>
          <a:blip r:embed="rId2"/>
          <a:stretch/>
        </p:blipFill>
        <p:spPr>
          <a:xfrm>
            <a:off x="6567120" y="1545840"/>
            <a:ext cx="5545080" cy="3022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9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560" cy="354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0" name="PlaceHolder 12"/>
          <p:cNvSpPr/>
          <p:nvPr/>
        </p:nvSpPr>
        <p:spPr>
          <a:xfrm>
            <a:off x="1900800" y="808200"/>
            <a:ext cx="8914320" cy="108972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I were to manually check for every combination...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"/>
          <p:cNvSpPr/>
          <p:nvPr/>
        </p:nvSpPr>
        <p:spPr>
          <a:xfrm>
            <a:off x="457200" y="2784600"/>
            <a:ext cx="5940000" cy="160200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36000" y="33480"/>
            <a:ext cx="12185280" cy="651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What even is a quintillion? 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Rectangle 45"/>
          <p:cNvSpPr/>
          <p:nvPr/>
        </p:nvSpPr>
        <p:spPr>
          <a:xfrm>
            <a:off x="457200" y="2738520"/>
            <a:ext cx="59677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 gate, every 10 seconds → 6 groups/minute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4" name="Picture 33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7960" cy="396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5" name="Rectangle 53"/>
          <p:cNvSpPr/>
          <p:nvPr/>
        </p:nvSpPr>
        <p:spPr>
          <a:xfrm>
            <a:off x="453600" y="1945800"/>
            <a:ext cx="61722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1.2e+18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(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quintillion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Rectangle 54"/>
          <p:cNvSpPr/>
          <p:nvPr/>
        </p:nvSpPr>
        <p:spPr>
          <a:xfrm>
            <a:off x="457200" y="3134520"/>
            <a:ext cx="59677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 minutes in an hour → 360 groups/hour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Rectangle 55"/>
          <p:cNvSpPr/>
          <p:nvPr/>
        </p:nvSpPr>
        <p:spPr>
          <a:xfrm>
            <a:off x="457200" y="3530520"/>
            <a:ext cx="59677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Awake 16 hours a day → 5760 groups/day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Rectangle 56"/>
          <p:cNvSpPr/>
          <p:nvPr/>
        </p:nvSpPr>
        <p:spPr>
          <a:xfrm>
            <a:off x="457200" y="3962520"/>
            <a:ext cx="61686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365 days per year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2,102,400 groups/year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"/>
          <p:cNvSpPr/>
          <p:nvPr/>
        </p:nvSpPr>
        <p:spPr>
          <a:xfrm>
            <a:off x="457200" y="1899000"/>
            <a:ext cx="5940000" cy="453600"/>
          </a:xfrm>
          <a:prstGeom prst="rect">
            <a:avLst/>
          </a:prstGeom>
          <a:solidFill>
            <a:srgbClr val="6b5e9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20" name="" descr=""/>
          <p:cNvPicPr/>
          <p:nvPr/>
        </p:nvPicPr>
        <p:blipFill>
          <a:blip r:embed="rId2"/>
          <a:stretch/>
        </p:blipFill>
        <p:spPr>
          <a:xfrm>
            <a:off x="6567120" y="1545840"/>
            <a:ext cx="5545080" cy="3022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1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560" cy="354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2" name="PlaceHolder 14"/>
          <p:cNvSpPr/>
          <p:nvPr/>
        </p:nvSpPr>
        <p:spPr>
          <a:xfrm>
            <a:off x="1900800" y="808200"/>
            <a:ext cx="8914320" cy="108972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I were to manually check for every combination...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"/>
          <p:cNvSpPr/>
          <p:nvPr/>
        </p:nvSpPr>
        <p:spPr>
          <a:xfrm>
            <a:off x="1910520" y="4601520"/>
            <a:ext cx="288900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….Not even close….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"/>
          <p:cNvSpPr/>
          <p:nvPr/>
        </p:nvSpPr>
        <p:spPr>
          <a:xfrm>
            <a:off x="5490000" y="2056680"/>
            <a:ext cx="5936400" cy="116820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5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5280" cy="13183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6" name="Picture 30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7960" cy="396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7" name="Rectangle 43"/>
          <p:cNvSpPr/>
          <p:nvPr/>
        </p:nvSpPr>
        <p:spPr>
          <a:xfrm>
            <a:off x="5486400" y="1371600"/>
            <a:ext cx="61722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1.2e+18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(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quintillion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Rectangle 44"/>
          <p:cNvSpPr/>
          <p:nvPr/>
        </p:nvSpPr>
        <p:spPr>
          <a:xfrm>
            <a:off x="5490000" y="2046600"/>
            <a:ext cx="61686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365 days per year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2,102,400 groups/year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"/>
          <p:cNvSpPr/>
          <p:nvPr/>
        </p:nvSpPr>
        <p:spPr>
          <a:xfrm>
            <a:off x="5486400" y="1371600"/>
            <a:ext cx="5940000" cy="453600"/>
          </a:xfrm>
          <a:prstGeom prst="rect">
            <a:avLst/>
          </a:prstGeom>
          <a:solidFill>
            <a:srgbClr val="6b5e9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30" name="" descr=""/>
          <p:cNvPicPr/>
          <p:nvPr/>
        </p:nvPicPr>
        <p:blipFill>
          <a:blip r:embed="rId2"/>
          <a:stretch/>
        </p:blipFill>
        <p:spPr>
          <a:xfrm>
            <a:off x="457200" y="1371600"/>
            <a:ext cx="4872960" cy="2658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1" name="Rectangle 46"/>
          <p:cNvSpPr/>
          <p:nvPr/>
        </p:nvSpPr>
        <p:spPr>
          <a:xfrm>
            <a:off x="5490000" y="2406600"/>
            <a:ext cx="61686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Invent a time-machine, become immortal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Rectangle 47"/>
          <p:cNvSpPr/>
          <p:nvPr/>
        </p:nvSpPr>
        <p:spPr>
          <a:xfrm>
            <a:off x="5490000" y="2730600"/>
            <a:ext cx="61686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13.8 billion years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2.9e+16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groups/reality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PlaceHolder 9"/>
          <p:cNvSpPr/>
          <p:nvPr/>
        </p:nvSpPr>
        <p:spPr>
          <a:xfrm>
            <a:off x="0" y="-182520"/>
            <a:ext cx="12185280" cy="131832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Continuously since the Big Bang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4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" name="" descr=""/>
          <p:cNvPicPr/>
          <p:nvPr/>
        </p:nvPicPr>
        <p:blipFill>
          <a:blip r:embed="rId1"/>
          <a:stretch/>
        </p:blipFill>
        <p:spPr>
          <a:xfrm>
            <a:off x="457200" y="1371600"/>
            <a:ext cx="4875120" cy="2658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" name=""/>
          <p:cNvSpPr/>
          <p:nvPr/>
        </p:nvSpPr>
        <p:spPr>
          <a:xfrm>
            <a:off x="5490000" y="3578760"/>
            <a:ext cx="5936400" cy="143604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7" name=""/>
          <p:cNvSpPr/>
          <p:nvPr/>
        </p:nvSpPr>
        <p:spPr>
          <a:xfrm>
            <a:off x="5490000" y="2056680"/>
            <a:ext cx="5936400" cy="116820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8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5280" cy="13183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9" name="Picture 32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7960" cy="396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0" name="Rectangle 42"/>
          <p:cNvSpPr/>
          <p:nvPr/>
        </p:nvSpPr>
        <p:spPr>
          <a:xfrm>
            <a:off x="5486400" y="1371600"/>
            <a:ext cx="61722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1.2e+18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(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quintillion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Rectangle 48"/>
          <p:cNvSpPr/>
          <p:nvPr/>
        </p:nvSpPr>
        <p:spPr>
          <a:xfrm>
            <a:off x="5490000" y="2046600"/>
            <a:ext cx="61686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365 days per year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2,102,400 groups/year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Rectangle 49"/>
          <p:cNvSpPr/>
          <p:nvPr/>
        </p:nvSpPr>
        <p:spPr>
          <a:xfrm>
            <a:off x="5490000" y="3578760"/>
            <a:ext cx="594000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So we need ~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50 immortal researchers working continuously since the Big Bang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just to check all group combinations for a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single 60-fluorophore panel .fcs file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"/>
          <p:cNvSpPr/>
          <p:nvPr/>
        </p:nvSpPr>
        <p:spPr>
          <a:xfrm>
            <a:off x="5486400" y="1371600"/>
            <a:ext cx="5940000" cy="453600"/>
          </a:xfrm>
          <a:prstGeom prst="rect">
            <a:avLst/>
          </a:prstGeom>
          <a:solidFill>
            <a:srgbClr val="6b5e9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4" name="Rectangle 51"/>
          <p:cNvSpPr/>
          <p:nvPr/>
        </p:nvSpPr>
        <p:spPr>
          <a:xfrm>
            <a:off x="5490000" y="2406600"/>
            <a:ext cx="61686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Invent a time-machine, become immortal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Rectangle 52"/>
          <p:cNvSpPr/>
          <p:nvPr/>
        </p:nvSpPr>
        <p:spPr>
          <a:xfrm>
            <a:off x="5490000" y="2730600"/>
            <a:ext cx="61686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13.8 billion years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2.9e+16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groups/reality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PlaceHolder 11"/>
          <p:cNvSpPr/>
          <p:nvPr/>
        </p:nvSpPr>
        <p:spPr>
          <a:xfrm>
            <a:off x="0" y="-182520"/>
            <a:ext cx="12185280" cy="131832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Continuously since the Big Bang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7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8" name="" descr=""/>
          <p:cNvPicPr/>
          <p:nvPr/>
        </p:nvPicPr>
        <p:blipFill>
          <a:blip r:embed="rId1"/>
          <a:stretch/>
        </p:blipFill>
        <p:spPr>
          <a:xfrm>
            <a:off x="457200" y="1371600"/>
            <a:ext cx="4875120" cy="2658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9" name=""/>
          <p:cNvSpPr/>
          <p:nvPr/>
        </p:nvSpPr>
        <p:spPr>
          <a:xfrm>
            <a:off x="5490000" y="3578760"/>
            <a:ext cx="5936400" cy="143604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0" name=""/>
          <p:cNvSpPr/>
          <p:nvPr/>
        </p:nvSpPr>
        <p:spPr>
          <a:xfrm>
            <a:off x="5490000" y="2056680"/>
            <a:ext cx="5936400" cy="116820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5280" cy="13183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2" name="Picture 34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7960" cy="396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3" name="Rectangle 57"/>
          <p:cNvSpPr/>
          <p:nvPr/>
        </p:nvSpPr>
        <p:spPr>
          <a:xfrm>
            <a:off x="5486400" y="1371600"/>
            <a:ext cx="61722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1.2e+18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(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quintillion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Rectangle 58"/>
          <p:cNvSpPr/>
          <p:nvPr/>
        </p:nvSpPr>
        <p:spPr>
          <a:xfrm>
            <a:off x="5490000" y="2046600"/>
            <a:ext cx="61686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365 days per year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2,102,400 groups/year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Rectangle 59"/>
          <p:cNvSpPr/>
          <p:nvPr/>
        </p:nvSpPr>
        <p:spPr>
          <a:xfrm>
            <a:off x="5490000" y="3578760"/>
            <a:ext cx="594000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So we need ~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50 immortal researchers working continuously since the Big Bang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just to check all group combinations for a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single 60-fluorophore panel .fcs file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"/>
          <p:cNvSpPr/>
          <p:nvPr/>
        </p:nvSpPr>
        <p:spPr>
          <a:xfrm>
            <a:off x="5486400" y="1371600"/>
            <a:ext cx="5940000" cy="453600"/>
          </a:xfrm>
          <a:prstGeom prst="rect">
            <a:avLst/>
          </a:prstGeom>
          <a:solidFill>
            <a:srgbClr val="6b5e9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7" name="Rectangle 60"/>
          <p:cNvSpPr/>
          <p:nvPr/>
        </p:nvSpPr>
        <p:spPr>
          <a:xfrm>
            <a:off x="5490000" y="2406600"/>
            <a:ext cx="61686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Invent a time-machine, become immortal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Rectangle 61"/>
          <p:cNvSpPr/>
          <p:nvPr/>
        </p:nvSpPr>
        <p:spPr>
          <a:xfrm>
            <a:off x="5490000" y="2730600"/>
            <a:ext cx="61686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13.8 billion years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2.9e+16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groups/reality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PlaceHolder 16"/>
          <p:cNvSpPr/>
          <p:nvPr/>
        </p:nvSpPr>
        <p:spPr>
          <a:xfrm>
            <a:off x="0" y="-182520"/>
            <a:ext cx="12185280" cy="131832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Continuously since the Big Bang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0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560" cy="354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1" name=""/>
          <p:cNvSpPr/>
          <p:nvPr/>
        </p:nvSpPr>
        <p:spPr>
          <a:xfrm>
            <a:off x="6629400" y="5215320"/>
            <a:ext cx="3885120" cy="76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 file down, 99 more to go!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2" name=""/>
          <p:cNvGrpSpPr/>
          <p:nvPr/>
        </p:nvGrpSpPr>
        <p:grpSpPr>
          <a:xfrm>
            <a:off x="6858000" y="1371600"/>
            <a:ext cx="5025600" cy="4111200"/>
            <a:chOff x="6858000" y="1371600"/>
            <a:chExt cx="5025600" cy="4111200"/>
          </a:xfrm>
        </p:grpSpPr>
        <p:pic>
          <p:nvPicPr>
            <p:cNvPr id="263" name="" descr=""/>
            <p:cNvPicPr/>
            <p:nvPr/>
          </p:nvPicPr>
          <p:blipFill>
            <a:blip r:embed="rId1"/>
            <a:srcRect l="0" t="0" r="75396" b="50082"/>
            <a:stretch/>
          </p:blipFill>
          <p:spPr>
            <a:xfrm>
              <a:off x="7073280" y="1762920"/>
              <a:ext cx="4364640" cy="37198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64" name=""/>
            <p:cNvSpPr/>
            <p:nvPr/>
          </p:nvSpPr>
          <p:spPr>
            <a:xfrm>
              <a:off x="6858000" y="2743200"/>
              <a:ext cx="569160" cy="156384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265" name=""/>
            <p:cNvSpPr/>
            <p:nvPr/>
          </p:nvSpPr>
          <p:spPr>
            <a:xfrm>
              <a:off x="7239600" y="1371600"/>
              <a:ext cx="569520" cy="97596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266" name=""/>
            <p:cNvSpPr/>
            <p:nvPr/>
          </p:nvSpPr>
          <p:spPr>
            <a:xfrm>
              <a:off x="11314440" y="1567440"/>
              <a:ext cx="569160" cy="97596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</p:grpSp>
      <p:pic>
        <p:nvPicPr>
          <p:cNvPr id="267" name="Picture 73" descr=""/>
          <p:cNvPicPr/>
          <p:nvPr/>
        </p:nvPicPr>
        <p:blipFill>
          <a:blip r:embed="rId2"/>
          <a:stretch/>
        </p:blipFill>
        <p:spPr>
          <a:xfrm>
            <a:off x="10435680" y="6172560"/>
            <a:ext cx="1137960" cy="396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8" name=""/>
          <p:cNvSpPr/>
          <p:nvPr/>
        </p:nvSpPr>
        <p:spPr>
          <a:xfrm>
            <a:off x="685800" y="1135800"/>
            <a:ext cx="5936400" cy="143604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9" name="Rectangle 62"/>
          <p:cNvSpPr/>
          <p:nvPr/>
        </p:nvSpPr>
        <p:spPr>
          <a:xfrm>
            <a:off x="685800" y="1143000"/>
            <a:ext cx="594000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Consequently, if the goal is to characterize all cell populations present, some form of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unsupervised (algorithm) or semi-supervised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analytical approaches will be needed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PlaceHolder 1"/>
          <p:cNvSpPr>
            <a:spLocks noGrp="1"/>
          </p:cNvSpPr>
          <p:nvPr>
            <p:ph type="title"/>
          </p:nvPr>
        </p:nvSpPr>
        <p:spPr>
          <a:xfrm>
            <a:off x="-18360" y="48600"/>
            <a:ext cx="12206880" cy="10886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Alternative: Unsupervised Analysis (Algorithms)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Rectangle 63"/>
          <p:cNvSpPr/>
          <p:nvPr/>
        </p:nvSpPr>
        <p:spPr>
          <a:xfrm>
            <a:off x="685800" y="1143000"/>
            <a:ext cx="594000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Consequently, if the goal is to characterize all cell populations present, some form of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unsupervised (algorithm) or semi-supervised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analytical approaches will be needed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Rectangle 64"/>
          <p:cNvSpPr/>
          <p:nvPr/>
        </p:nvSpPr>
        <p:spPr>
          <a:xfrm>
            <a:off x="685800" y="3159000"/>
            <a:ext cx="59400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Clustering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FlowSOM, Phenograph, Xshift, etc.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Rectangle 65"/>
          <p:cNvSpPr/>
          <p:nvPr/>
        </p:nvSpPr>
        <p:spPr>
          <a:xfrm>
            <a:off x="685800" y="3789000"/>
            <a:ext cx="59400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Dimensionality visualization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opt-SNE, UMAP, PaCMAP, Phate, etc.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"/>
          <p:cNvSpPr/>
          <p:nvPr/>
        </p:nvSpPr>
        <p:spPr>
          <a:xfrm>
            <a:off x="685800" y="4813200"/>
            <a:ext cx="5940000" cy="910800"/>
          </a:xfrm>
          <a:prstGeom prst="rect">
            <a:avLst/>
          </a:prstGeom>
          <a:solidFill>
            <a:srgbClr val="3faf46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5" name="Rectangle 69"/>
          <p:cNvSpPr/>
          <p:nvPr/>
        </p:nvSpPr>
        <p:spPr>
          <a:xfrm>
            <a:off x="685800" y="4932000"/>
            <a:ext cx="59400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Automated Gating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openCyto, flowMagic, ElasticGate, etc.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"/>
          <p:cNvSpPr/>
          <p:nvPr/>
        </p:nvSpPr>
        <p:spPr>
          <a:xfrm>
            <a:off x="685800" y="3104640"/>
            <a:ext cx="5940000" cy="1535760"/>
          </a:xfrm>
          <a:prstGeom prst="rect">
            <a:avLst/>
          </a:prstGeom>
          <a:solidFill>
            <a:srgbClr val="729fc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77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560" cy="638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The challenge for unsupervised approaches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9" name="Picture 2" descr=""/>
          <p:cNvPicPr/>
          <p:nvPr/>
        </p:nvPicPr>
        <p:blipFill>
          <a:blip r:embed="rId1"/>
          <a:stretch/>
        </p:blipFill>
        <p:spPr>
          <a:xfrm>
            <a:off x="1523880" y="1185480"/>
            <a:ext cx="9142560" cy="6399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0" name="Picture 1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1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560" cy="638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The challenge for unsupervised approaches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3" name="Picture 35" descr=""/>
          <p:cNvPicPr/>
          <p:nvPr/>
        </p:nvPicPr>
        <p:blipFill>
          <a:blip r:embed="rId1"/>
          <a:stretch/>
        </p:blipFill>
        <p:spPr>
          <a:xfrm>
            <a:off x="1523880" y="1185480"/>
            <a:ext cx="9142560" cy="6399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4" name="Picture 36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5" name=""/>
          <p:cNvSpPr/>
          <p:nvPr/>
        </p:nvSpPr>
        <p:spPr>
          <a:xfrm flipH="1" flipV="1" rot="16074000">
            <a:off x="1858320" y="894960"/>
            <a:ext cx="453600" cy="496440"/>
          </a:xfrm>
          <a:prstGeom prst="rightArrow">
            <a:avLst>
              <a:gd name="adj1" fmla="val 50000"/>
              <a:gd name="adj2" fmla="val 25000"/>
            </a:avLst>
          </a:prstGeom>
          <a:solidFill>
            <a:srgbClr val="ff860d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86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560" cy="638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The challenge for unsupervised approaches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8" name="Picture 37" descr=""/>
          <p:cNvPicPr/>
          <p:nvPr/>
        </p:nvPicPr>
        <p:blipFill>
          <a:blip r:embed="rId1"/>
          <a:stretch/>
        </p:blipFill>
        <p:spPr>
          <a:xfrm>
            <a:off x="1523880" y="1185480"/>
            <a:ext cx="9142560" cy="6399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9" name="Picture 38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0" name=""/>
          <p:cNvSpPr/>
          <p:nvPr/>
        </p:nvSpPr>
        <p:spPr>
          <a:xfrm flipH="1" flipV="1" rot="16074000">
            <a:off x="9402120" y="894960"/>
            <a:ext cx="453600" cy="496440"/>
          </a:xfrm>
          <a:prstGeom prst="rightArrow">
            <a:avLst>
              <a:gd name="adj1" fmla="val 50000"/>
              <a:gd name="adj2" fmla="val 25000"/>
            </a:avLst>
          </a:prstGeom>
          <a:solidFill>
            <a:srgbClr val="ff860d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91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560" cy="638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The challenge for unsupervised approaches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3" name="Picture 39" descr=""/>
          <p:cNvPicPr/>
          <p:nvPr/>
        </p:nvPicPr>
        <p:blipFill>
          <a:blip r:embed="rId1"/>
          <a:stretch/>
        </p:blipFill>
        <p:spPr>
          <a:xfrm>
            <a:off x="1523880" y="1185480"/>
            <a:ext cx="9142560" cy="6399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4" name="Picture 40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5" name=""/>
          <p:cNvSpPr/>
          <p:nvPr/>
        </p:nvSpPr>
        <p:spPr>
          <a:xfrm>
            <a:off x="3321360" y="5257800"/>
            <a:ext cx="4908600" cy="360"/>
          </a:xfrm>
          <a:prstGeom prst="line">
            <a:avLst/>
          </a:prstGeom>
          <a:ln w="73080">
            <a:solidFill>
              <a:srgbClr val="069a2e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26360" rIns="126360" tIns="-81360" bIns="-81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96" name=""/>
          <p:cNvSpPr/>
          <p:nvPr/>
        </p:nvSpPr>
        <p:spPr>
          <a:xfrm flipH="1">
            <a:off x="3321360" y="5486400"/>
            <a:ext cx="4908600" cy="360"/>
          </a:xfrm>
          <a:prstGeom prst="line">
            <a:avLst/>
          </a:prstGeom>
          <a:ln w="73080">
            <a:solidFill>
              <a:srgbClr val="069a2e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26360" rIns="126360" tIns="-81360" bIns="-81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97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Picture 104" descr=""/>
          <p:cNvPicPr/>
          <p:nvPr/>
        </p:nvPicPr>
        <p:blipFill>
          <a:blip r:embed="rId1"/>
          <a:stretch/>
        </p:blipFill>
        <p:spPr>
          <a:xfrm>
            <a:off x="10435680" y="6172560"/>
            <a:ext cx="1136880" cy="394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9" name=""/>
          <p:cNvSpPr/>
          <p:nvPr/>
        </p:nvSpPr>
        <p:spPr>
          <a:xfrm>
            <a:off x="101880" y="89280"/>
            <a:ext cx="12009240" cy="57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 Many</a:t>
            </a: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algorithmic tools often struggle with SFC data’s quirks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0" name="" descr=""/>
          <p:cNvPicPr/>
          <p:nvPr/>
        </p:nvPicPr>
        <p:blipFill>
          <a:blip r:embed="rId2"/>
          <a:stretch/>
        </p:blipFill>
        <p:spPr>
          <a:xfrm>
            <a:off x="457200" y="6172200"/>
            <a:ext cx="1365480" cy="353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1" name="" descr=""/>
          <p:cNvPicPr/>
          <p:nvPr/>
        </p:nvPicPr>
        <p:blipFill>
          <a:blip r:embed="rId3"/>
          <a:stretch/>
        </p:blipFill>
        <p:spPr>
          <a:xfrm>
            <a:off x="2769120" y="1062000"/>
            <a:ext cx="6689160" cy="4648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2" name="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3375000" y="4572360"/>
            <a:ext cx="1138320" cy="1138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"/>
          <p:cNvSpPr/>
          <p:nvPr/>
        </p:nvSpPr>
        <p:spPr>
          <a:xfrm>
            <a:off x="7929000" y="2900880"/>
            <a:ext cx="4113720" cy="1313280"/>
          </a:xfrm>
          <a:prstGeom prst="rect">
            <a:avLst/>
          </a:prstGeom>
          <a:solidFill>
            <a:srgbClr val="6b5e9b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04" name="Picture 171" descr=""/>
          <p:cNvPicPr/>
          <p:nvPr/>
        </p:nvPicPr>
        <p:blipFill>
          <a:blip r:embed="rId1"/>
          <a:stretch/>
        </p:blipFill>
        <p:spPr>
          <a:xfrm>
            <a:off x="10435680" y="6172560"/>
            <a:ext cx="1136880" cy="394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5" name=""/>
          <p:cNvSpPr/>
          <p:nvPr/>
        </p:nvSpPr>
        <p:spPr>
          <a:xfrm>
            <a:off x="101880" y="89280"/>
            <a:ext cx="12009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Full biological discovery potential often out of reach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Rectangle 82"/>
          <p:cNvSpPr/>
          <p:nvPr/>
        </p:nvSpPr>
        <p:spPr>
          <a:xfrm>
            <a:off x="7929000" y="2900880"/>
            <a:ext cx="411372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For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most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spectral flow cytometry datasets, only a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handful of cell populations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end up being analyzed by any method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7" name="" descr=""/>
          <p:cNvPicPr/>
          <p:nvPr/>
        </p:nvPicPr>
        <p:blipFill>
          <a:blip r:embed="rId2"/>
          <a:stretch/>
        </p:blipFill>
        <p:spPr>
          <a:xfrm>
            <a:off x="457200" y="6172200"/>
            <a:ext cx="1365480" cy="353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8" name="" descr=""/>
          <p:cNvPicPr/>
          <p:nvPr/>
        </p:nvPicPr>
        <p:blipFill>
          <a:blip r:embed="rId3"/>
          <a:srcRect l="0" t="0" r="0" b="9428"/>
          <a:stretch/>
        </p:blipFill>
        <p:spPr>
          <a:xfrm>
            <a:off x="228600" y="1371600"/>
            <a:ext cx="7542720" cy="3884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9" name="Picture 7" descr=""/>
          <p:cNvPicPr/>
          <p:nvPr/>
        </p:nvPicPr>
        <p:blipFill>
          <a:blip r:embed="rId1"/>
          <a:stretch/>
        </p:blipFill>
        <p:spPr>
          <a:xfrm>
            <a:off x="1908720" y="698760"/>
            <a:ext cx="8372880" cy="586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0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560" cy="638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My PhD’s focus: HIV-exposed Uninfected Infants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1" name="Picture 9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12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3" name="Picture 2" descr=""/>
          <p:cNvPicPr/>
          <p:nvPr/>
        </p:nvPicPr>
        <p:blipFill>
          <a:blip r:embed="rId1"/>
          <a:stretch/>
        </p:blipFill>
        <p:spPr>
          <a:xfrm>
            <a:off x="2773080" y="228600"/>
            <a:ext cx="9142560" cy="639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4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560" cy="638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Our Malawian Cohort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5" name="Picture 4" descr=""/>
          <p:cNvPicPr/>
          <p:nvPr/>
        </p:nvPicPr>
        <p:blipFill>
          <a:blip r:embed="rId2"/>
          <a:stretch/>
        </p:blipFill>
        <p:spPr>
          <a:xfrm>
            <a:off x="459000" y="1765440"/>
            <a:ext cx="3068640" cy="3570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16" name="Picture 5" descr=""/>
          <p:cNvPicPr/>
          <p:nvPr/>
        </p:nvPicPr>
        <p:blipFill>
          <a:blip r:embed="rId3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17" name="" descr=""/>
          <p:cNvPicPr/>
          <p:nvPr/>
        </p:nvPicPr>
        <p:blipFill>
          <a:blip r:embed="rId4"/>
          <a:stretch/>
        </p:blipFill>
        <p:spPr>
          <a:xfrm>
            <a:off x="231120" y="628128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560" cy="638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Study Timeline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9" name="Picture 3" descr=""/>
          <p:cNvPicPr/>
          <p:nvPr/>
        </p:nvPicPr>
        <p:blipFill>
          <a:blip r:embed="rId1"/>
          <a:srcRect l="0" t="18235" r="0" b="29137"/>
          <a:stretch/>
        </p:blipFill>
        <p:spPr>
          <a:xfrm>
            <a:off x="404640" y="1332360"/>
            <a:ext cx="11381400" cy="419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0" name="Arrow: Right 4"/>
          <p:cNvSpPr/>
          <p:nvPr/>
        </p:nvSpPr>
        <p:spPr>
          <a:xfrm rot="16200000">
            <a:off x="4167720" y="5541120"/>
            <a:ext cx="530280" cy="2854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21" name="Arrow: Right 5"/>
          <p:cNvSpPr/>
          <p:nvPr/>
        </p:nvSpPr>
        <p:spPr>
          <a:xfrm rot="16200000">
            <a:off x="9073080" y="5555160"/>
            <a:ext cx="530280" cy="2854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22" name="Arrow: Right 6"/>
          <p:cNvSpPr/>
          <p:nvPr/>
        </p:nvSpPr>
        <p:spPr>
          <a:xfrm rot="16200000">
            <a:off x="10784880" y="5576400"/>
            <a:ext cx="530280" cy="2854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23" name="Picture 7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4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560" cy="638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32-Fluorophore Spectral Flow Cytometry Panel 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6" name="Picture 1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327" name=""/>
          <p:cNvGrpSpPr/>
          <p:nvPr/>
        </p:nvGrpSpPr>
        <p:grpSpPr>
          <a:xfrm>
            <a:off x="914400" y="757800"/>
            <a:ext cx="2284920" cy="5641920"/>
            <a:chOff x="914400" y="757800"/>
            <a:chExt cx="2284920" cy="5641920"/>
          </a:xfrm>
        </p:grpSpPr>
        <p:pic>
          <p:nvPicPr>
            <p:cNvPr id="328" name="Picture 3" descr=""/>
            <p:cNvPicPr/>
            <p:nvPr/>
          </p:nvPicPr>
          <p:blipFill>
            <a:blip r:embed="rId2"/>
            <a:srcRect l="0" t="0" r="0" b="29919"/>
            <a:stretch/>
          </p:blipFill>
          <p:spPr>
            <a:xfrm>
              <a:off x="914400" y="757800"/>
              <a:ext cx="2284920" cy="25736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329" name="Picture 7" descr=""/>
            <p:cNvPicPr/>
            <p:nvPr/>
          </p:nvPicPr>
          <p:blipFill>
            <a:blip r:embed="rId3"/>
            <a:stretch/>
          </p:blipFill>
          <p:spPr>
            <a:xfrm>
              <a:off x="914400" y="3324960"/>
              <a:ext cx="2278080" cy="3074760"/>
            </a:xfrm>
            <a:prstGeom prst="rect">
              <a:avLst/>
            </a:prstGeom>
            <a:noFill/>
            <a:ln w="0">
              <a:noFill/>
            </a:ln>
          </p:spPr>
        </p:pic>
      </p:grpSp>
      <p:pic>
        <p:nvPicPr>
          <p:cNvPr id="330" name="Picture 43" descr=""/>
          <p:cNvPicPr/>
          <p:nvPr/>
        </p:nvPicPr>
        <p:blipFill>
          <a:blip r:embed="rId4"/>
          <a:srcRect l="0" t="6125" r="0" b="0"/>
          <a:stretch/>
        </p:blipFill>
        <p:spPr>
          <a:xfrm>
            <a:off x="2743200" y="1022400"/>
            <a:ext cx="8228520" cy="5406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1" name="" descr=""/>
          <p:cNvPicPr/>
          <p:nvPr/>
        </p:nvPicPr>
        <p:blipFill>
          <a:blip r:embed="rId5"/>
          <a:stretch/>
        </p:blipFill>
        <p:spPr>
          <a:xfrm>
            <a:off x="231120" y="638928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"/>
          <p:cNvSpPr/>
          <p:nvPr/>
        </p:nvSpPr>
        <p:spPr>
          <a:xfrm>
            <a:off x="6118920" y="3496680"/>
            <a:ext cx="5104440" cy="1436040"/>
          </a:xfrm>
          <a:prstGeom prst="rect">
            <a:avLst/>
          </a:prstGeom>
          <a:solidFill>
            <a:srgbClr val="ff972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33" name="Picture 9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4" name="PlaceHolder 1"/>
          <p:cNvSpPr>
            <a:spLocks noGrp="1"/>
          </p:cNvSpPr>
          <p:nvPr>
            <p:ph type="title"/>
          </p:nvPr>
        </p:nvSpPr>
        <p:spPr>
          <a:xfrm>
            <a:off x="657360" y="104400"/>
            <a:ext cx="10899000" cy="60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Personal Goal: No cell left behind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5" name="Picture 4" descr=""/>
          <p:cNvPicPr/>
          <p:nvPr/>
        </p:nvPicPr>
        <p:blipFill>
          <a:blip r:embed="rId2"/>
          <a:stretch/>
        </p:blipFill>
        <p:spPr>
          <a:xfrm>
            <a:off x="1311840" y="792360"/>
            <a:ext cx="4109400" cy="549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6" name="TextBox 6"/>
          <p:cNvSpPr/>
          <p:nvPr/>
        </p:nvSpPr>
        <p:spPr>
          <a:xfrm>
            <a:off x="6095880" y="1191240"/>
            <a:ext cx="5045400" cy="191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2400" strike="noStrike" u="sng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Repeated 3 AM thoughts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What makes spectral flow cytometry data amazing is both the depth and the breadth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Box 15"/>
          <p:cNvSpPr/>
          <p:nvPr/>
        </p:nvSpPr>
        <p:spPr>
          <a:xfrm>
            <a:off x="6118920" y="3223800"/>
            <a:ext cx="504540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How to fully profile the entirety of the acquired dataset, not just a single cell population of interest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"/>
          <p:cNvSpPr/>
          <p:nvPr/>
        </p:nvSpPr>
        <p:spPr>
          <a:xfrm>
            <a:off x="6095880" y="1847880"/>
            <a:ext cx="5104440" cy="1436040"/>
          </a:xfrm>
          <a:prstGeom prst="rect">
            <a:avLst/>
          </a:prstGeom>
          <a:solidFill>
            <a:srgbClr val="afd09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39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0" name="Picture 3" descr=""/>
          <p:cNvPicPr/>
          <p:nvPr/>
        </p:nvPicPr>
        <p:blipFill>
          <a:blip r:embed="rId1"/>
          <a:stretch/>
        </p:blipFill>
        <p:spPr>
          <a:xfrm>
            <a:off x="1633320" y="1017360"/>
            <a:ext cx="5833440" cy="463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1" name=""/>
          <p:cNvSpPr/>
          <p:nvPr/>
        </p:nvSpPr>
        <p:spPr>
          <a:xfrm>
            <a:off x="7503480" y="1130400"/>
            <a:ext cx="4382640" cy="456120"/>
          </a:xfrm>
          <a:prstGeom prst="rect">
            <a:avLst/>
          </a:prstGeom>
          <a:solidFill>
            <a:srgbClr val="729fc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42" name=""/>
          <p:cNvSpPr/>
          <p:nvPr/>
        </p:nvSpPr>
        <p:spPr>
          <a:xfrm>
            <a:off x="7507800" y="1780200"/>
            <a:ext cx="4378320" cy="784800"/>
          </a:xfrm>
          <a:prstGeom prst="rect">
            <a:avLst/>
          </a:prstGeom>
          <a:solidFill>
            <a:srgbClr val="afd09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"/>
          <p:cNvSpPr/>
          <p:nvPr/>
        </p:nvSpPr>
        <p:spPr>
          <a:xfrm>
            <a:off x="7543800" y="2639160"/>
            <a:ext cx="4342320" cy="784800"/>
          </a:xfrm>
          <a:prstGeom prst="rect">
            <a:avLst/>
          </a:prstGeom>
          <a:solidFill>
            <a:srgbClr val="e8a202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"/>
          <p:cNvSpPr/>
          <p:nvPr/>
        </p:nvSpPr>
        <p:spPr>
          <a:xfrm>
            <a:off x="7543800" y="3573000"/>
            <a:ext cx="4342320" cy="1141920"/>
          </a:xfrm>
          <a:prstGeom prst="rect">
            <a:avLst/>
          </a:prstGeom>
          <a:solidFill>
            <a:srgbClr val="a7074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5" name=""/>
          <p:cNvSpPr/>
          <p:nvPr/>
        </p:nvSpPr>
        <p:spPr>
          <a:xfrm>
            <a:off x="7543800" y="4860000"/>
            <a:ext cx="4342320" cy="769320"/>
          </a:xfrm>
          <a:prstGeom prst="rect">
            <a:avLst/>
          </a:prstGeom>
          <a:solidFill>
            <a:srgbClr val="f7d1d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560" cy="638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Previously looked at unconventional T cells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Box 5"/>
          <p:cNvSpPr/>
          <p:nvPr/>
        </p:nvSpPr>
        <p:spPr>
          <a:xfrm>
            <a:off x="7457760" y="1780200"/>
            <a:ext cx="44643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MT Extra" charset="2"/>
              <a:buChar char="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 Shifting from 50%-50% FlowJo – R to increasingly more R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8" name="Graphic 7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318960" y="2425680"/>
            <a:ext cx="1517760" cy="1517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9" name="TextBox 9"/>
          <p:cNvSpPr/>
          <p:nvPr/>
        </p:nvSpPr>
        <p:spPr>
          <a:xfrm>
            <a:off x="241920" y="4029840"/>
            <a:ext cx="1277280" cy="21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Paper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0" name="Picture 10" descr=""/>
          <p:cNvPicPr/>
          <p:nvPr/>
        </p:nvPicPr>
        <p:blipFill>
          <a:blip r:embed="rId4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1" name="TextBox 16"/>
          <p:cNvSpPr/>
          <p:nvPr/>
        </p:nvSpPr>
        <p:spPr>
          <a:xfrm>
            <a:off x="7457760" y="3162600"/>
            <a:ext cx="446436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 Building around reproducibility from the start (not as an after thought)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Box 17"/>
          <p:cNvSpPr/>
          <p:nvPr/>
        </p:nvSpPr>
        <p:spPr>
          <a:xfrm>
            <a:off x="7484400" y="4847400"/>
            <a:ext cx="4706640" cy="10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MT Extra" charset="2"/>
              <a:buChar char="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 Improved Bioconductor interoperability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Box 18"/>
          <p:cNvSpPr/>
          <p:nvPr/>
        </p:nvSpPr>
        <p:spPr>
          <a:xfrm>
            <a:off x="7474680" y="1096920"/>
            <a:ext cx="44643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Main differences this time around: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Box 20"/>
          <p:cNvSpPr/>
          <p:nvPr/>
        </p:nvSpPr>
        <p:spPr>
          <a:xfrm>
            <a:off x="7457760" y="2237400"/>
            <a:ext cx="44643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 Targeted re-writes in Rust to speed up original R code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5" name="" descr=""/>
          <p:cNvPicPr/>
          <p:nvPr/>
        </p:nvPicPr>
        <p:blipFill>
          <a:blip r:embed="rId5"/>
          <a:stretch/>
        </p:blipFill>
        <p:spPr>
          <a:xfrm>
            <a:off x="231120" y="628128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08960" cy="6346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Semi-supervised Pipeline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7" name="Picture 19" descr=""/>
          <p:cNvPicPr/>
          <p:nvPr/>
        </p:nvPicPr>
        <p:blipFill>
          <a:blip r:embed="rId1"/>
          <a:stretch/>
        </p:blipFill>
        <p:spPr>
          <a:xfrm>
            <a:off x="2061000" y="491400"/>
            <a:ext cx="8265240" cy="5784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8" name="Picture 44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7960" cy="396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9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Rectangle 1"/>
          <p:cNvSpPr/>
          <p:nvPr/>
        </p:nvSpPr>
        <p:spPr>
          <a:xfrm>
            <a:off x="2548800" y="697320"/>
            <a:ext cx="5119200" cy="546804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1" name="Rectangle 22"/>
          <p:cNvSpPr/>
          <p:nvPr/>
        </p:nvSpPr>
        <p:spPr>
          <a:xfrm>
            <a:off x="2668680" y="1095120"/>
            <a:ext cx="4559760" cy="3198960"/>
          </a:xfrm>
          <a:prstGeom prst="rect">
            <a:avLst/>
          </a:prstGeom>
          <a:solidFill>
            <a:schemeClr val="bg2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2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560" cy="638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Pipeline: Acquisition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3" name="Picture 2" descr=""/>
          <p:cNvPicPr/>
          <p:nvPr/>
        </p:nvPicPr>
        <p:blipFill>
          <a:blip r:embed="rId1"/>
          <a:srcRect l="0" t="0" r="68257" b="0"/>
          <a:stretch/>
        </p:blipFill>
        <p:spPr>
          <a:xfrm>
            <a:off x="-99000" y="491400"/>
            <a:ext cx="2623680" cy="578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4" name="Rectangle 50"/>
          <p:cNvSpPr/>
          <p:nvPr/>
        </p:nvSpPr>
        <p:spPr>
          <a:xfrm>
            <a:off x="2645280" y="1318320"/>
            <a:ext cx="4615200" cy="347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Acquired day of staining on a 5-Laser Cytek Aurora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Instrument flushed with 10% Contrad and Water for 20 minutes pre-use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Instrument passed by both the UMGCCC FCSR and Cytek’s QC criteria immediately before acquisition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Box 3"/>
          <p:cNvSpPr/>
          <p:nvPr/>
        </p:nvSpPr>
        <p:spPr>
          <a:xfrm>
            <a:off x="7428600" y="2621880"/>
            <a:ext cx="2500560" cy="92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ct val="100000"/>
              </a:lnSpc>
              <a:spcBef>
                <a:spcPts val="1199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UMGCCC FCSR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algn="ctr" defTabSz="914400">
              <a:lnSpc>
                <a:spcPts val="720"/>
              </a:lnSpc>
              <a:spcBef>
                <a:spcPts val="1199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InstrumentQC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algn="ctr" defTabSz="914400">
              <a:lnSpc>
                <a:spcPts val="720"/>
              </a:lnSpc>
              <a:spcBef>
                <a:spcPts val="1199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Dashboard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Box 11"/>
          <p:cNvSpPr/>
          <p:nvPr/>
        </p:nvSpPr>
        <p:spPr>
          <a:xfrm>
            <a:off x="9473760" y="2621880"/>
            <a:ext cx="2500560" cy="10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Plots for our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5L Aurora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Box 12"/>
          <p:cNvSpPr/>
          <p:nvPr/>
        </p:nvSpPr>
        <p:spPr>
          <a:xfrm>
            <a:off x="9487800" y="5092200"/>
            <a:ext cx="2500560" cy="70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Dashboard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How-To-Set-Up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Box 13"/>
          <p:cNvSpPr/>
          <p:nvPr/>
        </p:nvSpPr>
        <p:spPr>
          <a:xfrm>
            <a:off x="7524360" y="5085000"/>
            <a:ext cx="2500560" cy="70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Historical Data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5L Aurora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9" name="Graphic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037720" y="3212280"/>
            <a:ext cx="1847160" cy="1847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0" name="Graphic 17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005120" y="858600"/>
            <a:ext cx="1824120" cy="1824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1" name="Graphic 19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7930080" y="851760"/>
            <a:ext cx="1836720" cy="1836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2" name="Graphic 21" descr="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10015560" y="3288240"/>
            <a:ext cx="1846080" cy="1846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3" name="Arrow: Down 23"/>
          <p:cNvSpPr/>
          <p:nvPr/>
        </p:nvSpPr>
        <p:spPr>
          <a:xfrm rot="16200000">
            <a:off x="207000" y="984960"/>
            <a:ext cx="519480" cy="6789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74" name="Picture 24" descr=""/>
          <p:cNvPicPr/>
          <p:nvPr/>
        </p:nvPicPr>
        <p:blipFill>
          <a:blip r:embed="rId10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5" name="" descr=""/>
          <p:cNvPicPr/>
          <p:nvPr/>
        </p:nvPicPr>
        <p:blipFill>
          <a:blip r:embed="rId11"/>
          <a:stretch/>
        </p:blipFill>
        <p:spPr>
          <a:xfrm>
            <a:off x="231120" y="628128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"/>
          <p:cNvSpPr/>
          <p:nvPr/>
        </p:nvSpPr>
        <p:spPr>
          <a:xfrm>
            <a:off x="5787000" y="3558600"/>
            <a:ext cx="4727880" cy="784800"/>
          </a:xfrm>
          <a:prstGeom prst="rect">
            <a:avLst/>
          </a:prstGeom>
          <a:solidFill>
            <a:srgbClr val="ffbf00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PlaceHolder 1"/>
          <p:cNvSpPr>
            <a:spLocks noGrp="1"/>
          </p:cNvSpPr>
          <p:nvPr>
            <p:ph type="title"/>
          </p:nvPr>
        </p:nvSpPr>
        <p:spPr>
          <a:xfrm>
            <a:off x="838080" y="46080"/>
            <a:ext cx="10512360" cy="695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Automated Daily Processing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8" name="Picture 64" descr=""/>
          <p:cNvPicPr/>
          <p:nvPr/>
        </p:nvPicPr>
        <p:blipFill>
          <a:blip r:embed="rId1"/>
          <a:stretch/>
        </p:blipFill>
        <p:spPr>
          <a:xfrm>
            <a:off x="10287360" y="6096600"/>
            <a:ext cx="1518480" cy="532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9" name="Picture 65" descr=""/>
          <p:cNvPicPr/>
          <p:nvPr/>
        </p:nvPicPr>
        <p:blipFill>
          <a:blip r:embed="rId2"/>
          <a:stretch/>
        </p:blipFill>
        <p:spPr>
          <a:xfrm>
            <a:off x="1010520" y="952920"/>
            <a:ext cx="4527720" cy="4761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0" name="Rectangle 66"/>
          <p:cNvSpPr/>
          <p:nvPr/>
        </p:nvSpPr>
        <p:spPr>
          <a:xfrm>
            <a:off x="5730480" y="2142360"/>
            <a:ext cx="54702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24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Behind-the-scenes: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Using R (and increasingly Rust) to process the .fcs files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Rectangle 67"/>
          <p:cNvSpPr/>
          <p:nvPr/>
        </p:nvSpPr>
        <p:spPr>
          <a:xfrm>
            <a:off x="5751000" y="4163760"/>
            <a:ext cx="49924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Our Quarto Website gets updated twice daily via a GitHub action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Rectangle 68"/>
          <p:cNvSpPr/>
          <p:nvPr/>
        </p:nvSpPr>
        <p:spPr>
          <a:xfrm>
            <a:off x="5751000" y="3177360"/>
            <a:ext cx="54702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Automated transfer to GitHub via Windows Task Scheduler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"/>
          <p:cNvSpPr/>
          <p:nvPr/>
        </p:nvSpPr>
        <p:spPr>
          <a:xfrm>
            <a:off x="5787000" y="4601880"/>
            <a:ext cx="4727880" cy="784800"/>
          </a:xfrm>
          <a:prstGeom prst="rect">
            <a:avLst/>
          </a:prstGeom>
          <a:solidFill>
            <a:srgbClr val="e0c2cd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"/>
          <p:cNvSpPr/>
          <p:nvPr/>
        </p:nvSpPr>
        <p:spPr>
          <a:xfrm>
            <a:off x="5751000" y="2572200"/>
            <a:ext cx="4763880" cy="784800"/>
          </a:xfrm>
          <a:prstGeom prst="rect">
            <a:avLst/>
          </a:prstGeom>
          <a:solidFill>
            <a:srgbClr val="dee6e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5" name="Picture 71" descr=""/>
          <p:cNvPicPr/>
          <p:nvPr/>
        </p:nvPicPr>
        <p:blipFill>
          <a:blip r:embed="rId3"/>
          <a:stretch/>
        </p:blipFill>
        <p:spPr>
          <a:xfrm>
            <a:off x="9108000" y="812520"/>
            <a:ext cx="1368000" cy="1580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PlaceHolder 1"/>
          <p:cNvSpPr>
            <a:spLocks noGrp="1"/>
          </p:cNvSpPr>
          <p:nvPr>
            <p:ph type="title"/>
          </p:nvPr>
        </p:nvSpPr>
        <p:spPr>
          <a:xfrm>
            <a:off x="838080" y="46080"/>
            <a:ext cx="10512360" cy="695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Instrument Quality Control Dashboard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7" name="Picture 66" descr=""/>
          <p:cNvPicPr/>
          <p:nvPr/>
        </p:nvPicPr>
        <p:blipFill>
          <a:blip r:embed="rId1"/>
          <a:stretch/>
        </p:blipFill>
        <p:spPr>
          <a:xfrm>
            <a:off x="10287360" y="6096600"/>
            <a:ext cx="1518480" cy="532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8" name="Picture 67" descr=""/>
          <p:cNvPicPr/>
          <p:nvPr/>
        </p:nvPicPr>
        <p:blipFill>
          <a:blip r:embed="rId2"/>
          <a:stretch/>
        </p:blipFill>
        <p:spPr>
          <a:xfrm>
            <a:off x="2069640" y="1093320"/>
            <a:ext cx="9748800" cy="4441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9" name="Graphic 1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215640" y="1154520"/>
            <a:ext cx="1646640" cy="1690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0" name="PlaceHolder 2"/>
          <p:cNvSpPr>
            <a:spLocks noGrp="1"/>
          </p:cNvSpPr>
          <p:nvPr>
            <p:ph/>
          </p:nvPr>
        </p:nvSpPr>
        <p:spPr>
          <a:xfrm>
            <a:off x="-148680" y="2971800"/>
            <a:ext cx="1953360" cy="5018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t" anchorCtr="1">
            <a:normAutofit/>
          </a:bodyPr>
          <a:p>
            <a:pPr marL="432000" indent="0" defTabSz="914400">
              <a:lnSpc>
                <a:spcPts val="72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Dashboard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PlaceHolder 3"/>
          <p:cNvSpPr>
            <a:spLocks noGrp="1"/>
          </p:cNvSpPr>
          <p:nvPr>
            <p:ph/>
          </p:nvPr>
        </p:nvSpPr>
        <p:spPr>
          <a:xfrm>
            <a:off x="-148680" y="5227200"/>
            <a:ext cx="1953360" cy="5018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t" anchorCtr="1">
            <a:normAutofit/>
          </a:bodyPr>
          <a:p>
            <a:pPr marL="432000" indent="0" defTabSz="914400">
              <a:lnSpc>
                <a:spcPts val="72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How-To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2" name="Picture 68" descr=""/>
          <p:cNvPicPr/>
          <p:nvPr/>
        </p:nvPicPr>
        <p:blipFill>
          <a:blip r:embed="rId5"/>
          <a:srcRect l="3481" t="5989" r="0" b="0"/>
          <a:stretch/>
        </p:blipFill>
        <p:spPr>
          <a:xfrm>
            <a:off x="274320" y="3545280"/>
            <a:ext cx="1664280" cy="1597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PlaceHolder 1"/>
          <p:cNvSpPr>
            <a:spLocks noGrp="1"/>
          </p:cNvSpPr>
          <p:nvPr>
            <p:ph type="title"/>
          </p:nvPr>
        </p:nvSpPr>
        <p:spPr>
          <a:xfrm>
            <a:off x="838080" y="46080"/>
            <a:ext cx="10512360" cy="695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Instrument Quality Control Dashboard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4" name="Picture 69" descr=""/>
          <p:cNvPicPr/>
          <p:nvPr/>
        </p:nvPicPr>
        <p:blipFill>
          <a:blip r:embed="rId1"/>
          <a:stretch/>
        </p:blipFill>
        <p:spPr>
          <a:xfrm>
            <a:off x="10058760" y="6153840"/>
            <a:ext cx="1518480" cy="532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5" name="Picture 70" descr=""/>
          <p:cNvPicPr/>
          <p:nvPr/>
        </p:nvPicPr>
        <p:blipFill>
          <a:blip r:embed="rId2"/>
          <a:stretch/>
        </p:blipFill>
        <p:spPr>
          <a:xfrm>
            <a:off x="582120" y="726480"/>
            <a:ext cx="11026800" cy="5175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560" cy="638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Pipeline: Evaluating Unmixing Controls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7" name="Picture 2" descr=""/>
          <p:cNvPicPr/>
          <p:nvPr/>
        </p:nvPicPr>
        <p:blipFill>
          <a:blip r:embed="rId1"/>
          <a:srcRect l="0" t="0" r="68257" b="0"/>
          <a:stretch/>
        </p:blipFill>
        <p:spPr>
          <a:xfrm>
            <a:off x="-99000" y="491400"/>
            <a:ext cx="2623680" cy="578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8" name="Rectangle 1"/>
          <p:cNvSpPr/>
          <p:nvPr/>
        </p:nvSpPr>
        <p:spPr>
          <a:xfrm>
            <a:off x="2548800" y="697320"/>
            <a:ext cx="5119200" cy="54622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9" name="TextBox 3"/>
          <p:cNvSpPr/>
          <p:nvPr/>
        </p:nvSpPr>
        <p:spPr>
          <a:xfrm>
            <a:off x="7609680" y="4263120"/>
            <a:ext cx="210456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Luciernaga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Box 4"/>
          <p:cNvSpPr/>
          <p:nvPr/>
        </p:nvSpPr>
        <p:spPr>
          <a:xfrm>
            <a:off x="9716400" y="4267080"/>
            <a:ext cx="210456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Luciernaga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Vignette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1" name="Graphic 8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940880" y="2308680"/>
            <a:ext cx="1868400" cy="1868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2" name="Graphic 10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041840" y="2368440"/>
            <a:ext cx="1829880" cy="1829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3" name="Rectangle 5"/>
          <p:cNvSpPr/>
          <p:nvPr/>
        </p:nvSpPr>
        <p:spPr>
          <a:xfrm>
            <a:off x="2658240" y="818640"/>
            <a:ext cx="4655520" cy="4815000"/>
          </a:xfrm>
          <a:prstGeom prst="rect">
            <a:avLst/>
          </a:prstGeom>
          <a:solidFill>
            <a:schemeClr val="bg2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4" name="Rectangle 6"/>
          <p:cNvSpPr/>
          <p:nvPr/>
        </p:nvSpPr>
        <p:spPr>
          <a:xfrm>
            <a:off x="2700720" y="1041840"/>
            <a:ext cx="4506840" cy="447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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New unmixing controls acquired with each experiment.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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Extra specimen cells acquired as additional unstained controls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Unmixing Controls are screened for suitability for unmixing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Single-colors: Tandem degradation, and autofluorescence contamination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Unstained(s): Presence of multiple-autofluorescences in lymphocyte gate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Flagged unmixing controls are replaced with equivalents from adjacent experimental date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Arrow: Down 7"/>
          <p:cNvSpPr/>
          <p:nvPr/>
        </p:nvSpPr>
        <p:spPr>
          <a:xfrm rot="16200000">
            <a:off x="217800" y="2048040"/>
            <a:ext cx="519480" cy="6789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06" name="Picture 9" descr=""/>
          <p:cNvPicPr/>
          <p:nvPr/>
        </p:nvPicPr>
        <p:blipFill>
          <a:blip r:embed="rId6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7" name="" descr=""/>
          <p:cNvPicPr/>
          <p:nvPr/>
        </p:nvPicPr>
        <p:blipFill>
          <a:blip r:embed="rId7"/>
          <a:stretch/>
        </p:blipFill>
        <p:spPr>
          <a:xfrm>
            <a:off x="231120" y="628128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Picture 4" descr=""/>
          <p:cNvPicPr/>
          <p:nvPr/>
        </p:nvPicPr>
        <p:blipFill>
          <a:blip r:embed="rId1"/>
          <a:srcRect l="28727" t="0" r="0" b="0"/>
          <a:stretch/>
        </p:blipFill>
        <p:spPr>
          <a:xfrm>
            <a:off x="2721960" y="0"/>
            <a:ext cx="6516000" cy="639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9" name="PlaceHolder 1"/>
          <p:cNvSpPr>
            <a:spLocks noGrp="1"/>
          </p:cNvSpPr>
          <p:nvPr>
            <p:ph type="title"/>
          </p:nvPr>
        </p:nvSpPr>
        <p:spPr>
          <a:xfrm>
            <a:off x="0" y="-61920"/>
            <a:ext cx="12112560" cy="638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Luciernaga: Individual Cell Normalized Signatures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0" name="Picture 5" descr=""/>
          <p:cNvPicPr/>
          <p:nvPr/>
        </p:nvPicPr>
        <p:blipFill>
          <a:blip r:embed="rId2"/>
          <a:srcRect l="0" t="29511" r="72127" b="28628"/>
          <a:stretch/>
        </p:blipFill>
        <p:spPr>
          <a:xfrm>
            <a:off x="0" y="286920"/>
            <a:ext cx="2547360" cy="2678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1" name="TextBox 6"/>
          <p:cNvSpPr/>
          <p:nvPr/>
        </p:nvSpPr>
        <p:spPr>
          <a:xfrm>
            <a:off x="127440" y="5510160"/>
            <a:ext cx="210456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2" name="Graphic 8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646920" y="3807720"/>
            <a:ext cx="1623960" cy="1623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3" name="Picture 9" descr=""/>
          <p:cNvPicPr/>
          <p:nvPr/>
        </p:nvPicPr>
        <p:blipFill>
          <a:blip r:embed="rId5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4" name="" descr=""/>
          <p:cNvPicPr/>
          <p:nvPr/>
        </p:nvPicPr>
        <p:blipFill>
          <a:blip r:embed="rId6"/>
          <a:stretch/>
        </p:blipFill>
        <p:spPr>
          <a:xfrm>
            <a:off x="231120" y="628128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PlaceHolder 1"/>
          <p:cNvSpPr>
            <a:spLocks noGrp="1"/>
          </p:cNvSpPr>
          <p:nvPr>
            <p:ph type="title"/>
          </p:nvPr>
        </p:nvSpPr>
        <p:spPr>
          <a:xfrm>
            <a:off x="0" y="-61920"/>
            <a:ext cx="12112560" cy="638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Automated tools for screening unmixing controls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6" name="Picture 61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7" name="" descr=""/>
          <p:cNvPicPr/>
          <p:nvPr/>
        </p:nvPicPr>
        <p:blipFill>
          <a:blip r:embed="rId2"/>
          <a:stretch/>
        </p:blipFill>
        <p:spPr>
          <a:xfrm>
            <a:off x="457560" y="6172560"/>
            <a:ext cx="1366560" cy="354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8" name=""/>
          <p:cNvSpPr/>
          <p:nvPr/>
        </p:nvSpPr>
        <p:spPr>
          <a:xfrm>
            <a:off x="6487920" y="2309040"/>
            <a:ext cx="4543560" cy="2016360"/>
          </a:xfrm>
          <a:prstGeom prst="rect">
            <a:avLst/>
          </a:prstGeom>
          <a:solidFill>
            <a:srgbClr val="afd095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19" name="" descr=""/>
          <p:cNvPicPr/>
          <p:nvPr/>
        </p:nvPicPr>
        <p:blipFill>
          <a:blip r:embed="rId3"/>
          <a:srcRect l="0" t="0" r="15005" b="0"/>
          <a:stretch/>
        </p:blipFill>
        <p:spPr>
          <a:xfrm>
            <a:off x="7459200" y="2365560"/>
            <a:ext cx="2774520" cy="1548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0" name=""/>
          <p:cNvSpPr/>
          <p:nvPr/>
        </p:nvSpPr>
        <p:spPr>
          <a:xfrm>
            <a:off x="6993360" y="3948840"/>
            <a:ext cx="3533040" cy="333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b="1" lang="en-US" sz="1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Autofluorescence Isolation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"/>
          <p:cNvSpPr/>
          <p:nvPr/>
        </p:nvSpPr>
        <p:spPr>
          <a:xfrm>
            <a:off x="928440" y="3677040"/>
            <a:ext cx="5049000" cy="2016360"/>
          </a:xfrm>
          <a:prstGeom prst="rect">
            <a:avLst/>
          </a:prstGeom>
          <a:solidFill>
            <a:srgbClr val="729fcf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22" name="" descr=""/>
          <p:cNvPicPr/>
          <p:nvPr/>
        </p:nvPicPr>
        <p:blipFill>
          <a:blip r:embed="rId4"/>
          <a:srcRect l="36749" t="50780" r="-263" b="0"/>
          <a:stretch/>
        </p:blipFill>
        <p:spPr>
          <a:xfrm>
            <a:off x="1061640" y="3804120"/>
            <a:ext cx="4796280" cy="146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3" name=""/>
          <p:cNvSpPr/>
          <p:nvPr/>
        </p:nvSpPr>
        <p:spPr>
          <a:xfrm>
            <a:off x="1686600" y="5356800"/>
            <a:ext cx="3532680" cy="333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b="1" lang="en-US" sz="1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Residual Autofluorescence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"/>
          <p:cNvSpPr/>
          <p:nvPr/>
        </p:nvSpPr>
        <p:spPr>
          <a:xfrm>
            <a:off x="914400" y="1143000"/>
            <a:ext cx="5063040" cy="2275920"/>
          </a:xfrm>
          <a:prstGeom prst="rect">
            <a:avLst/>
          </a:prstGeom>
          <a:solidFill>
            <a:srgbClr val="ffd7d7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grpSp>
        <p:nvGrpSpPr>
          <p:cNvPr id="425" name=""/>
          <p:cNvGrpSpPr/>
          <p:nvPr/>
        </p:nvGrpSpPr>
        <p:grpSpPr>
          <a:xfrm>
            <a:off x="1686600" y="1233360"/>
            <a:ext cx="3944880" cy="1782360"/>
            <a:chOff x="1686600" y="1233360"/>
            <a:chExt cx="3944880" cy="1782360"/>
          </a:xfrm>
        </p:grpSpPr>
        <p:sp>
          <p:nvSpPr>
            <p:cNvPr id="426" name="Arrow: Right 2"/>
            <p:cNvSpPr/>
            <p:nvPr/>
          </p:nvSpPr>
          <p:spPr>
            <a:xfrm rot="10800000">
              <a:off x="4870440" y="1356480"/>
              <a:ext cx="416520" cy="21996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81f37"/>
            </a:solidFill>
            <a:ln w="12600">
              <a:solidFill>
                <a:srgbClr val="5e0d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endParaRPr>
            </a:p>
          </p:txBody>
        </p:sp>
        <p:sp>
          <p:nvSpPr>
            <p:cNvPr id="427" name="TextBox 4"/>
            <p:cNvSpPr/>
            <p:nvPr/>
          </p:nvSpPr>
          <p:spPr>
            <a:xfrm>
              <a:off x="4759200" y="1505520"/>
              <a:ext cx="872280" cy="546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b="1" lang="en-US" sz="1500" strike="noStrike" u="none">
                  <a:solidFill>
                    <a:srgbClr val="000000"/>
                  </a:solidFill>
                  <a:effectLst/>
                  <a:uFillTx/>
                  <a:latin typeface="Times New Roman"/>
                  <a:ea typeface="DejaVu Sans"/>
                </a:rPr>
                <a:t>APC-Fire 810</a:t>
              </a:r>
              <a:endParaRPr b="0" lang="en-US" sz="15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428" name="Picture 4" descr="A graph of a number of data&#10;&#10;AI-generated content may be incorrect."/>
            <p:cNvPicPr/>
            <p:nvPr/>
          </p:nvPicPr>
          <p:blipFill>
            <a:blip r:embed="rId5"/>
            <a:stretch/>
          </p:blipFill>
          <p:spPr>
            <a:xfrm>
              <a:off x="1686600" y="1233360"/>
              <a:ext cx="3173400" cy="1782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29" name="TextBox 3"/>
            <p:cNvSpPr/>
            <p:nvPr/>
          </p:nvSpPr>
          <p:spPr>
            <a:xfrm>
              <a:off x="3405960" y="1486440"/>
              <a:ext cx="626400" cy="31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b="1" lang="en-US" sz="1500" strike="noStrike" u="none">
                  <a:solidFill>
                    <a:srgbClr val="000000"/>
                  </a:solidFill>
                  <a:effectLst/>
                  <a:uFillTx/>
                  <a:latin typeface="Times New Roman"/>
                  <a:ea typeface="DejaVu Sans"/>
                </a:rPr>
                <a:t>APC</a:t>
              </a:r>
              <a:endParaRPr b="0" lang="en-US" sz="15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0" name="Arrow: Right 1"/>
            <p:cNvSpPr/>
            <p:nvPr/>
          </p:nvSpPr>
          <p:spPr>
            <a:xfrm>
              <a:off x="4076640" y="1538280"/>
              <a:ext cx="218520" cy="2196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81f37"/>
            </a:solidFill>
            <a:ln w="12600">
              <a:solidFill>
                <a:srgbClr val="5e0d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endParaRPr>
            </a:p>
          </p:txBody>
        </p:sp>
      </p:grpSp>
      <p:sp>
        <p:nvSpPr>
          <p:cNvPr id="431" name=""/>
          <p:cNvSpPr/>
          <p:nvPr/>
        </p:nvSpPr>
        <p:spPr>
          <a:xfrm>
            <a:off x="1939320" y="3028680"/>
            <a:ext cx="2774160" cy="333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b="1" lang="en-US" sz="1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Tandem Degradation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"/>
          <p:cNvSpPr/>
          <p:nvPr/>
        </p:nvSpPr>
        <p:spPr>
          <a:xfrm>
            <a:off x="516600" y="3854880"/>
            <a:ext cx="6170040" cy="716760"/>
          </a:xfrm>
          <a:prstGeom prst="rect">
            <a:avLst/>
          </a:prstGeom>
          <a:solidFill>
            <a:srgbClr val="729fc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33" name=""/>
          <p:cNvSpPr/>
          <p:nvPr/>
        </p:nvSpPr>
        <p:spPr>
          <a:xfrm>
            <a:off x="509400" y="2660400"/>
            <a:ext cx="6177240" cy="1022040"/>
          </a:xfrm>
          <a:prstGeom prst="rect">
            <a:avLst/>
          </a:prstGeom>
          <a:solidFill>
            <a:srgbClr val="ff6d6d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34" name="" descr=""/>
          <p:cNvPicPr/>
          <p:nvPr/>
        </p:nvPicPr>
        <p:blipFill>
          <a:blip r:embed="rId1"/>
          <a:stretch/>
        </p:blipFill>
        <p:spPr>
          <a:xfrm>
            <a:off x="7110000" y="1483920"/>
            <a:ext cx="4645800" cy="29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5" name=""/>
          <p:cNvSpPr/>
          <p:nvPr/>
        </p:nvSpPr>
        <p:spPr>
          <a:xfrm>
            <a:off x="277200" y="961920"/>
            <a:ext cx="558936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36" name=""/>
          <p:cNvSpPr/>
          <p:nvPr/>
        </p:nvSpPr>
        <p:spPr>
          <a:xfrm>
            <a:off x="468000" y="2588400"/>
            <a:ext cx="643464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When the </a:t>
            </a:r>
            <a:r>
              <a:rPr b="0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fluorophore degrades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, noticeable 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increase in variant signatures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, making up substantial proportion of all cells in the unmixing control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"/>
          <p:cNvSpPr/>
          <p:nvPr/>
        </p:nvSpPr>
        <p:spPr>
          <a:xfrm>
            <a:off x="480600" y="3813840"/>
            <a:ext cx="639864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Automated screening all acquired unmixing controls from campus users during off-hours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"/>
          <p:cNvSpPr/>
          <p:nvPr/>
        </p:nvSpPr>
        <p:spPr>
          <a:xfrm>
            <a:off x="0" y="47520"/>
            <a:ext cx="12342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Identifying degrading fluorophores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9" name="Picture 74" descr=""/>
          <p:cNvPicPr/>
          <p:nvPr/>
        </p:nvPicPr>
        <p:blipFill>
          <a:blip r:embed="rId2"/>
          <a:stretch/>
        </p:blipFill>
        <p:spPr>
          <a:xfrm>
            <a:off x="10436040" y="6172560"/>
            <a:ext cx="1137960" cy="396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40" name="" descr=""/>
          <p:cNvPicPr/>
          <p:nvPr/>
        </p:nvPicPr>
        <p:blipFill>
          <a:blip r:embed="rId3"/>
          <a:stretch/>
        </p:blipFill>
        <p:spPr>
          <a:xfrm>
            <a:off x="457920" y="6172920"/>
            <a:ext cx="1366560" cy="354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1" name=""/>
          <p:cNvSpPr/>
          <p:nvPr/>
        </p:nvSpPr>
        <p:spPr>
          <a:xfrm>
            <a:off x="516600" y="1444320"/>
            <a:ext cx="6169320" cy="1058760"/>
          </a:xfrm>
          <a:prstGeom prst="rect">
            <a:avLst/>
          </a:prstGeom>
          <a:solidFill>
            <a:srgbClr val="00a933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42" name=""/>
          <p:cNvSpPr/>
          <p:nvPr/>
        </p:nvSpPr>
        <p:spPr>
          <a:xfrm>
            <a:off x="473400" y="1408320"/>
            <a:ext cx="617724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Fluorophores in </a:t>
            </a:r>
            <a:r>
              <a:rPr b="0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good shape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one predominant normalized signature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within the unmixing control raw .fcs file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"/>
          <p:cNvSpPr/>
          <p:nvPr/>
        </p:nvSpPr>
        <p:spPr>
          <a:xfrm>
            <a:off x="5257800" y="2861640"/>
            <a:ext cx="5940720" cy="987120"/>
          </a:xfrm>
          <a:prstGeom prst="rect">
            <a:avLst/>
          </a:prstGeom>
          <a:solidFill>
            <a:srgbClr val="ff3838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44" name=""/>
          <p:cNvSpPr/>
          <p:nvPr/>
        </p:nvSpPr>
        <p:spPr>
          <a:xfrm>
            <a:off x="5255280" y="4057920"/>
            <a:ext cx="5953320" cy="1090800"/>
          </a:xfrm>
          <a:prstGeom prst="rect">
            <a:avLst/>
          </a:prstGeom>
          <a:solidFill>
            <a:srgbClr val="ff972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45" name=""/>
          <p:cNvSpPr/>
          <p:nvPr/>
        </p:nvSpPr>
        <p:spPr>
          <a:xfrm>
            <a:off x="5258520" y="1494720"/>
            <a:ext cx="5940720" cy="1138320"/>
          </a:xfrm>
          <a:prstGeom prst="rect">
            <a:avLst/>
          </a:prstGeom>
          <a:solidFill>
            <a:srgbClr val="729fc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46" name="" descr=""/>
          <p:cNvPicPr/>
          <p:nvPr/>
        </p:nvPicPr>
        <p:blipFill>
          <a:blip r:embed="rId1"/>
          <a:stretch/>
        </p:blipFill>
        <p:spPr>
          <a:xfrm>
            <a:off x="2476440" y="3654720"/>
            <a:ext cx="2254320" cy="2020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47" name="" descr=""/>
          <p:cNvPicPr/>
          <p:nvPr/>
        </p:nvPicPr>
        <p:blipFill>
          <a:blip r:embed="rId2"/>
          <a:stretch/>
        </p:blipFill>
        <p:spPr>
          <a:xfrm>
            <a:off x="318600" y="3675240"/>
            <a:ext cx="2049840" cy="1999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8" name=""/>
          <p:cNvSpPr/>
          <p:nvPr/>
        </p:nvSpPr>
        <p:spPr>
          <a:xfrm>
            <a:off x="5259240" y="1539000"/>
            <a:ext cx="616860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This approach also works to isolate variant autofluorescence signatures from unstained controls 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"/>
          <p:cNvSpPr/>
          <p:nvPr/>
        </p:nvSpPr>
        <p:spPr>
          <a:xfrm>
            <a:off x="5221800" y="3987360"/>
            <a:ext cx="595080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Return directly as an .fcs file containing just cells with same signature for use as an autofluorescent tag in SpectroFlo 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"/>
          <p:cNvSpPr/>
          <p:nvPr/>
        </p:nvSpPr>
        <p:spPr>
          <a:xfrm>
            <a:off x="5257800" y="2791080"/>
            <a:ext cx="594072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Unlike other approaches, the isolated cells share normalized signatures, only differing in terms of brightness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"/>
          <p:cNvSpPr/>
          <p:nvPr/>
        </p:nvSpPr>
        <p:spPr>
          <a:xfrm>
            <a:off x="0" y="46800"/>
            <a:ext cx="12189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Isolating additional autofluorescence signatures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2" name="Picture 75" descr=""/>
          <p:cNvPicPr/>
          <p:nvPr/>
        </p:nvPicPr>
        <p:blipFill>
          <a:blip r:embed="rId3"/>
          <a:stretch/>
        </p:blipFill>
        <p:spPr>
          <a:xfrm>
            <a:off x="10436040" y="6172560"/>
            <a:ext cx="1137960" cy="396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3" name="" descr=""/>
          <p:cNvPicPr/>
          <p:nvPr/>
        </p:nvPicPr>
        <p:blipFill>
          <a:blip r:embed="rId4"/>
          <a:stretch/>
        </p:blipFill>
        <p:spPr>
          <a:xfrm>
            <a:off x="457920" y="6172920"/>
            <a:ext cx="1366560" cy="354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4" name="" descr=""/>
          <p:cNvPicPr/>
          <p:nvPr/>
        </p:nvPicPr>
        <p:blipFill>
          <a:blip r:embed="rId5"/>
          <a:stretch/>
        </p:blipFill>
        <p:spPr>
          <a:xfrm>
            <a:off x="409320" y="914400"/>
            <a:ext cx="4250520" cy="2631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"/>
          <p:cNvSpPr/>
          <p:nvPr/>
        </p:nvSpPr>
        <p:spPr>
          <a:xfrm>
            <a:off x="217800" y="2178000"/>
            <a:ext cx="4353120" cy="1729080"/>
          </a:xfrm>
          <a:prstGeom prst="rect">
            <a:avLst/>
          </a:prstGeom>
          <a:solidFill>
            <a:srgbClr val="afd095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56" name=""/>
          <p:cNvSpPr/>
          <p:nvPr/>
        </p:nvSpPr>
        <p:spPr>
          <a:xfrm>
            <a:off x="251280" y="4057920"/>
            <a:ext cx="4319640" cy="1656000"/>
          </a:xfrm>
          <a:prstGeom prst="rect">
            <a:avLst/>
          </a:prstGeom>
          <a:solidFill>
            <a:srgbClr val="ff972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57" name=""/>
          <p:cNvSpPr/>
          <p:nvPr/>
        </p:nvSpPr>
        <p:spPr>
          <a:xfrm>
            <a:off x="228600" y="1494720"/>
            <a:ext cx="4316400" cy="561600"/>
          </a:xfrm>
          <a:prstGeom prst="rect">
            <a:avLst/>
          </a:prstGeom>
          <a:solidFill>
            <a:srgbClr val="729fc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58" name=""/>
          <p:cNvSpPr/>
          <p:nvPr/>
        </p:nvSpPr>
        <p:spPr>
          <a:xfrm>
            <a:off x="255240" y="1539000"/>
            <a:ext cx="431568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1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“As bright or brighter”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"/>
          <p:cNvSpPr/>
          <p:nvPr/>
        </p:nvSpPr>
        <p:spPr>
          <a:xfrm>
            <a:off x="217800" y="3987360"/>
            <a:ext cx="4353120" cy="176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Identifying and 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switching these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dim cell single-color controls to 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bead single-color controls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significantly improved unmixing for our panels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"/>
          <p:cNvSpPr/>
          <p:nvPr/>
        </p:nvSpPr>
        <p:spPr>
          <a:xfrm>
            <a:off x="181800" y="2142000"/>
            <a:ext cx="4389120" cy="176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Dim antigen-fluorophore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combinations acquired as 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cell single-color controls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often have </a:t>
            </a:r>
            <a:r>
              <a:rPr b="0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residual autofluorescence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contribution to their signature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"/>
          <p:cNvSpPr/>
          <p:nvPr/>
        </p:nvSpPr>
        <p:spPr>
          <a:xfrm>
            <a:off x="0" y="46800"/>
            <a:ext cx="12189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Residual autofluorescence in dim cell single-color controls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2" name="" descr=""/>
          <p:cNvPicPr/>
          <p:nvPr/>
        </p:nvPicPr>
        <p:blipFill>
          <a:blip r:embed="rId1"/>
          <a:stretch/>
        </p:blipFill>
        <p:spPr>
          <a:xfrm>
            <a:off x="457920" y="6172920"/>
            <a:ext cx="1366560" cy="35496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463" name=""/>
          <p:cNvGrpSpPr/>
          <p:nvPr/>
        </p:nvGrpSpPr>
        <p:grpSpPr>
          <a:xfrm>
            <a:off x="4800600" y="1092600"/>
            <a:ext cx="6628320" cy="2106720"/>
            <a:chOff x="4800600" y="1092600"/>
            <a:chExt cx="6628320" cy="2106720"/>
          </a:xfrm>
        </p:grpSpPr>
        <p:pic>
          <p:nvPicPr>
            <p:cNvPr id="464" name="" descr=""/>
            <p:cNvPicPr/>
            <p:nvPr/>
          </p:nvPicPr>
          <p:blipFill>
            <a:blip r:embed="rId2"/>
            <a:srcRect l="0" t="47914" r="29412" b="0"/>
            <a:stretch/>
          </p:blipFill>
          <p:spPr>
            <a:xfrm>
              <a:off x="4800600" y="1100160"/>
              <a:ext cx="6628320" cy="20991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65" name=""/>
            <p:cNvSpPr/>
            <p:nvPr/>
          </p:nvSpPr>
          <p:spPr>
            <a:xfrm>
              <a:off x="5064120" y="1103040"/>
              <a:ext cx="3310560" cy="192600"/>
            </a:xfrm>
            <a:prstGeom prst="rect">
              <a:avLst/>
            </a:prstGeom>
            <a:solidFill>
              <a:srgbClr val="ffffff"/>
            </a:solidFill>
            <a:ln w="0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466" name=""/>
            <p:cNvSpPr/>
            <p:nvPr/>
          </p:nvSpPr>
          <p:spPr>
            <a:xfrm>
              <a:off x="8028000" y="1092600"/>
              <a:ext cx="3310560" cy="192240"/>
            </a:xfrm>
            <a:prstGeom prst="rect">
              <a:avLst/>
            </a:prstGeom>
            <a:solidFill>
              <a:srgbClr val="ffffff"/>
            </a:solidFill>
            <a:ln w="0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</p:grpSp>
      <p:pic>
        <p:nvPicPr>
          <p:cNvPr id="467" name="Picture 87" descr="A group of images of a square&#10;&#10;AI-generated content may be incorrect."/>
          <p:cNvPicPr/>
          <p:nvPr/>
        </p:nvPicPr>
        <p:blipFill>
          <a:blip r:embed="rId3"/>
          <a:srcRect l="0" t="67042" r="0" b="0"/>
          <a:stretch/>
        </p:blipFill>
        <p:spPr>
          <a:xfrm>
            <a:off x="5029200" y="3373200"/>
            <a:ext cx="6063120" cy="256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8" name="TextBox 21"/>
          <p:cNvSpPr/>
          <p:nvPr/>
        </p:nvSpPr>
        <p:spPr>
          <a:xfrm>
            <a:off x="5221800" y="5943600"/>
            <a:ext cx="3199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Signature with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residual AF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TextBox 22"/>
          <p:cNvSpPr/>
          <p:nvPr/>
        </p:nvSpPr>
        <p:spPr>
          <a:xfrm>
            <a:off x="8001000" y="5991120"/>
            <a:ext cx="3199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Signature without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residual AF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"/>
          <p:cNvSpPr/>
          <p:nvPr/>
        </p:nvSpPr>
        <p:spPr>
          <a:xfrm rot="7421400">
            <a:off x="9689760" y="1180800"/>
            <a:ext cx="456120" cy="456120"/>
          </a:xfrm>
          <a:prstGeom prst="rightArrow">
            <a:avLst>
              <a:gd name="adj1" fmla="val 50000"/>
              <a:gd name="adj2" fmla="val 25000"/>
            </a:avLst>
          </a:prstGeom>
          <a:solidFill>
            <a:srgbClr val="ff6d6d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560" cy="638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Pipeline: Unmixing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2" name="Picture 2" descr=""/>
          <p:cNvPicPr/>
          <p:nvPr/>
        </p:nvPicPr>
        <p:blipFill>
          <a:blip r:embed="rId1"/>
          <a:srcRect l="0" t="0" r="68257" b="0"/>
          <a:stretch/>
        </p:blipFill>
        <p:spPr>
          <a:xfrm>
            <a:off x="-99000" y="491400"/>
            <a:ext cx="2623680" cy="578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3" name="Rectangle 1"/>
          <p:cNvSpPr/>
          <p:nvPr/>
        </p:nvSpPr>
        <p:spPr>
          <a:xfrm>
            <a:off x="2548800" y="697320"/>
            <a:ext cx="5119200" cy="54622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74" name="TextBox 5"/>
          <p:cNvSpPr/>
          <p:nvPr/>
        </p:nvSpPr>
        <p:spPr>
          <a:xfrm>
            <a:off x="7609680" y="3040560"/>
            <a:ext cx="210456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TRU-OLS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Box 8"/>
          <p:cNvSpPr/>
          <p:nvPr/>
        </p:nvSpPr>
        <p:spPr>
          <a:xfrm>
            <a:off x="9716400" y="3044160"/>
            <a:ext cx="210456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TRU-OLS 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Walkthrough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Box 11"/>
          <p:cNvSpPr/>
          <p:nvPr/>
        </p:nvSpPr>
        <p:spPr>
          <a:xfrm>
            <a:off x="7682040" y="5604480"/>
            <a:ext cx="210456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AutoSpectral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TextBox 14"/>
          <p:cNvSpPr/>
          <p:nvPr/>
        </p:nvSpPr>
        <p:spPr>
          <a:xfrm>
            <a:off x="9773640" y="5547240"/>
            <a:ext cx="210456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AutoSpectral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Walk-through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8" name="Graphic 16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073360" y="3657600"/>
            <a:ext cx="1846440" cy="1846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9" name="Graphic 18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8004960" y="1074600"/>
            <a:ext cx="1861560" cy="1861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0" name="Graphic 22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10035720" y="1074600"/>
            <a:ext cx="1877040" cy="1877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1" name="Graphic 24" descr="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10073520" y="3634920"/>
            <a:ext cx="1850400" cy="1850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2" name="Arrow: Down 25"/>
          <p:cNvSpPr/>
          <p:nvPr/>
        </p:nvSpPr>
        <p:spPr>
          <a:xfrm rot="16200000">
            <a:off x="185760" y="3090240"/>
            <a:ext cx="519480" cy="6789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83" name="Rectangle 26"/>
          <p:cNvSpPr/>
          <p:nvPr/>
        </p:nvSpPr>
        <p:spPr>
          <a:xfrm>
            <a:off x="2689920" y="1850040"/>
            <a:ext cx="4655520" cy="3103200"/>
          </a:xfrm>
          <a:prstGeom prst="rect">
            <a:avLst/>
          </a:prstGeom>
          <a:solidFill>
            <a:schemeClr val="bg2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84" name="Rectangle 27"/>
          <p:cNvSpPr/>
          <p:nvPr/>
        </p:nvSpPr>
        <p:spPr>
          <a:xfrm>
            <a:off x="2743200" y="2020320"/>
            <a:ext cx="4506840" cy="285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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Unmixing Method Agnostic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Unmixing in SpectroFlo (with modified single-color and unstained inputs via Luciernaga)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Unmixing in 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  - OLS (Luciernaga using Rust)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  - TRU-OLS (via Julia wrapper)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  - AutoSpectral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5" name="Picture 28" descr=""/>
          <p:cNvPicPr/>
          <p:nvPr/>
        </p:nvPicPr>
        <p:blipFill>
          <a:blip r:embed="rId10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6" name="" descr=""/>
          <p:cNvPicPr/>
          <p:nvPr/>
        </p:nvPicPr>
        <p:blipFill>
          <a:blip r:embed="rId11"/>
          <a:stretch/>
        </p:blipFill>
        <p:spPr>
          <a:xfrm>
            <a:off x="231120" y="628128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7" name="Graphic 13" descr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0323720" y="2697480"/>
            <a:ext cx="1475280" cy="14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8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560" cy="638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Pipeline: File Checks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9" name="Picture 2" descr=""/>
          <p:cNvPicPr/>
          <p:nvPr/>
        </p:nvPicPr>
        <p:blipFill>
          <a:blip r:embed="rId3"/>
          <a:srcRect l="0" t="0" r="68257" b="0"/>
          <a:stretch/>
        </p:blipFill>
        <p:spPr>
          <a:xfrm>
            <a:off x="-99000" y="491400"/>
            <a:ext cx="2623680" cy="578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0" name="Rectangle 1"/>
          <p:cNvSpPr/>
          <p:nvPr/>
        </p:nvSpPr>
        <p:spPr>
          <a:xfrm>
            <a:off x="2548800" y="697320"/>
            <a:ext cx="5119200" cy="54622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91" name="TextBox 5"/>
          <p:cNvSpPr/>
          <p:nvPr/>
        </p:nvSpPr>
        <p:spPr>
          <a:xfrm>
            <a:off x="7930800" y="2229120"/>
            <a:ext cx="169200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PeacoQC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Box 8"/>
          <p:cNvSpPr/>
          <p:nvPr/>
        </p:nvSpPr>
        <p:spPr>
          <a:xfrm>
            <a:off x="9994320" y="1983600"/>
            <a:ext cx="1692000" cy="70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PeacoQC Vignette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TextBox 11"/>
          <p:cNvSpPr/>
          <p:nvPr/>
        </p:nvSpPr>
        <p:spPr>
          <a:xfrm>
            <a:off x="8019000" y="4299480"/>
            <a:ext cx="169200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FlowAI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TextBox 14"/>
          <p:cNvSpPr/>
          <p:nvPr/>
        </p:nvSpPr>
        <p:spPr>
          <a:xfrm>
            <a:off x="10008000" y="4339440"/>
            <a:ext cx="169200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FlowAI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Vignette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5" name="Graphic 4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8213400" y="571320"/>
            <a:ext cx="1512000" cy="1512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6" name="Graphic 7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10321560" y="564480"/>
            <a:ext cx="1484280" cy="1484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7" name="Graphic 10" descr="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8241120" y="2695320"/>
            <a:ext cx="1465920" cy="1465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8" name="Graphic 17" descr=""/>
          <p:cNvPicPr/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>
          <a:xfrm>
            <a:off x="8296920" y="4601160"/>
            <a:ext cx="1475280" cy="14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9" name="TextBox 19"/>
          <p:cNvSpPr/>
          <p:nvPr/>
        </p:nvSpPr>
        <p:spPr>
          <a:xfrm>
            <a:off x="7994880" y="5928480"/>
            <a:ext cx="1692000" cy="70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PeacoQC in Rust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Arrow: Down 20"/>
          <p:cNvSpPr/>
          <p:nvPr/>
        </p:nvSpPr>
        <p:spPr>
          <a:xfrm rot="16200000">
            <a:off x="175320" y="4249080"/>
            <a:ext cx="519480" cy="6789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01" name="Rectangle 21"/>
          <p:cNvSpPr/>
          <p:nvPr/>
        </p:nvSpPr>
        <p:spPr>
          <a:xfrm>
            <a:off x="2775240" y="3987360"/>
            <a:ext cx="4655520" cy="1795320"/>
          </a:xfrm>
          <a:prstGeom prst="rect">
            <a:avLst/>
          </a:prstGeom>
          <a:solidFill>
            <a:schemeClr val="bg2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02" name="Rectangle 23"/>
          <p:cNvSpPr/>
          <p:nvPr/>
        </p:nvSpPr>
        <p:spPr>
          <a:xfrm>
            <a:off x="2828160" y="3880800"/>
            <a:ext cx="4506840" cy="175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Checking for fluidic or laser-related issues in the unmixed files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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R: PeacoQC or FlowAI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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Rust: PeacoQC (thanks James!)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3" name="Picture 25" descr=""/>
          <p:cNvPicPr/>
          <p:nvPr/>
        </p:nvPicPr>
        <p:blipFill>
          <a:blip r:embed="rId12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4" name="" descr=""/>
          <p:cNvPicPr/>
          <p:nvPr/>
        </p:nvPicPr>
        <p:blipFill>
          <a:blip r:embed="rId13"/>
          <a:stretch/>
        </p:blipFill>
        <p:spPr>
          <a:xfrm>
            <a:off x="231120" y="628128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560" cy="638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Pipeline: Manual and Automated Gating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6" name="Picture 2" descr=""/>
          <p:cNvPicPr/>
          <p:nvPr/>
        </p:nvPicPr>
        <p:blipFill>
          <a:blip r:embed="rId1"/>
          <a:srcRect l="0" t="0" r="48220" b="0"/>
          <a:stretch/>
        </p:blipFill>
        <p:spPr>
          <a:xfrm>
            <a:off x="-99000" y="491400"/>
            <a:ext cx="4281120" cy="578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7" name="Rectangle 1"/>
          <p:cNvSpPr/>
          <p:nvPr/>
        </p:nvSpPr>
        <p:spPr>
          <a:xfrm>
            <a:off x="4103280" y="697320"/>
            <a:ext cx="3564720" cy="54622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08" name="TextBox 3"/>
          <p:cNvSpPr/>
          <p:nvPr/>
        </p:nvSpPr>
        <p:spPr>
          <a:xfrm>
            <a:off x="7826760" y="2091600"/>
            <a:ext cx="210456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flowGate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TextBox 4"/>
          <p:cNvSpPr/>
          <p:nvPr/>
        </p:nvSpPr>
        <p:spPr>
          <a:xfrm>
            <a:off x="9785160" y="2084040"/>
            <a:ext cx="210456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flowGate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Walkthrough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TextBox 5"/>
          <p:cNvSpPr/>
          <p:nvPr/>
        </p:nvSpPr>
        <p:spPr>
          <a:xfrm>
            <a:off x="7841880" y="4038480"/>
            <a:ext cx="210456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openCyto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Box 6"/>
          <p:cNvSpPr/>
          <p:nvPr/>
        </p:nvSpPr>
        <p:spPr>
          <a:xfrm>
            <a:off x="9727920" y="4038480"/>
            <a:ext cx="210456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openCyto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Walk-through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Box 7"/>
          <p:cNvSpPr/>
          <p:nvPr/>
        </p:nvSpPr>
        <p:spPr>
          <a:xfrm>
            <a:off x="7868520" y="5939640"/>
            <a:ext cx="210456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flowMagic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Box 8"/>
          <p:cNvSpPr/>
          <p:nvPr/>
        </p:nvSpPr>
        <p:spPr>
          <a:xfrm>
            <a:off x="9697320" y="5761440"/>
            <a:ext cx="2104560" cy="70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flowMagic Manual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4" name="Graphic 10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416440" y="617400"/>
            <a:ext cx="1393200" cy="1393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5" name="Graphic 12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276560" y="626040"/>
            <a:ext cx="1384200" cy="1384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6" name="Graphic 14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8402040" y="2558880"/>
            <a:ext cx="1396080" cy="1396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7" name="Graphic 16" descr="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10303920" y="2520000"/>
            <a:ext cx="1448640" cy="1448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8" name="Graphic 18" descr=""/>
          <p:cNvPicPr/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>
          <a:xfrm>
            <a:off x="8427600" y="4415400"/>
            <a:ext cx="1404720" cy="1404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9" name="Graphic 22" descr=""/>
          <p:cNvPicPr/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/>
        </p:blipFill>
        <p:spPr>
          <a:xfrm>
            <a:off x="10285560" y="4452480"/>
            <a:ext cx="1375560" cy="1375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0" name="Rectangle 23"/>
          <p:cNvSpPr/>
          <p:nvPr/>
        </p:nvSpPr>
        <p:spPr>
          <a:xfrm>
            <a:off x="4231800" y="2860200"/>
            <a:ext cx="3241440" cy="3198960"/>
          </a:xfrm>
          <a:prstGeom prst="rect">
            <a:avLst/>
          </a:prstGeom>
          <a:solidFill>
            <a:schemeClr val="bg2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21" name="Rectangle 24"/>
          <p:cNvSpPr/>
          <p:nvPr/>
        </p:nvSpPr>
        <p:spPr>
          <a:xfrm>
            <a:off x="4165920" y="2926080"/>
            <a:ext cx="3392640" cy="316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Doublets, Debris, Dead cell cleanup (in R or FlowJo)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Automated Gating for major cell subsets (openCyto or flowMagic)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All automated gate placements visualized via export to a .pdf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Arrow: Down 25"/>
          <p:cNvSpPr/>
          <p:nvPr/>
        </p:nvSpPr>
        <p:spPr>
          <a:xfrm rot="5400000">
            <a:off x="4025880" y="919440"/>
            <a:ext cx="519480" cy="6789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23" name="Arrow: Down 27"/>
          <p:cNvSpPr/>
          <p:nvPr/>
        </p:nvSpPr>
        <p:spPr>
          <a:xfrm rot="5400000">
            <a:off x="4018680" y="1975680"/>
            <a:ext cx="519480" cy="6789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24" name="Picture 28" descr=""/>
          <p:cNvPicPr/>
          <p:nvPr/>
        </p:nvPicPr>
        <p:blipFill>
          <a:blip r:embed="rId14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5" name="" descr=""/>
          <p:cNvPicPr/>
          <p:nvPr/>
        </p:nvPicPr>
        <p:blipFill>
          <a:blip r:embed="rId15"/>
          <a:stretch/>
        </p:blipFill>
        <p:spPr>
          <a:xfrm>
            <a:off x="231120" y="628128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560" cy="638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Pipeline: Save to FlowJo v10 .wsp 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7" name="Picture 2" descr=""/>
          <p:cNvPicPr/>
          <p:nvPr/>
        </p:nvPicPr>
        <p:blipFill>
          <a:blip r:embed="rId1"/>
          <a:srcRect l="0" t="0" r="48220" b="0"/>
          <a:stretch/>
        </p:blipFill>
        <p:spPr>
          <a:xfrm>
            <a:off x="-99000" y="491400"/>
            <a:ext cx="4281120" cy="578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8" name="Rectangle 1"/>
          <p:cNvSpPr/>
          <p:nvPr/>
        </p:nvSpPr>
        <p:spPr>
          <a:xfrm>
            <a:off x="4103280" y="697320"/>
            <a:ext cx="3564720" cy="54622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29" name="TextBox 3"/>
          <p:cNvSpPr/>
          <p:nvPr/>
        </p:nvSpPr>
        <p:spPr>
          <a:xfrm>
            <a:off x="7826760" y="2091600"/>
            <a:ext cx="220752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flowWorkspace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TextBox 4"/>
          <p:cNvSpPr/>
          <p:nvPr/>
        </p:nvSpPr>
        <p:spPr>
          <a:xfrm>
            <a:off x="9785160" y="2084040"/>
            <a:ext cx="210456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CytoML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TextBox 5"/>
          <p:cNvSpPr/>
          <p:nvPr/>
        </p:nvSpPr>
        <p:spPr>
          <a:xfrm>
            <a:off x="7841880" y="4038480"/>
            <a:ext cx="210456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FlowJo to R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Box 6"/>
          <p:cNvSpPr/>
          <p:nvPr/>
        </p:nvSpPr>
        <p:spPr>
          <a:xfrm>
            <a:off x="9727920" y="4038480"/>
            <a:ext cx="210456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 to FlowJo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Box 7"/>
          <p:cNvSpPr/>
          <p:nvPr/>
        </p:nvSpPr>
        <p:spPr>
          <a:xfrm>
            <a:off x="7779960" y="5997600"/>
            <a:ext cx="246276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Data for Statistics 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Walkthrough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4" name="Graphic 11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481240" y="709560"/>
            <a:ext cx="1315800" cy="1315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5" name="Graphic 15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393200" y="663120"/>
            <a:ext cx="1312920" cy="1312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6" name="Graphic 19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8503920" y="2584080"/>
            <a:ext cx="1315800" cy="1315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7" name="Graphic 21" descr="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10310040" y="2584080"/>
            <a:ext cx="1315800" cy="1315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8" name="Graphic 24" descr=""/>
          <p:cNvPicPr/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>
          <a:xfrm>
            <a:off x="8488800" y="4572000"/>
            <a:ext cx="1340280" cy="1340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9" name="Rectangle 25"/>
          <p:cNvSpPr/>
          <p:nvPr/>
        </p:nvSpPr>
        <p:spPr>
          <a:xfrm>
            <a:off x="4178520" y="890640"/>
            <a:ext cx="3383280" cy="2380680"/>
          </a:xfrm>
          <a:prstGeom prst="rect">
            <a:avLst/>
          </a:prstGeom>
          <a:solidFill>
            <a:schemeClr val="bg2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40" name="Rectangle 26"/>
          <p:cNvSpPr/>
          <p:nvPr/>
        </p:nvSpPr>
        <p:spPr>
          <a:xfrm>
            <a:off x="4155120" y="1041840"/>
            <a:ext cx="3424320" cy="255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Everything is saved to a FlowJo v10 .wsp, via CytoML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Any automated gates that need adjustment get corrected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Arrow: Down 27"/>
          <p:cNvSpPr/>
          <p:nvPr/>
        </p:nvSpPr>
        <p:spPr>
          <a:xfrm rot="5400000">
            <a:off x="4103640" y="3230280"/>
            <a:ext cx="519480" cy="6789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42" name="Rectangle 28"/>
          <p:cNvSpPr/>
          <p:nvPr/>
        </p:nvSpPr>
        <p:spPr>
          <a:xfrm>
            <a:off x="4160880" y="4051080"/>
            <a:ext cx="3383280" cy="891720"/>
          </a:xfrm>
          <a:prstGeom prst="rect">
            <a:avLst/>
          </a:prstGeom>
          <a:solidFill>
            <a:schemeClr val="bg2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43" name="Rectangle 29"/>
          <p:cNvSpPr/>
          <p:nvPr/>
        </p:nvSpPr>
        <p:spPr>
          <a:xfrm>
            <a:off x="4137480" y="4128840"/>
            <a:ext cx="3424320" cy="101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Major cell subset statistics exported and analyzed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4" name="Arrow: Down 30"/>
          <p:cNvSpPr/>
          <p:nvPr/>
        </p:nvSpPr>
        <p:spPr>
          <a:xfrm rot="5400000">
            <a:off x="4086000" y="4871160"/>
            <a:ext cx="519480" cy="6789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45" name="Picture 31" descr=""/>
          <p:cNvPicPr/>
          <p:nvPr/>
        </p:nvPicPr>
        <p:blipFill>
          <a:blip r:embed="rId12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6" name="" descr=""/>
          <p:cNvPicPr/>
          <p:nvPr/>
        </p:nvPicPr>
        <p:blipFill>
          <a:blip r:embed="rId13"/>
          <a:stretch/>
        </p:blipFill>
        <p:spPr>
          <a:xfrm>
            <a:off x="231120" y="628128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560" cy="638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Pipeline: Iterating through cell subsets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8" name="Picture 2" descr=""/>
          <p:cNvPicPr/>
          <p:nvPr/>
        </p:nvPicPr>
        <p:blipFill>
          <a:blip r:embed="rId1"/>
          <a:srcRect l="0" t="0" r="6365" b="1419"/>
          <a:stretch/>
        </p:blipFill>
        <p:spPr>
          <a:xfrm>
            <a:off x="-99000" y="491400"/>
            <a:ext cx="7742520" cy="5706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9" name="Rectangle 1"/>
          <p:cNvSpPr/>
          <p:nvPr/>
        </p:nvSpPr>
        <p:spPr>
          <a:xfrm>
            <a:off x="5911560" y="697320"/>
            <a:ext cx="2337840" cy="501084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50" name="TextBox 3"/>
          <p:cNvSpPr/>
          <p:nvPr/>
        </p:nvSpPr>
        <p:spPr>
          <a:xfrm>
            <a:off x="10053000" y="2738880"/>
            <a:ext cx="197100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GatingSets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Walkthrough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TextBox 4"/>
          <p:cNvSpPr/>
          <p:nvPr/>
        </p:nvSpPr>
        <p:spPr>
          <a:xfrm>
            <a:off x="10121400" y="5346360"/>
            <a:ext cx="197100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Coereba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Vignette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TextBox 9"/>
          <p:cNvSpPr/>
          <p:nvPr/>
        </p:nvSpPr>
        <p:spPr>
          <a:xfrm>
            <a:off x="8113680" y="2738880"/>
            <a:ext cx="20498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Subset Export 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Walkthrough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TextBox 10"/>
          <p:cNvSpPr/>
          <p:nvPr/>
        </p:nvSpPr>
        <p:spPr>
          <a:xfrm>
            <a:off x="8136360" y="5343120"/>
            <a:ext cx="197100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Coereba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4" name="Graphic 12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357400" y="3582360"/>
            <a:ext cx="1821960" cy="1628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5" name="Graphic 14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372320" y="3570480"/>
            <a:ext cx="1818360" cy="1625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6" name="Graphic 16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8322120" y="914400"/>
            <a:ext cx="1882800" cy="1682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7" name="Graphic 18" descr="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10264680" y="929160"/>
            <a:ext cx="1810800" cy="161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8" name="Arrow: Down 19"/>
          <p:cNvSpPr/>
          <p:nvPr/>
        </p:nvSpPr>
        <p:spPr>
          <a:xfrm rot="5400000">
            <a:off x="5964480" y="1646280"/>
            <a:ext cx="519480" cy="6789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59" name="Rectangle 20"/>
          <p:cNvSpPr/>
          <p:nvPr/>
        </p:nvSpPr>
        <p:spPr>
          <a:xfrm>
            <a:off x="6119640" y="2360520"/>
            <a:ext cx="2058840" cy="2667600"/>
          </a:xfrm>
          <a:prstGeom prst="rect">
            <a:avLst/>
          </a:prstGeom>
          <a:solidFill>
            <a:schemeClr val="bg2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60" name="Rectangle 21"/>
          <p:cNvSpPr/>
          <p:nvPr/>
        </p:nvSpPr>
        <p:spPr>
          <a:xfrm>
            <a:off x="6095880" y="2445480"/>
            <a:ext cx="2082600" cy="28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Cell subset of interest exported out as own .fcs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All cell subset .fcs files brought into R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1" name="Picture 22" descr=""/>
          <p:cNvPicPr/>
          <p:nvPr/>
        </p:nvPicPr>
        <p:blipFill>
          <a:blip r:embed="rId10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62" name="" descr=""/>
          <p:cNvPicPr/>
          <p:nvPr/>
        </p:nvPicPr>
        <p:blipFill>
          <a:blip r:embed="rId11"/>
          <a:stretch/>
        </p:blipFill>
        <p:spPr>
          <a:xfrm>
            <a:off x="231120" y="628128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560" cy="638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Pipeline: Coereba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4" name="Picture 2" descr=""/>
          <p:cNvPicPr/>
          <p:nvPr/>
        </p:nvPicPr>
        <p:blipFill>
          <a:blip r:embed="rId1"/>
          <a:srcRect l="0" t="0" r="6365" b="1419"/>
          <a:stretch/>
        </p:blipFill>
        <p:spPr>
          <a:xfrm>
            <a:off x="-99000" y="491400"/>
            <a:ext cx="7742520" cy="5706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5" name="Rectangle 1"/>
          <p:cNvSpPr/>
          <p:nvPr/>
        </p:nvSpPr>
        <p:spPr>
          <a:xfrm>
            <a:off x="5911560" y="697320"/>
            <a:ext cx="2337840" cy="501084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66" name="TextBox 3"/>
          <p:cNvSpPr/>
          <p:nvPr/>
        </p:nvSpPr>
        <p:spPr>
          <a:xfrm>
            <a:off x="10053000" y="2738880"/>
            <a:ext cx="197100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GatingSets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Walkthrough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7" name="TextBox 4"/>
          <p:cNvSpPr/>
          <p:nvPr/>
        </p:nvSpPr>
        <p:spPr>
          <a:xfrm>
            <a:off x="10121400" y="5346360"/>
            <a:ext cx="197100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Coereba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Vignette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TextBox 9"/>
          <p:cNvSpPr/>
          <p:nvPr/>
        </p:nvSpPr>
        <p:spPr>
          <a:xfrm>
            <a:off x="8113680" y="2738880"/>
            <a:ext cx="20498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Subset Export 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Walkthrough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TextBox 10"/>
          <p:cNvSpPr/>
          <p:nvPr/>
        </p:nvSpPr>
        <p:spPr>
          <a:xfrm>
            <a:off x="8136360" y="5343120"/>
            <a:ext cx="197100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Coereba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0" name="Graphic 12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357400" y="3582360"/>
            <a:ext cx="1821960" cy="1628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1" name="Graphic 14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372320" y="3570480"/>
            <a:ext cx="1818360" cy="1625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2" name="Graphic 16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8322120" y="914400"/>
            <a:ext cx="1882800" cy="1682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3" name="Graphic 18" descr="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10264680" y="929160"/>
            <a:ext cx="1810800" cy="161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4" name="Arrow: Down 19"/>
          <p:cNvSpPr/>
          <p:nvPr/>
        </p:nvSpPr>
        <p:spPr>
          <a:xfrm rot="5400000">
            <a:off x="6177240" y="3251520"/>
            <a:ext cx="519480" cy="6789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75" name="Rectangle 21"/>
          <p:cNvSpPr/>
          <p:nvPr/>
        </p:nvSpPr>
        <p:spPr>
          <a:xfrm>
            <a:off x="5989680" y="875880"/>
            <a:ext cx="2082600" cy="70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Rectangle 8"/>
          <p:cNvSpPr/>
          <p:nvPr/>
        </p:nvSpPr>
        <p:spPr>
          <a:xfrm>
            <a:off x="6095880" y="2828160"/>
            <a:ext cx="1866240" cy="423720"/>
          </a:xfrm>
          <a:prstGeom prst="rect">
            <a:avLst/>
          </a:prstGeom>
          <a:solidFill>
            <a:schemeClr val="bg2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77" name="TextBox 6"/>
          <p:cNvSpPr/>
          <p:nvPr/>
        </p:nvSpPr>
        <p:spPr>
          <a:xfrm>
            <a:off x="6095880" y="2845440"/>
            <a:ext cx="183456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Coereba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8" name="Picture 11" descr=""/>
          <p:cNvPicPr/>
          <p:nvPr/>
        </p:nvPicPr>
        <p:blipFill>
          <a:blip r:embed="rId10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9" name="" descr=""/>
          <p:cNvPicPr/>
          <p:nvPr/>
        </p:nvPicPr>
        <p:blipFill>
          <a:blip r:embed="rId11"/>
          <a:stretch/>
        </p:blipFill>
        <p:spPr>
          <a:xfrm>
            <a:off x="231120" y="628128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560" cy="638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Grouping cells that share every marker 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1" name="Picture 27" descr=""/>
          <p:cNvPicPr/>
          <p:nvPr/>
        </p:nvPicPr>
        <p:blipFill>
          <a:blip r:embed="rId1"/>
          <a:srcRect l="0" t="26726" r="72154" b="28564"/>
          <a:stretch/>
        </p:blipFill>
        <p:spPr>
          <a:xfrm>
            <a:off x="0" y="-132840"/>
            <a:ext cx="1582920" cy="177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2" name="Picture 72" descr=""/>
          <p:cNvPicPr/>
          <p:nvPr/>
        </p:nvPicPr>
        <p:blipFill>
          <a:blip r:embed="rId2"/>
          <a:stretch/>
        </p:blipFill>
        <p:spPr>
          <a:xfrm>
            <a:off x="1523880" y="1185480"/>
            <a:ext cx="9142560" cy="639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3" name="Arrow: Down 2"/>
          <p:cNvSpPr/>
          <p:nvPr/>
        </p:nvSpPr>
        <p:spPr>
          <a:xfrm>
            <a:off x="7251480" y="829440"/>
            <a:ext cx="519480" cy="7534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84" name="Picture 76" descr=""/>
          <p:cNvPicPr/>
          <p:nvPr/>
        </p:nvPicPr>
        <p:blipFill>
          <a:blip r:embed="rId3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5" name="" descr=""/>
          <p:cNvPicPr/>
          <p:nvPr/>
        </p:nvPicPr>
        <p:blipFill>
          <a:blip r:embed="rId4"/>
          <a:stretch/>
        </p:blipFill>
        <p:spPr>
          <a:xfrm>
            <a:off x="231120" y="628128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560" cy="638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Coereba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7" name="Picture 4" descr=""/>
          <p:cNvPicPr/>
          <p:nvPr/>
        </p:nvPicPr>
        <p:blipFill>
          <a:blip r:embed="rId1"/>
          <a:srcRect l="28389" t="0" r="0" b="0"/>
          <a:stretch/>
        </p:blipFill>
        <p:spPr>
          <a:xfrm>
            <a:off x="3166200" y="293040"/>
            <a:ext cx="6562800" cy="6414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8" name="Picture 5" descr=""/>
          <p:cNvPicPr/>
          <p:nvPr/>
        </p:nvPicPr>
        <p:blipFill>
          <a:blip r:embed="rId2"/>
          <a:srcRect l="0" t="26724" r="72153" b="28563"/>
          <a:stretch/>
        </p:blipFill>
        <p:spPr>
          <a:xfrm>
            <a:off x="373320" y="777240"/>
            <a:ext cx="2551320" cy="286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9" name="TextBox 8"/>
          <p:cNvSpPr/>
          <p:nvPr/>
        </p:nvSpPr>
        <p:spPr>
          <a:xfrm>
            <a:off x="499680" y="5584680"/>
            <a:ext cx="210456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0" name="Graphic 9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860760" y="3645360"/>
            <a:ext cx="1831320" cy="1831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1" name="Picture 10" descr=""/>
          <p:cNvPicPr/>
          <p:nvPr/>
        </p:nvPicPr>
        <p:blipFill>
          <a:blip r:embed="rId5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2" name="" descr=""/>
          <p:cNvPicPr/>
          <p:nvPr/>
        </p:nvPicPr>
        <p:blipFill>
          <a:blip r:embed="rId6"/>
          <a:stretch/>
        </p:blipFill>
        <p:spPr>
          <a:xfrm>
            <a:off x="231120" y="628128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560" cy="638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Initial automated gate, with ability to adjust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4" name="Picture 5" descr=""/>
          <p:cNvPicPr/>
          <p:nvPr/>
        </p:nvPicPr>
        <p:blipFill>
          <a:blip r:embed="rId1"/>
          <a:srcRect l="0" t="26726" r="72154" b="28564"/>
          <a:stretch/>
        </p:blipFill>
        <p:spPr>
          <a:xfrm>
            <a:off x="0" y="-132840"/>
            <a:ext cx="1582920" cy="177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5" name="Picture 8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6" name="Picture 2" descr=""/>
          <p:cNvPicPr/>
          <p:nvPr/>
        </p:nvPicPr>
        <p:blipFill>
          <a:blip r:embed="rId3"/>
          <a:srcRect l="0" t="0" r="50000" b="26630"/>
          <a:stretch/>
        </p:blipFill>
        <p:spPr>
          <a:xfrm>
            <a:off x="1844640" y="1020240"/>
            <a:ext cx="4249800" cy="4454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7" name="TextBox 3"/>
          <p:cNvSpPr/>
          <p:nvPr/>
        </p:nvSpPr>
        <p:spPr>
          <a:xfrm>
            <a:off x="6531840" y="1122480"/>
            <a:ext cx="4449960" cy="378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Initial gates for designated markers calculated via openCyto (mindensity)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Ability to update gate_range constraints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Launch a Shiny app and designate interactively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8" name=""/>
          <p:cNvSpPr/>
          <p:nvPr/>
        </p:nvSpPr>
        <p:spPr>
          <a:xfrm>
            <a:off x="6557400" y="1407600"/>
            <a:ext cx="3957120" cy="1370520"/>
          </a:xfrm>
          <a:prstGeom prst="rect">
            <a:avLst/>
          </a:prstGeom>
          <a:solidFill>
            <a:srgbClr val="f7d1d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"/>
          <p:cNvSpPr/>
          <p:nvPr/>
        </p:nvSpPr>
        <p:spPr>
          <a:xfrm>
            <a:off x="6557400" y="3999600"/>
            <a:ext cx="3957120" cy="94320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"/>
          <p:cNvSpPr/>
          <p:nvPr/>
        </p:nvSpPr>
        <p:spPr>
          <a:xfrm>
            <a:off x="6531840" y="2905920"/>
            <a:ext cx="3957120" cy="943200"/>
          </a:xfrm>
          <a:prstGeom prst="rect">
            <a:avLst/>
          </a:prstGeom>
          <a:solidFill>
            <a:srgbClr val="ff972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1" name="" descr=""/>
          <p:cNvPicPr/>
          <p:nvPr/>
        </p:nvPicPr>
        <p:blipFill>
          <a:blip r:embed="rId4"/>
          <a:stretch/>
        </p:blipFill>
        <p:spPr>
          <a:xfrm>
            <a:off x="231120" y="628128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560" cy="638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CoerebaID column gets added to the .fcs file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3" name="Picture 5" descr=""/>
          <p:cNvPicPr/>
          <p:nvPr/>
        </p:nvPicPr>
        <p:blipFill>
          <a:blip r:embed="rId1"/>
          <a:srcRect l="0" t="26726" r="72154" b="28564"/>
          <a:stretch/>
        </p:blipFill>
        <p:spPr>
          <a:xfrm>
            <a:off x="0" y="-132840"/>
            <a:ext cx="1582920" cy="177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4" name="Picture 4" descr=""/>
          <p:cNvPicPr/>
          <p:nvPr/>
        </p:nvPicPr>
        <p:blipFill>
          <a:blip r:embed="rId2"/>
          <a:stretch/>
        </p:blipFill>
        <p:spPr>
          <a:xfrm>
            <a:off x="7691040" y="776880"/>
            <a:ext cx="7576200" cy="5302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5" name="Picture 7" descr=""/>
          <p:cNvPicPr/>
          <p:nvPr/>
        </p:nvPicPr>
        <p:blipFill>
          <a:blip r:embed="rId3"/>
          <a:srcRect l="0" t="0" r="0" b="54009"/>
          <a:stretch/>
        </p:blipFill>
        <p:spPr>
          <a:xfrm>
            <a:off x="-219600" y="2347920"/>
            <a:ext cx="7831080" cy="2520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6" name="Picture 8" descr=""/>
          <p:cNvPicPr/>
          <p:nvPr/>
        </p:nvPicPr>
        <p:blipFill>
          <a:blip r:embed="rId4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7" name="" descr=""/>
          <p:cNvPicPr/>
          <p:nvPr/>
        </p:nvPicPr>
        <p:blipFill>
          <a:blip r:embed="rId5"/>
          <a:stretch/>
        </p:blipFill>
        <p:spPr>
          <a:xfrm>
            <a:off x="231120" y="628128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560" cy="638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Pipeline: Summarized Experiment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9" name="Picture 2" descr=""/>
          <p:cNvPicPr/>
          <p:nvPr/>
        </p:nvPicPr>
        <p:blipFill>
          <a:blip r:embed="rId1"/>
          <a:srcRect l="0" t="0" r="27212" b="0"/>
          <a:stretch/>
        </p:blipFill>
        <p:spPr>
          <a:xfrm>
            <a:off x="-99000" y="491400"/>
            <a:ext cx="6018480" cy="578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0" name="Rectangle 1"/>
          <p:cNvSpPr/>
          <p:nvPr/>
        </p:nvSpPr>
        <p:spPr>
          <a:xfrm>
            <a:off x="5897880" y="733680"/>
            <a:ext cx="2670480" cy="54255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11" name="Arrow: Down 3"/>
          <p:cNvSpPr/>
          <p:nvPr/>
        </p:nvSpPr>
        <p:spPr>
          <a:xfrm rot="5400000">
            <a:off x="6106320" y="4750920"/>
            <a:ext cx="519480" cy="6789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12" name="Rectangle 4"/>
          <p:cNvSpPr/>
          <p:nvPr/>
        </p:nvSpPr>
        <p:spPr>
          <a:xfrm>
            <a:off x="5960160" y="2318040"/>
            <a:ext cx="2491560" cy="2390760"/>
          </a:xfrm>
          <a:prstGeom prst="rect">
            <a:avLst/>
          </a:prstGeom>
          <a:solidFill>
            <a:schemeClr val="bg2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13" name="Rectangle 5"/>
          <p:cNvSpPr/>
          <p:nvPr/>
        </p:nvSpPr>
        <p:spPr>
          <a:xfrm>
            <a:off x="5978880" y="2509200"/>
            <a:ext cx="2451240" cy="224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Data stored in a Summarized Experiment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Interoperability with Bioconductor statistics packages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14" name="Picture 6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15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560" cy="638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Summarized Experiment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Rectangle 50"/>
          <p:cNvSpPr/>
          <p:nvPr/>
        </p:nvSpPr>
        <p:spPr>
          <a:xfrm>
            <a:off x="7864560" y="1079280"/>
            <a:ext cx="3873240" cy="452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Permits rapid re-aggregation of the terminal nodes for re-evaluation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Ties in with downstream Bioconductor statistics packages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Portable. Don’t like how we aggregated groups of cells? File is small enough to store in the same data repository as .fcs files for subsequent re-analysis.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Filterable by metadata or node.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- Nodes only in HEU-hi?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- Nodes unique to one individual?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18" name="Picture 2" descr=""/>
          <p:cNvPicPr/>
          <p:nvPr/>
        </p:nvPicPr>
        <p:blipFill>
          <a:blip r:embed="rId1"/>
          <a:stretch/>
        </p:blipFill>
        <p:spPr>
          <a:xfrm>
            <a:off x="718560" y="705240"/>
            <a:ext cx="7187040" cy="5605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19" name="Picture 3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0" name=""/>
          <p:cNvSpPr/>
          <p:nvPr/>
        </p:nvSpPr>
        <p:spPr>
          <a:xfrm>
            <a:off x="7864560" y="1079280"/>
            <a:ext cx="3792960" cy="977040"/>
          </a:xfrm>
          <a:prstGeom prst="rect">
            <a:avLst/>
          </a:prstGeom>
          <a:solidFill>
            <a:srgbClr val="ff4000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1" name=""/>
          <p:cNvSpPr/>
          <p:nvPr/>
        </p:nvSpPr>
        <p:spPr>
          <a:xfrm>
            <a:off x="7864560" y="2186280"/>
            <a:ext cx="3792960" cy="74844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"/>
          <p:cNvSpPr/>
          <p:nvPr/>
        </p:nvSpPr>
        <p:spPr>
          <a:xfrm>
            <a:off x="7864560" y="3007800"/>
            <a:ext cx="3792960" cy="144252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3" name=""/>
          <p:cNvSpPr/>
          <p:nvPr/>
        </p:nvSpPr>
        <p:spPr>
          <a:xfrm>
            <a:off x="7864560" y="4572000"/>
            <a:ext cx="3792960" cy="1028880"/>
          </a:xfrm>
          <a:prstGeom prst="rect">
            <a:avLst/>
          </a:prstGeom>
          <a:solidFill>
            <a:srgbClr val="afd09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4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0400" cy="6361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Selectively re-aggregate in seconds 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6" name="Picture 77" descr=""/>
          <p:cNvPicPr/>
          <p:nvPr/>
        </p:nvPicPr>
        <p:blipFill>
          <a:blip r:embed="rId1"/>
          <a:stretch/>
        </p:blipFill>
        <p:spPr>
          <a:xfrm>
            <a:off x="1523880" y="1725480"/>
            <a:ext cx="9140400" cy="639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7" name="Arrow: Down 1"/>
          <p:cNvSpPr/>
          <p:nvPr/>
        </p:nvSpPr>
        <p:spPr>
          <a:xfrm rot="5366400">
            <a:off x="5482080" y="-723600"/>
            <a:ext cx="517320" cy="40564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628" name="Picture 78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9400" cy="397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29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4400" cy="352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0" name="Arrow: Down 4"/>
          <p:cNvSpPr/>
          <p:nvPr/>
        </p:nvSpPr>
        <p:spPr>
          <a:xfrm rot="5366400">
            <a:off x="6240600" y="556920"/>
            <a:ext cx="546480" cy="25117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PlaceHolder 1"/>
          <p:cNvSpPr>
            <a:spLocks noGrp="1"/>
          </p:cNvSpPr>
          <p:nvPr>
            <p:ph type="title"/>
          </p:nvPr>
        </p:nvSpPr>
        <p:spPr>
          <a:xfrm>
            <a:off x="1063080" y="0"/>
            <a:ext cx="10512000" cy="6951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Retrieval of marker expressions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32" name="Picture 151" descr=""/>
          <p:cNvPicPr/>
          <p:nvPr/>
        </p:nvPicPr>
        <p:blipFill>
          <a:blip r:embed="rId1"/>
          <a:stretch/>
        </p:blipFill>
        <p:spPr>
          <a:xfrm>
            <a:off x="72000" y="108000"/>
            <a:ext cx="1844280" cy="1596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33" name="Graphic 152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515600" y="0"/>
            <a:ext cx="1596600" cy="1596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34" name="Picture 2" descr=""/>
          <p:cNvPicPr/>
          <p:nvPr/>
        </p:nvPicPr>
        <p:blipFill>
          <a:blip r:embed="rId4"/>
          <a:stretch/>
        </p:blipFill>
        <p:spPr>
          <a:xfrm>
            <a:off x="1863720" y="1362240"/>
            <a:ext cx="8463240" cy="4579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35" name="" descr=""/>
          <p:cNvPicPr/>
          <p:nvPr/>
        </p:nvPicPr>
        <p:blipFill>
          <a:blip r:embed="rId5"/>
          <a:stretch/>
        </p:blipFill>
        <p:spPr>
          <a:xfrm>
            <a:off x="231120" y="6281280"/>
            <a:ext cx="1366560" cy="354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36" name="Picture 60" descr=""/>
          <p:cNvPicPr/>
          <p:nvPr/>
        </p:nvPicPr>
        <p:blipFill>
          <a:blip r:embed="rId6"/>
          <a:stretch/>
        </p:blipFill>
        <p:spPr>
          <a:xfrm>
            <a:off x="10435680" y="6172560"/>
            <a:ext cx="1141560" cy="399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560" cy="638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Pipeline: Normalization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38" name="Picture 2" descr=""/>
          <p:cNvPicPr/>
          <p:nvPr/>
        </p:nvPicPr>
        <p:blipFill>
          <a:blip r:embed="rId1"/>
          <a:stretch/>
        </p:blipFill>
        <p:spPr>
          <a:xfrm>
            <a:off x="-99000" y="491400"/>
            <a:ext cx="8268840" cy="578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9" name="TextBox 3"/>
          <p:cNvSpPr/>
          <p:nvPr/>
        </p:nvSpPr>
        <p:spPr>
          <a:xfrm>
            <a:off x="9582480" y="3025080"/>
            <a:ext cx="210456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CytoNorm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Vignettes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TextBox 4"/>
          <p:cNvSpPr/>
          <p:nvPr/>
        </p:nvSpPr>
        <p:spPr>
          <a:xfrm>
            <a:off x="9693720" y="5547240"/>
            <a:ext cx="210456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CyCombine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Vignettes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TextBox 9"/>
          <p:cNvSpPr/>
          <p:nvPr/>
        </p:nvSpPr>
        <p:spPr>
          <a:xfrm>
            <a:off x="7718760" y="3014280"/>
            <a:ext cx="210456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CytoNorm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Box 10"/>
          <p:cNvSpPr/>
          <p:nvPr/>
        </p:nvSpPr>
        <p:spPr>
          <a:xfrm>
            <a:off x="7696440" y="5539320"/>
            <a:ext cx="210456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CyCombine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43" name="Graphic 12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040600" y="3577680"/>
            <a:ext cx="1885680" cy="1885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44" name="Graphic 14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050120" y="3641760"/>
            <a:ext cx="1832760" cy="1832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45" name="Graphic 16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8100360" y="1054080"/>
            <a:ext cx="1804680" cy="180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46" name="Graphic 18" descr="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9972720" y="1065960"/>
            <a:ext cx="1824840" cy="1824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7" name="Arrow: Down 19"/>
          <p:cNvSpPr/>
          <p:nvPr/>
        </p:nvSpPr>
        <p:spPr>
          <a:xfrm rot="5400000">
            <a:off x="7328880" y="923040"/>
            <a:ext cx="519480" cy="6789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648" name="Picture 20" descr=""/>
          <p:cNvPicPr/>
          <p:nvPr/>
        </p:nvPicPr>
        <p:blipFill>
          <a:blip r:embed="rId10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49" name="" descr=""/>
          <p:cNvPicPr/>
          <p:nvPr/>
        </p:nvPicPr>
        <p:blipFill>
          <a:blip r:embed="rId11"/>
          <a:stretch/>
        </p:blipFill>
        <p:spPr>
          <a:xfrm>
            <a:off x="231120" y="628128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560" cy="638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Pipeline: Clustering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51" name="Picture 2" descr=""/>
          <p:cNvPicPr/>
          <p:nvPr/>
        </p:nvPicPr>
        <p:blipFill>
          <a:blip r:embed="rId1"/>
          <a:stretch/>
        </p:blipFill>
        <p:spPr>
          <a:xfrm>
            <a:off x="-99000" y="491400"/>
            <a:ext cx="8268840" cy="578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2" name="TextBox 3"/>
          <p:cNvSpPr/>
          <p:nvPr/>
        </p:nvSpPr>
        <p:spPr>
          <a:xfrm>
            <a:off x="9624960" y="2940120"/>
            <a:ext cx="210456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FlowSOM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Vignettes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3" name="TextBox 9"/>
          <p:cNvSpPr/>
          <p:nvPr/>
        </p:nvSpPr>
        <p:spPr>
          <a:xfrm>
            <a:off x="7707960" y="2940120"/>
            <a:ext cx="210456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FlowSOM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54" name="Graphic 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025840" y="947520"/>
            <a:ext cx="1804680" cy="180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55" name="Graphic 7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9929160" y="937080"/>
            <a:ext cx="1847160" cy="1847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6" name="Arrow: Down 8"/>
          <p:cNvSpPr/>
          <p:nvPr/>
        </p:nvSpPr>
        <p:spPr>
          <a:xfrm rot="5400000">
            <a:off x="7233120" y="2028960"/>
            <a:ext cx="519480" cy="6789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657" name="Picture 11" descr=""/>
          <p:cNvPicPr/>
          <p:nvPr/>
        </p:nvPicPr>
        <p:blipFill>
          <a:blip r:embed="rId6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58" name="" descr=""/>
          <p:cNvPicPr/>
          <p:nvPr/>
        </p:nvPicPr>
        <p:blipFill>
          <a:blip r:embed="rId7"/>
          <a:stretch/>
        </p:blipFill>
        <p:spPr>
          <a:xfrm>
            <a:off x="230760" y="628092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560" cy="638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Pipeline: Dimensionality Visualization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60" name="Picture 2" descr=""/>
          <p:cNvPicPr/>
          <p:nvPr/>
        </p:nvPicPr>
        <p:blipFill>
          <a:blip r:embed="rId1"/>
          <a:stretch/>
        </p:blipFill>
        <p:spPr>
          <a:xfrm>
            <a:off x="-99000" y="491400"/>
            <a:ext cx="8268840" cy="578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1" name="TextBox 3"/>
          <p:cNvSpPr/>
          <p:nvPr/>
        </p:nvSpPr>
        <p:spPr>
          <a:xfrm>
            <a:off x="9624960" y="2940120"/>
            <a:ext cx="210456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UMAP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Wrapper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Box 9"/>
          <p:cNvSpPr/>
          <p:nvPr/>
        </p:nvSpPr>
        <p:spPr>
          <a:xfrm>
            <a:off x="7707960" y="2940120"/>
            <a:ext cx="210456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UMAP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TextBox 1"/>
          <p:cNvSpPr/>
          <p:nvPr/>
        </p:nvSpPr>
        <p:spPr>
          <a:xfrm>
            <a:off x="9660600" y="5346360"/>
            <a:ext cx="210456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PaCMAP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Wrapper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TextBox 4"/>
          <p:cNvSpPr/>
          <p:nvPr/>
        </p:nvSpPr>
        <p:spPr>
          <a:xfrm>
            <a:off x="7860240" y="5420880"/>
            <a:ext cx="210456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PaCMAP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65" name="Graphic 8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025840" y="1011600"/>
            <a:ext cx="1815480" cy="1815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66" name="Graphic 11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8121600" y="3429000"/>
            <a:ext cx="1794240" cy="1794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67" name="Graphic 13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9956880" y="1028520"/>
            <a:ext cx="1787400" cy="1787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68" name="Graphic 14" descr="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10002960" y="3429000"/>
            <a:ext cx="1787400" cy="178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9" name="Arrow: Down 15"/>
          <p:cNvSpPr/>
          <p:nvPr/>
        </p:nvSpPr>
        <p:spPr>
          <a:xfrm rot="5400000">
            <a:off x="7211880" y="3088440"/>
            <a:ext cx="519480" cy="6789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670" name="Picture 16" descr=""/>
          <p:cNvPicPr/>
          <p:nvPr/>
        </p:nvPicPr>
        <p:blipFill>
          <a:blip r:embed="rId10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71" name="" descr=""/>
          <p:cNvPicPr/>
          <p:nvPr/>
        </p:nvPicPr>
        <p:blipFill>
          <a:blip r:embed="rId11"/>
          <a:stretch/>
        </p:blipFill>
        <p:spPr>
          <a:xfrm>
            <a:off x="230760" y="617292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560" cy="638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fontScale="92500"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Ability to contrast unsupervised methods vs. “manual” ground-truth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3" name="Picture 41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74" name="" descr=""/>
          <p:cNvPicPr/>
          <p:nvPr/>
        </p:nvPicPr>
        <p:blipFill>
          <a:blip r:embed="rId2"/>
          <a:stretch/>
        </p:blipFill>
        <p:spPr>
          <a:xfrm>
            <a:off x="914400" y="1504080"/>
            <a:ext cx="10283400" cy="4207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75" name="" descr=""/>
          <p:cNvPicPr/>
          <p:nvPr/>
        </p:nvPicPr>
        <p:blipFill>
          <a:blip r:embed="rId3"/>
          <a:stretch/>
        </p:blipFill>
        <p:spPr>
          <a:xfrm>
            <a:off x="457560" y="617256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560" cy="638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Retrieving and re-enumerating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7" name="Picture 13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78" name="" descr=""/>
          <p:cNvPicPr/>
          <p:nvPr/>
        </p:nvPicPr>
        <p:blipFill>
          <a:blip r:embed="rId2"/>
          <a:stretch/>
        </p:blipFill>
        <p:spPr>
          <a:xfrm>
            <a:off x="457560" y="6172560"/>
            <a:ext cx="1366560" cy="354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79" name="" descr=""/>
          <p:cNvPicPr/>
          <p:nvPr/>
        </p:nvPicPr>
        <p:blipFill>
          <a:blip r:embed="rId3"/>
          <a:srcRect l="0" t="0" r="75396" b="50082"/>
          <a:stretch/>
        </p:blipFill>
        <p:spPr>
          <a:xfrm>
            <a:off x="685800" y="1438200"/>
            <a:ext cx="2615760" cy="2242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80" name="" descr=""/>
          <p:cNvPicPr/>
          <p:nvPr/>
        </p:nvPicPr>
        <p:blipFill>
          <a:blip r:embed="rId4"/>
          <a:srcRect l="0" t="0" r="0" b="46265"/>
          <a:stretch/>
        </p:blipFill>
        <p:spPr>
          <a:xfrm>
            <a:off x="3568680" y="2062800"/>
            <a:ext cx="3880080" cy="1879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81" name="" descr=""/>
          <p:cNvPicPr/>
          <p:nvPr/>
        </p:nvPicPr>
        <p:blipFill>
          <a:blip r:embed="rId5"/>
          <a:srcRect l="28789" t="0" r="0" b="79839"/>
          <a:stretch/>
        </p:blipFill>
        <p:spPr>
          <a:xfrm>
            <a:off x="5927760" y="4227480"/>
            <a:ext cx="5498640" cy="16027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682" name=""/>
          <p:cNvGrpSpPr/>
          <p:nvPr/>
        </p:nvGrpSpPr>
        <p:grpSpPr>
          <a:xfrm>
            <a:off x="1307160" y="3902760"/>
            <a:ext cx="1732320" cy="590040"/>
            <a:chOff x="1307160" y="3902760"/>
            <a:chExt cx="1732320" cy="590040"/>
          </a:xfrm>
        </p:grpSpPr>
        <p:sp>
          <p:nvSpPr>
            <p:cNvPr id="683" name=""/>
            <p:cNvSpPr/>
            <p:nvPr/>
          </p:nvSpPr>
          <p:spPr>
            <a:xfrm>
              <a:off x="1307160" y="3902760"/>
              <a:ext cx="1526040" cy="590040"/>
            </a:xfrm>
            <a:prstGeom prst="rect">
              <a:avLst/>
            </a:prstGeom>
            <a:solidFill>
              <a:srgbClr val="afd095">
                <a:alpha val="50000"/>
              </a:srgbClr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684" name=""/>
            <p:cNvSpPr/>
            <p:nvPr/>
          </p:nvSpPr>
          <p:spPr>
            <a:xfrm>
              <a:off x="1491480" y="3956760"/>
              <a:ext cx="154800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</a:pPr>
              <a:r>
                <a:rPr b="1" lang="en-US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rPr>
                <a:t>1) Gate</a:t>
              </a: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85" name=""/>
          <p:cNvSpPr/>
          <p:nvPr/>
        </p:nvSpPr>
        <p:spPr>
          <a:xfrm>
            <a:off x="4051800" y="1319040"/>
            <a:ext cx="3155400" cy="740160"/>
          </a:xfrm>
          <a:prstGeom prst="rect">
            <a:avLst/>
          </a:prstGeom>
          <a:solidFill>
            <a:srgbClr val="afd095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86" name=""/>
          <p:cNvSpPr/>
          <p:nvPr/>
        </p:nvSpPr>
        <p:spPr>
          <a:xfrm>
            <a:off x="7963200" y="3495960"/>
            <a:ext cx="2414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3) Re-enumerate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and plot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"/>
          <p:cNvSpPr/>
          <p:nvPr/>
        </p:nvSpPr>
        <p:spPr>
          <a:xfrm>
            <a:off x="3283920" y="1522080"/>
            <a:ext cx="547920" cy="642240"/>
          </a:xfrm>
          <a:prstGeom prst="line">
            <a:avLst/>
          </a:prstGeom>
          <a:ln w="91440">
            <a:solidFill>
              <a:srgbClr val="2a60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35720" rIns="135720" tIns="90720" bIns="9072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88" name=""/>
          <p:cNvSpPr/>
          <p:nvPr/>
        </p:nvSpPr>
        <p:spPr>
          <a:xfrm>
            <a:off x="6994800" y="3729240"/>
            <a:ext cx="565200" cy="626400"/>
          </a:xfrm>
          <a:prstGeom prst="line">
            <a:avLst/>
          </a:prstGeom>
          <a:ln w="91440">
            <a:solidFill>
              <a:srgbClr val="2a60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35720" rIns="135720" tIns="90720" bIns="9072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89" name=""/>
          <p:cNvSpPr/>
          <p:nvPr/>
        </p:nvSpPr>
        <p:spPr>
          <a:xfrm>
            <a:off x="4203360" y="1387080"/>
            <a:ext cx="32007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2) Retrieve manual-annotated gates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"/>
          <p:cNvSpPr/>
          <p:nvPr/>
        </p:nvSpPr>
        <p:spPr>
          <a:xfrm>
            <a:off x="7766640" y="3428640"/>
            <a:ext cx="2588760" cy="740160"/>
          </a:xfrm>
          <a:prstGeom prst="rect">
            <a:avLst/>
          </a:prstGeom>
          <a:solidFill>
            <a:srgbClr val="afd095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1" name="Picture 63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9400" cy="397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92" name="" descr=""/>
          <p:cNvPicPr/>
          <p:nvPr/>
        </p:nvPicPr>
        <p:blipFill>
          <a:blip r:embed="rId2"/>
          <a:stretch/>
        </p:blipFill>
        <p:spPr>
          <a:xfrm>
            <a:off x="457560" y="6172560"/>
            <a:ext cx="1364400" cy="352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3" name=""/>
          <p:cNvSpPr/>
          <p:nvPr/>
        </p:nvSpPr>
        <p:spPr>
          <a:xfrm>
            <a:off x="457200" y="89280"/>
            <a:ext cx="1120104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For each island, re-aggregate cells from each donor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4" name=""/>
          <p:cNvSpPr/>
          <p:nvPr/>
        </p:nvSpPr>
        <p:spPr>
          <a:xfrm>
            <a:off x="5011560" y="5800320"/>
            <a:ext cx="1599480" cy="348120"/>
          </a:xfrm>
          <a:prstGeom prst="rect">
            <a:avLst/>
          </a:prstGeom>
          <a:solidFill>
            <a:srgbClr val="afd09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5" name=""/>
          <p:cNvSpPr/>
          <p:nvPr/>
        </p:nvSpPr>
        <p:spPr>
          <a:xfrm>
            <a:off x="5011560" y="5739120"/>
            <a:ext cx="16174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DN T cells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96" name=""/>
          <p:cNvGrpSpPr/>
          <p:nvPr/>
        </p:nvGrpSpPr>
        <p:grpSpPr>
          <a:xfrm>
            <a:off x="838440" y="914400"/>
            <a:ext cx="10591200" cy="4545720"/>
            <a:chOff x="838440" y="914400"/>
            <a:chExt cx="10591200" cy="4545720"/>
          </a:xfrm>
        </p:grpSpPr>
        <p:pic>
          <p:nvPicPr>
            <p:cNvPr id="697" name="" descr=""/>
            <p:cNvPicPr/>
            <p:nvPr/>
          </p:nvPicPr>
          <p:blipFill>
            <a:blip r:embed="rId3"/>
            <a:stretch/>
          </p:blipFill>
          <p:spPr>
            <a:xfrm>
              <a:off x="838440" y="914400"/>
              <a:ext cx="10591200" cy="15084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698" name="" descr=""/>
            <p:cNvPicPr/>
            <p:nvPr/>
          </p:nvPicPr>
          <p:blipFill>
            <a:blip r:embed="rId4"/>
            <a:stretch/>
          </p:blipFill>
          <p:spPr>
            <a:xfrm>
              <a:off x="838440" y="2442600"/>
              <a:ext cx="10591200" cy="15087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699" name="" descr=""/>
            <p:cNvPicPr/>
            <p:nvPr/>
          </p:nvPicPr>
          <p:blipFill>
            <a:blip r:embed="rId5"/>
            <a:stretch/>
          </p:blipFill>
          <p:spPr>
            <a:xfrm>
              <a:off x="838440" y="3951720"/>
              <a:ext cx="10591200" cy="150840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0" name="Picture 109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9400" cy="397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01" name="" descr=""/>
          <p:cNvPicPr/>
          <p:nvPr/>
        </p:nvPicPr>
        <p:blipFill>
          <a:blip r:embed="rId2"/>
          <a:stretch/>
        </p:blipFill>
        <p:spPr>
          <a:xfrm>
            <a:off x="457560" y="6172560"/>
            <a:ext cx="1364400" cy="352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02" name="" descr=""/>
          <p:cNvPicPr/>
          <p:nvPr/>
        </p:nvPicPr>
        <p:blipFill>
          <a:blip r:embed="rId3"/>
          <a:stretch/>
        </p:blipFill>
        <p:spPr>
          <a:xfrm>
            <a:off x="4286520" y="914400"/>
            <a:ext cx="4399560" cy="4580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03" name="" descr=""/>
          <p:cNvPicPr/>
          <p:nvPr/>
        </p:nvPicPr>
        <p:blipFill>
          <a:blip r:embed="rId4"/>
          <a:stretch/>
        </p:blipFill>
        <p:spPr>
          <a:xfrm>
            <a:off x="457200" y="914400"/>
            <a:ext cx="3336840" cy="457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04" name="" descr=""/>
          <p:cNvPicPr/>
          <p:nvPr/>
        </p:nvPicPr>
        <p:blipFill>
          <a:blip r:embed="rId5"/>
          <a:stretch/>
        </p:blipFill>
        <p:spPr>
          <a:xfrm>
            <a:off x="9141840" y="914400"/>
            <a:ext cx="2287440" cy="457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5" name=""/>
          <p:cNvSpPr/>
          <p:nvPr/>
        </p:nvSpPr>
        <p:spPr>
          <a:xfrm>
            <a:off x="1143000" y="5569560"/>
            <a:ext cx="1732320" cy="409320"/>
          </a:xfrm>
          <a:prstGeom prst="rect">
            <a:avLst/>
          </a:prstGeom>
          <a:solidFill>
            <a:srgbClr val="ff4000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6" name=""/>
          <p:cNvSpPr/>
          <p:nvPr/>
        </p:nvSpPr>
        <p:spPr>
          <a:xfrm>
            <a:off x="5844960" y="5643000"/>
            <a:ext cx="1695600" cy="40932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7" name=""/>
          <p:cNvSpPr/>
          <p:nvPr/>
        </p:nvSpPr>
        <p:spPr>
          <a:xfrm>
            <a:off x="9601200" y="5594760"/>
            <a:ext cx="1599480" cy="348120"/>
          </a:xfrm>
          <a:prstGeom prst="rect">
            <a:avLst/>
          </a:prstGeom>
          <a:solidFill>
            <a:srgbClr val="afd09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"/>
          <p:cNvSpPr/>
          <p:nvPr/>
        </p:nvSpPr>
        <p:spPr>
          <a:xfrm>
            <a:off x="9655200" y="5558760"/>
            <a:ext cx="16174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DN T cells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9" name=""/>
          <p:cNvSpPr/>
          <p:nvPr/>
        </p:nvSpPr>
        <p:spPr>
          <a:xfrm>
            <a:off x="5844960" y="5664960"/>
            <a:ext cx="16956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CD8 T cells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0" name=""/>
          <p:cNvSpPr/>
          <p:nvPr/>
        </p:nvSpPr>
        <p:spPr>
          <a:xfrm>
            <a:off x="1164960" y="5569560"/>
            <a:ext cx="17103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CD4  T cells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1" name=""/>
          <p:cNvSpPr/>
          <p:nvPr/>
        </p:nvSpPr>
        <p:spPr>
          <a:xfrm>
            <a:off x="0" y="112680"/>
            <a:ext cx="121150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Cord blood T cells - Baseline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2" name="Picture 129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9400" cy="397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13" name="" descr=""/>
          <p:cNvPicPr/>
          <p:nvPr/>
        </p:nvPicPr>
        <p:blipFill>
          <a:blip r:embed="rId2"/>
          <a:stretch/>
        </p:blipFill>
        <p:spPr>
          <a:xfrm>
            <a:off x="457560" y="6172560"/>
            <a:ext cx="1364400" cy="352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14" name="" descr=""/>
          <p:cNvPicPr/>
          <p:nvPr/>
        </p:nvPicPr>
        <p:blipFill>
          <a:blip r:embed="rId3"/>
          <a:stretch/>
        </p:blipFill>
        <p:spPr>
          <a:xfrm>
            <a:off x="3531600" y="3257280"/>
            <a:ext cx="3415680" cy="2457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15" name="" descr=""/>
          <p:cNvPicPr/>
          <p:nvPr/>
        </p:nvPicPr>
        <p:blipFill>
          <a:blip r:embed="rId4"/>
          <a:stretch/>
        </p:blipFill>
        <p:spPr>
          <a:xfrm>
            <a:off x="3531600" y="914400"/>
            <a:ext cx="3256200" cy="234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6" name=""/>
          <p:cNvSpPr/>
          <p:nvPr/>
        </p:nvSpPr>
        <p:spPr>
          <a:xfrm>
            <a:off x="675000" y="201600"/>
            <a:ext cx="10983240" cy="5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CD4-CD8- Cord blood T cell subsets driving observed IFN</a:t>
            </a:r>
            <a:r>
              <a:rPr b="0" lang="en-US" sz="2800" strike="noStrike" u="sng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γ</a:t>
            </a:r>
            <a:r>
              <a:rPr b="1" lang="en-US" sz="2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r>
              <a:rPr b="1" lang="en-US" sz="2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increases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17" name="" descr=""/>
          <p:cNvPicPr/>
          <p:nvPr/>
        </p:nvPicPr>
        <p:blipFill>
          <a:blip r:embed="rId5"/>
          <a:stretch/>
        </p:blipFill>
        <p:spPr>
          <a:xfrm>
            <a:off x="7315200" y="914400"/>
            <a:ext cx="3446640" cy="412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8" name="Arrow: Down 5"/>
          <p:cNvSpPr/>
          <p:nvPr/>
        </p:nvSpPr>
        <p:spPr>
          <a:xfrm rot="5366400">
            <a:off x="10928880" y="1092600"/>
            <a:ext cx="546480" cy="91584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719" name="" descr=""/>
          <p:cNvPicPr/>
          <p:nvPr/>
        </p:nvPicPr>
        <p:blipFill>
          <a:blip r:embed="rId6"/>
          <a:stretch/>
        </p:blipFill>
        <p:spPr>
          <a:xfrm>
            <a:off x="457200" y="914400"/>
            <a:ext cx="2742840" cy="4571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0" name=""/>
          <p:cNvSpPr/>
          <p:nvPr/>
        </p:nvSpPr>
        <p:spPr>
          <a:xfrm>
            <a:off x="1600200" y="806400"/>
            <a:ext cx="685440" cy="4800240"/>
          </a:xfrm>
          <a:prstGeom prst="rect">
            <a:avLst/>
          </a:prstGeom>
          <a:noFill/>
          <a:ln w="36720">
            <a:solidFill>
              <a:srgbClr val="00a9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1" name="Picture 111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9400" cy="397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22" name="" descr=""/>
          <p:cNvPicPr/>
          <p:nvPr/>
        </p:nvPicPr>
        <p:blipFill>
          <a:blip r:embed="rId2"/>
          <a:stretch/>
        </p:blipFill>
        <p:spPr>
          <a:xfrm>
            <a:off x="457560" y="6172560"/>
            <a:ext cx="1364400" cy="352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23" name="" descr=""/>
          <p:cNvPicPr/>
          <p:nvPr/>
        </p:nvPicPr>
        <p:blipFill>
          <a:blip r:embed="rId3"/>
          <a:stretch/>
        </p:blipFill>
        <p:spPr>
          <a:xfrm>
            <a:off x="4358160" y="3429000"/>
            <a:ext cx="3656520" cy="2742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24" name="" descr=""/>
          <p:cNvPicPr/>
          <p:nvPr/>
        </p:nvPicPr>
        <p:blipFill>
          <a:blip r:embed="rId4"/>
          <a:stretch/>
        </p:blipFill>
        <p:spPr>
          <a:xfrm>
            <a:off x="4125600" y="842400"/>
            <a:ext cx="4137480" cy="2585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25" name="" descr=""/>
          <p:cNvPicPr/>
          <p:nvPr/>
        </p:nvPicPr>
        <p:blipFill>
          <a:blip r:embed="rId5"/>
          <a:stretch/>
        </p:blipFill>
        <p:spPr>
          <a:xfrm>
            <a:off x="8263800" y="806400"/>
            <a:ext cx="3656520" cy="2742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26" name="" descr=""/>
          <p:cNvPicPr/>
          <p:nvPr/>
        </p:nvPicPr>
        <p:blipFill>
          <a:blip r:embed="rId6"/>
          <a:stretch/>
        </p:blipFill>
        <p:spPr>
          <a:xfrm>
            <a:off x="548640" y="1029960"/>
            <a:ext cx="3336840" cy="457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7" name=""/>
          <p:cNvSpPr/>
          <p:nvPr/>
        </p:nvSpPr>
        <p:spPr>
          <a:xfrm>
            <a:off x="685800" y="89280"/>
            <a:ext cx="11201040" cy="5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Conventional Cord blood T cell subsets also show changes in CD62L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"/>
          <p:cNvSpPr/>
          <p:nvPr/>
        </p:nvSpPr>
        <p:spPr>
          <a:xfrm>
            <a:off x="2478600" y="914400"/>
            <a:ext cx="685440" cy="4800240"/>
          </a:xfrm>
          <a:prstGeom prst="rect">
            <a:avLst/>
          </a:prstGeom>
          <a:noFill/>
          <a:ln w="36720">
            <a:solidFill>
              <a:srgbClr val="00a9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TextBox 5"/>
          <p:cNvSpPr/>
          <p:nvPr/>
        </p:nvSpPr>
        <p:spPr>
          <a:xfrm>
            <a:off x="7269840" y="1225800"/>
            <a:ext cx="4732560" cy="56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Fun off-label uses thus far: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 Contrasting where “manually-gated” cells end up vs. our unsupervised methods (normalization, clustering, etc.)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Added benefit of looking-at-the-forest: Easy to identify badly cryopreserved specimens where cell populations were lost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0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560" cy="638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Functional and Iterative: plenty for everyone to dislike </a:t>
            </a: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Wingdings"/>
                <a:ea typeface="DejaVu Sans"/>
              </a:rPr>
              <a:t>:)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31" name="Picture 2" descr=""/>
          <p:cNvPicPr/>
          <p:nvPr/>
        </p:nvPicPr>
        <p:blipFill>
          <a:blip r:embed="rId1"/>
          <a:stretch/>
        </p:blipFill>
        <p:spPr>
          <a:xfrm>
            <a:off x="479160" y="1063080"/>
            <a:ext cx="6454080" cy="451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32" name="Picture 3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3" name=""/>
          <p:cNvSpPr/>
          <p:nvPr/>
        </p:nvSpPr>
        <p:spPr>
          <a:xfrm>
            <a:off x="7315200" y="1297800"/>
            <a:ext cx="4342320" cy="373320"/>
          </a:xfrm>
          <a:prstGeom prst="rect">
            <a:avLst/>
          </a:prstGeom>
          <a:solidFill>
            <a:srgbClr val="ff8000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"/>
          <p:cNvSpPr/>
          <p:nvPr/>
        </p:nvSpPr>
        <p:spPr>
          <a:xfrm>
            <a:off x="7315200" y="1949400"/>
            <a:ext cx="4342320" cy="159912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"/>
          <p:cNvSpPr/>
          <p:nvPr/>
        </p:nvSpPr>
        <p:spPr>
          <a:xfrm>
            <a:off x="7315200" y="3765600"/>
            <a:ext cx="4342320" cy="1599120"/>
          </a:xfrm>
          <a:prstGeom prst="rect">
            <a:avLst/>
          </a:prstGeom>
          <a:solidFill>
            <a:srgbClr val="dde8c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36" name="" descr=""/>
          <p:cNvPicPr/>
          <p:nvPr/>
        </p:nvPicPr>
        <p:blipFill>
          <a:blip r:embed="rId3"/>
          <a:stretch/>
        </p:blipFill>
        <p:spPr>
          <a:xfrm>
            <a:off x="230760" y="617292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560" cy="638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Are our high-dimensional analysis problems fixed?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38" name="Picture 62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39" name="Picture 48" descr=""/>
          <p:cNvPicPr/>
          <p:nvPr/>
        </p:nvPicPr>
        <p:blipFill>
          <a:blip r:embed="rId2"/>
          <a:srcRect l="19533" t="32525" r="20348" b="27776"/>
          <a:stretch/>
        </p:blipFill>
        <p:spPr>
          <a:xfrm>
            <a:off x="1098360" y="1371960"/>
            <a:ext cx="10328400" cy="3831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40" name="" descr=""/>
          <p:cNvPicPr/>
          <p:nvPr/>
        </p:nvPicPr>
        <p:blipFill>
          <a:blip r:embed="rId3"/>
          <a:stretch/>
        </p:blipFill>
        <p:spPr>
          <a:xfrm>
            <a:off x="230400" y="617256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08960" cy="6346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Semi-supervised Pipeline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42" name="Picture 45" descr=""/>
          <p:cNvPicPr/>
          <p:nvPr/>
        </p:nvPicPr>
        <p:blipFill>
          <a:blip r:embed="rId1"/>
          <a:stretch/>
        </p:blipFill>
        <p:spPr>
          <a:xfrm>
            <a:off x="2061000" y="491400"/>
            <a:ext cx="8265240" cy="5784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43" name="Picture 47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7960" cy="396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44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3840" cy="1316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What good is any tool if the community is not able to use it?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46" name="Picture 50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6520" cy="394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47" name="" descr=""/>
          <p:cNvPicPr/>
          <p:nvPr/>
        </p:nvPicPr>
        <p:blipFill>
          <a:blip r:embed="rId2"/>
          <a:stretch/>
        </p:blipFill>
        <p:spPr>
          <a:xfrm>
            <a:off x="457200" y="6172200"/>
            <a:ext cx="1366560" cy="35496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748" name=""/>
          <p:cNvGrpSpPr/>
          <p:nvPr/>
        </p:nvGrpSpPr>
        <p:grpSpPr>
          <a:xfrm>
            <a:off x="5486400" y="1150920"/>
            <a:ext cx="6255000" cy="4338000"/>
            <a:chOff x="5486400" y="1150920"/>
            <a:chExt cx="6255000" cy="4338000"/>
          </a:xfrm>
        </p:grpSpPr>
        <p:pic>
          <p:nvPicPr>
            <p:cNvPr id="749" name="" descr=""/>
            <p:cNvPicPr/>
            <p:nvPr/>
          </p:nvPicPr>
          <p:blipFill>
            <a:blip r:embed="rId3"/>
            <a:stretch/>
          </p:blipFill>
          <p:spPr>
            <a:xfrm>
              <a:off x="5486400" y="1150920"/>
              <a:ext cx="6255000" cy="43380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750" name="" descr=""/>
            <p:cNvPicPr/>
            <p:nvPr/>
          </p:nvPicPr>
          <p:blipFill>
            <a:blip r:embed="rId4"/>
            <a:stretch/>
          </p:blipFill>
          <p:spPr>
            <a:xfrm>
              <a:off x="8780760" y="1379520"/>
              <a:ext cx="2341080" cy="256968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751" name=""/>
          <p:cNvSpPr/>
          <p:nvPr/>
        </p:nvSpPr>
        <p:spPr>
          <a:xfrm>
            <a:off x="444600" y="1150920"/>
            <a:ext cx="4566600" cy="456300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52" name="Rectangle 9"/>
          <p:cNvSpPr/>
          <p:nvPr/>
        </p:nvSpPr>
        <p:spPr>
          <a:xfrm>
            <a:off x="415440" y="1186920"/>
            <a:ext cx="4612680" cy="447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Few resources to learn Cytometry in R to begin with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Those that exist aimed at those with intermediate-advanced R skills, not beginners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Know-how concentrated at a few institutions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Most self-learning attempts end in frustration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3840" cy="1316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Cytometry in R: A free weekly course for flow cytometrist</a:t>
            </a:r>
            <a:br>
              <a:rPr sz="3200"/>
            </a:b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with no-to-little coding experience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4" name="Picture 51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6520" cy="394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55" name="" descr=""/>
          <p:cNvPicPr/>
          <p:nvPr/>
        </p:nvPicPr>
        <p:blipFill>
          <a:blip r:embed="rId2"/>
          <a:stretch/>
        </p:blipFill>
        <p:spPr>
          <a:xfrm>
            <a:off x="3500640" y="1081800"/>
            <a:ext cx="6820200" cy="151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56" name="" descr=""/>
          <p:cNvPicPr/>
          <p:nvPr/>
        </p:nvPicPr>
        <p:blipFill>
          <a:blip r:embed="rId3"/>
          <a:stretch/>
        </p:blipFill>
        <p:spPr>
          <a:xfrm>
            <a:off x="3483720" y="2774160"/>
            <a:ext cx="6837120" cy="401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57" name="Picture 52" descr=""/>
          <p:cNvPicPr/>
          <p:nvPr/>
        </p:nvPicPr>
        <p:blipFill>
          <a:blip r:embed="rId4"/>
          <a:stretch/>
        </p:blipFill>
        <p:spPr>
          <a:xfrm>
            <a:off x="757800" y="1094760"/>
            <a:ext cx="1972440" cy="1453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58" name="Graphic 2" descr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964800" y="3429000"/>
            <a:ext cx="1355040" cy="119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9" name="PlaceHolder 27"/>
          <p:cNvSpPr/>
          <p:nvPr/>
        </p:nvSpPr>
        <p:spPr>
          <a:xfrm>
            <a:off x="613800" y="4836600"/>
            <a:ext cx="1549440" cy="104652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rm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Website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60" name="" descr=""/>
          <p:cNvPicPr/>
          <p:nvPr/>
        </p:nvPicPr>
        <p:blipFill>
          <a:blip r:embed="rId7"/>
          <a:stretch/>
        </p:blipFill>
        <p:spPr>
          <a:xfrm>
            <a:off x="457200" y="617220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"/>
          <p:cNvSpPr/>
          <p:nvPr/>
        </p:nvSpPr>
        <p:spPr>
          <a:xfrm>
            <a:off x="6629400" y="1467000"/>
            <a:ext cx="4337640" cy="37850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762" name="" descr=""/>
          <p:cNvPicPr/>
          <p:nvPr/>
        </p:nvPicPr>
        <p:blipFill>
          <a:blip r:embed="rId1"/>
          <a:stretch/>
        </p:blipFill>
        <p:spPr>
          <a:xfrm>
            <a:off x="228600" y="868320"/>
            <a:ext cx="5708880" cy="552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3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3120" cy="13161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YouTube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4" name="Rectangle 70"/>
          <p:cNvSpPr/>
          <p:nvPr/>
        </p:nvSpPr>
        <p:spPr>
          <a:xfrm>
            <a:off x="6665400" y="1467000"/>
            <a:ext cx="4595040" cy="37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Three live-streams a week (accommodating different timezones and schedules)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Recordings available immediately after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Best of the weekly livestreams added to the playlist, cutting down on editing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65" name="Picture 79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5800" cy="393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66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5840" cy="354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"/>
          <p:cNvSpPr/>
          <p:nvPr/>
        </p:nvSpPr>
        <p:spPr>
          <a:xfrm>
            <a:off x="252000" y="1238040"/>
            <a:ext cx="4650480" cy="42422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68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3120" cy="13161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Website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9" name="Rectangle 71"/>
          <p:cNvSpPr/>
          <p:nvPr/>
        </p:nvSpPr>
        <p:spPr>
          <a:xfrm>
            <a:off x="307440" y="1443600"/>
            <a:ext cx="4595040" cy="37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Created with Quarto, hosted via GitHub pages.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Code, code outputs, screenshots and explanations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Searchable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New weekly material added as a new .qmd file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70" name="Picture 80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5800" cy="393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71" name="" descr=""/>
          <p:cNvPicPr/>
          <p:nvPr/>
        </p:nvPicPr>
        <p:blipFill>
          <a:blip r:embed="rId2"/>
          <a:stretch/>
        </p:blipFill>
        <p:spPr>
          <a:xfrm>
            <a:off x="5029200" y="1062000"/>
            <a:ext cx="5397480" cy="4417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72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5840" cy="354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"/>
          <p:cNvSpPr/>
          <p:nvPr/>
        </p:nvSpPr>
        <p:spPr>
          <a:xfrm>
            <a:off x="6773760" y="914400"/>
            <a:ext cx="4650480" cy="47948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74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3120" cy="13161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GitHub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5" name="Rectangle 72"/>
          <p:cNvSpPr/>
          <p:nvPr/>
        </p:nvSpPr>
        <p:spPr>
          <a:xfrm>
            <a:off x="6828480" y="1048680"/>
            <a:ext cx="4595040" cy="447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 and datasets available via the GitHub repository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Course participants start course by creating GitHub account and forking the repository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After Positron is linked to GitHub account, pull locally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When new material posted each week, sync and pull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76" name="Picture 81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5800" cy="393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77" name="" descr=""/>
          <p:cNvPicPr/>
          <p:nvPr/>
        </p:nvPicPr>
        <p:blipFill>
          <a:blip r:embed="rId2"/>
          <a:stretch/>
        </p:blipFill>
        <p:spPr>
          <a:xfrm>
            <a:off x="457200" y="914400"/>
            <a:ext cx="6040800" cy="4809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"/>
          <p:cNvSpPr/>
          <p:nvPr/>
        </p:nvSpPr>
        <p:spPr>
          <a:xfrm>
            <a:off x="685800" y="2561400"/>
            <a:ext cx="4650480" cy="13658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79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3120" cy="13161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Discussion Forum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0" name="Rectangle 73"/>
          <p:cNvSpPr/>
          <p:nvPr/>
        </p:nvSpPr>
        <p:spPr>
          <a:xfrm>
            <a:off x="717480" y="2561400"/>
            <a:ext cx="459504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GitHub Discussions page has been repurposed as a community forum for questions, etc.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81" name="Picture 82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5800" cy="393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82" name="" descr=""/>
          <p:cNvPicPr/>
          <p:nvPr/>
        </p:nvPicPr>
        <p:blipFill>
          <a:blip r:embed="rId2"/>
          <a:stretch/>
        </p:blipFill>
        <p:spPr>
          <a:xfrm>
            <a:off x="5591520" y="914400"/>
            <a:ext cx="5832720" cy="5038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"/>
          <p:cNvSpPr/>
          <p:nvPr/>
        </p:nvSpPr>
        <p:spPr>
          <a:xfrm>
            <a:off x="2569320" y="4523400"/>
            <a:ext cx="6624000" cy="159480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84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3840" cy="1316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Half-way through this passion project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5" name="Rectangle 10"/>
          <p:cNvSpPr/>
          <p:nvPr/>
        </p:nvSpPr>
        <p:spPr>
          <a:xfrm>
            <a:off x="2569320" y="4523400"/>
            <a:ext cx="702540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Wrapping up Cytometry Core module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Gathering steam to start on the Unsupervised Analysis section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86" name="Picture 53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6520" cy="394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87" name="" descr=""/>
          <p:cNvPicPr/>
          <p:nvPr/>
        </p:nvPicPr>
        <p:blipFill>
          <a:blip r:embed="rId2"/>
          <a:stretch/>
        </p:blipFill>
        <p:spPr>
          <a:xfrm>
            <a:off x="228600" y="914400"/>
            <a:ext cx="11655000" cy="3442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88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560" cy="354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9" name=""/>
          <p:cNvSpPr/>
          <p:nvPr/>
        </p:nvSpPr>
        <p:spPr>
          <a:xfrm rot="19411800">
            <a:off x="10550520" y="793440"/>
            <a:ext cx="456120" cy="9133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5983b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"/>
          <p:cNvSpPr/>
          <p:nvPr/>
        </p:nvSpPr>
        <p:spPr>
          <a:xfrm>
            <a:off x="349200" y="4885200"/>
            <a:ext cx="2164320" cy="60012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91" name=""/>
          <p:cNvSpPr/>
          <p:nvPr/>
        </p:nvSpPr>
        <p:spPr>
          <a:xfrm>
            <a:off x="10395000" y="2685600"/>
            <a:ext cx="1366200" cy="68040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92" name=""/>
          <p:cNvSpPr/>
          <p:nvPr/>
        </p:nvSpPr>
        <p:spPr>
          <a:xfrm>
            <a:off x="8458200" y="2649600"/>
            <a:ext cx="1366200" cy="68040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93" name=""/>
          <p:cNvSpPr/>
          <p:nvPr/>
        </p:nvSpPr>
        <p:spPr>
          <a:xfrm>
            <a:off x="4102200" y="3828600"/>
            <a:ext cx="3897720" cy="211392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94" name=""/>
          <p:cNvSpPr/>
          <p:nvPr/>
        </p:nvSpPr>
        <p:spPr>
          <a:xfrm>
            <a:off x="349200" y="3803400"/>
            <a:ext cx="2161800" cy="91080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95" name=""/>
          <p:cNvSpPr/>
          <p:nvPr/>
        </p:nvSpPr>
        <p:spPr>
          <a:xfrm>
            <a:off x="349200" y="1204200"/>
            <a:ext cx="3423600" cy="68220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96" name=""/>
          <p:cNvSpPr/>
          <p:nvPr/>
        </p:nvSpPr>
        <p:spPr>
          <a:xfrm>
            <a:off x="338400" y="2118600"/>
            <a:ext cx="3423600" cy="159480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97" name="PlaceHolder 1"/>
          <p:cNvSpPr>
            <a:spLocks noGrp="1"/>
          </p:cNvSpPr>
          <p:nvPr>
            <p:ph type="title"/>
          </p:nvPr>
        </p:nvSpPr>
        <p:spPr>
          <a:xfrm>
            <a:off x="3886200" y="46080"/>
            <a:ext cx="4563360" cy="1316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Acknowledgments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98" name="Picture 54" descr=""/>
          <p:cNvPicPr/>
          <p:nvPr/>
        </p:nvPicPr>
        <p:blipFill>
          <a:blip r:embed="rId1"/>
          <a:stretch/>
        </p:blipFill>
        <p:spPr>
          <a:xfrm>
            <a:off x="9290520" y="3601800"/>
            <a:ext cx="2362680" cy="421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99" name="Picture 55" descr=""/>
          <p:cNvPicPr/>
          <p:nvPr/>
        </p:nvPicPr>
        <p:blipFill>
          <a:blip r:embed="rId2"/>
          <a:stretch/>
        </p:blipFill>
        <p:spPr>
          <a:xfrm>
            <a:off x="9673200" y="4028400"/>
            <a:ext cx="1981440" cy="399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0" name="Content Placeholder 1"/>
          <p:cNvSpPr/>
          <p:nvPr/>
        </p:nvSpPr>
        <p:spPr>
          <a:xfrm>
            <a:off x="228600" y="3803400"/>
            <a:ext cx="3971160" cy="182016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marL="108000" defTabSz="914400">
              <a:lnSpc>
                <a:spcPct val="10000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Cristiana Cairo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Kirsten E. Lyke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Xiaoxuan Fan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1" name="TextBox 23"/>
          <p:cNvSpPr/>
          <p:nvPr/>
        </p:nvSpPr>
        <p:spPr>
          <a:xfrm>
            <a:off x="255240" y="1215000"/>
            <a:ext cx="33987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108000" defTabSz="914400">
              <a:lnSpc>
                <a:spcPct val="10000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All mothers and their infants, and their communities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2" name="TextBox 24"/>
          <p:cNvSpPr/>
          <p:nvPr/>
        </p:nvSpPr>
        <p:spPr>
          <a:xfrm>
            <a:off x="302400" y="2203200"/>
            <a:ext cx="3398760" cy="14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108000" defTabSz="914400">
              <a:lnSpc>
                <a:spcPct val="10000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All the open-source contributors, developers, and maintainers, that collectively made the tool sets without which all of this would not be feasible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3" name="Content Placeholder 3"/>
          <p:cNvSpPr/>
          <p:nvPr/>
        </p:nvSpPr>
        <p:spPr>
          <a:xfrm>
            <a:off x="9829800" y="1486800"/>
            <a:ext cx="3971160" cy="182016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marL="108000" defTabSz="914400">
              <a:lnSpc>
                <a:spcPct val="10000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algn="r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algn="r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algn="r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4" name="TextBox 25"/>
          <p:cNvSpPr/>
          <p:nvPr/>
        </p:nvSpPr>
        <p:spPr>
          <a:xfrm>
            <a:off x="8001000" y="2846880"/>
            <a:ext cx="2255760" cy="41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marL="108000" algn="ctr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Cytometry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algn="ctr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Discord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5" name="TextBox 26"/>
          <p:cNvSpPr/>
          <p:nvPr/>
        </p:nvSpPr>
        <p:spPr>
          <a:xfrm>
            <a:off x="10287000" y="2895120"/>
            <a:ext cx="1569960" cy="41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Bioconductor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Zulip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06" name="Picture 56" descr=""/>
          <p:cNvPicPr/>
          <p:nvPr/>
        </p:nvPicPr>
        <p:blipFill>
          <a:blip r:embed="rId3"/>
          <a:stretch/>
        </p:blipFill>
        <p:spPr>
          <a:xfrm>
            <a:off x="9144000" y="5715000"/>
            <a:ext cx="2742120" cy="1075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07" name="Graphic 6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218880" y="5771520"/>
            <a:ext cx="3437640" cy="89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8" name="TextBox 27"/>
          <p:cNvSpPr/>
          <p:nvPr/>
        </p:nvSpPr>
        <p:spPr>
          <a:xfrm>
            <a:off x="228600" y="5065200"/>
            <a:ext cx="349992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7080" bIns="37080" anchor="t">
            <a:spAutoFit/>
          </a:bodyPr>
          <a:p>
            <a:pPr marL="108000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Daniela Franco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Natarajan Ayithan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09" name="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8350200" y="1036800"/>
            <a:ext cx="1594800" cy="1594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10" name="" descr="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10251000" y="1062000"/>
            <a:ext cx="1594800" cy="1594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11" name="Picture 57" descr="A picture containing text, person, indoor, working&#10;&#10;Description automatically generated"/>
          <p:cNvPicPr/>
          <p:nvPr/>
        </p:nvPicPr>
        <p:blipFill>
          <a:blip r:embed="rId10"/>
          <a:stretch/>
        </p:blipFill>
        <p:spPr>
          <a:xfrm>
            <a:off x="4305240" y="1234080"/>
            <a:ext cx="3578040" cy="2429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12" name="Picture 58" descr=""/>
          <p:cNvPicPr/>
          <p:nvPr/>
        </p:nvPicPr>
        <p:blipFill>
          <a:blip r:embed="rId11"/>
          <a:stretch/>
        </p:blipFill>
        <p:spPr>
          <a:xfrm>
            <a:off x="156600" y="122400"/>
            <a:ext cx="3578040" cy="936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13" name="Picture 59" descr=""/>
          <p:cNvPicPr/>
          <p:nvPr/>
        </p:nvPicPr>
        <p:blipFill>
          <a:blip r:embed="rId12"/>
          <a:stretch/>
        </p:blipFill>
        <p:spPr>
          <a:xfrm>
            <a:off x="9493200" y="109080"/>
            <a:ext cx="2513520" cy="94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4" name="Rectangle 14"/>
          <p:cNvSpPr/>
          <p:nvPr/>
        </p:nvSpPr>
        <p:spPr>
          <a:xfrm>
            <a:off x="4138200" y="3850200"/>
            <a:ext cx="3741120" cy="20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U01 HD092309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This publication was supported by funds through Maryland Department of Health’s Cigarette Restitution Fund Program – CH- 649-CRF and the National Cancer Institute – Cancer Center Support Grant (CCSG) – P30CA134274.d Service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5" name="Rectangle 15"/>
          <p:cNvSpPr/>
          <p:nvPr/>
        </p:nvSpPr>
        <p:spPr>
          <a:xfrm>
            <a:off x="8602200" y="4417200"/>
            <a:ext cx="37411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www.linkedin.com/in/david-rach/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16" name="" descr=""/>
          <p:cNvPicPr/>
          <p:nvPr/>
        </p:nvPicPr>
        <p:blipFill>
          <a:blip r:embed="rId13"/>
          <a:stretch/>
        </p:blipFill>
        <p:spPr>
          <a:xfrm>
            <a:off x="8769600" y="4453200"/>
            <a:ext cx="401040" cy="352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7" name=""/>
          <p:cNvSpPr/>
          <p:nvPr/>
        </p:nvSpPr>
        <p:spPr>
          <a:xfrm>
            <a:off x="8686800" y="5065200"/>
            <a:ext cx="3091320" cy="42012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18" name=""/>
          <p:cNvSpPr/>
          <p:nvPr/>
        </p:nvSpPr>
        <p:spPr>
          <a:xfrm>
            <a:off x="8686800" y="5101200"/>
            <a:ext cx="30067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Want to collaborate? Reach out!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PlaceHolder 1"/>
          <p:cNvSpPr>
            <a:spLocks noGrp="1"/>
          </p:cNvSpPr>
          <p:nvPr>
            <p:ph type="title"/>
          </p:nvPr>
        </p:nvSpPr>
        <p:spPr>
          <a:xfrm>
            <a:off x="1143000" y="-182520"/>
            <a:ext cx="10052640" cy="13197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Questions?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0" name="Rectangle 74"/>
          <p:cNvSpPr/>
          <p:nvPr/>
        </p:nvSpPr>
        <p:spPr>
          <a:xfrm>
            <a:off x="8557200" y="2791800"/>
            <a:ext cx="2966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UMGCCC FCSR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InstrumentQC dashboard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1" name="Rectangle 75"/>
          <p:cNvSpPr/>
          <p:nvPr/>
        </p:nvSpPr>
        <p:spPr>
          <a:xfrm>
            <a:off x="4991400" y="5257800"/>
            <a:ext cx="2966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YouTube </a:t>
            </a: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@CytometryInR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2" name="Rectangle 76"/>
          <p:cNvSpPr/>
          <p:nvPr/>
        </p:nvSpPr>
        <p:spPr>
          <a:xfrm>
            <a:off x="4991400" y="2791800"/>
            <a:ext cx="29660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Website - CytometryInR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3" name="Rectangle 77"/>
          <p:cNvSpPr/>
          <p:nvPr/>
        </p:nvSpPr>
        <p:spPr>
          <a:xfrm>
            <a:off x="876600" y="2791800"/>
            <a:ext cx="2966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Luciernaga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4" name="Rectangle 78"/>
          <p:cNvSpPr/>
          <p:nvPr/>
        </p:nvSpPr>
        <p:spPr>
          <a:xfrm>
            <a:off x="876600" y="5257800"/>
            <a:ext cx="2966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Coereba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5" name="Rectangle 79"/>
          <p:cNvSpPr/>
          <p:nvPr/>
        </p:nvSpPr>
        <p:spPr>
          <a:xfrm>
            <a:off x="8557200" y="5029200"/>
            <a:ext cx="2966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InstrumentQC How-To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26" name="Picture 83" descr=""/>
          <p:cNvPicPr/>
          <p:nvPr/>
        </p:nvPicPr>
        <p:blipFill>
          <a:blip r:embed="rId1"/>
          <a:stretch/>
        </p:blipFill>
        <p:spPr>
          <a:xfrm>
            <a:off x="4023000" y="3578400"/>
            <a:ext cx="2105640" cy="1594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27" name="Picture 84" descr=""/>
          <p:cNvPicPr/>
          <p:nvPr/>
        </p:nvPicPr>
        <p:blipFill>
          <a:blip r:embed="rId2"/>
          <a:stretch/>
        </p:blipFill>
        <p:spPr>
          <a:xfrm>
            <a:off x="171720" y="3596400"/>
            <a:ext cx="1842120" cy="1594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28" name="Picture 85" descr=""/>
          <p:cNvPicPr/>
          <p:nvPr/>
        </p:nvPicPr>
        <p:blipFill>
          <a:blip r:embed="rId3"/>
          <a:stretch/>
        </p:blipFill>
        <p:spPr>
          <a:xfrm>
            <a:off x="8557200" y="3673440"/>
            <a:ext cx="1365840" cy="1578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29" name="Picture 86" descr=""/>
          <p:cNvPicPr/>
          <p:nvPr/>
        </p:nvPicPr>
        <p:blipFill>
          <a:blip r:embed="rId4"/>
          <a:stretch/>
        </p:blipFill>
        <p:spPr>
          <a:xfrm>
            <a:off x="208080" y="1071000"/>
            <a:ext cx="1841760" cy="1594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30" name="Picture 88" descr=""/>
          <p:cNvPicPr/>
          <p:nvPr/>
        </p:nvPicPr>
        <p:blipFill>
          <a:blip r:embed="rId5"/>
          <a:srcRect l="33723" t="6681" r="35970" b="0"/>
          <a:stretch/>
        </p:blipFill>
        <p:spPr>
          <a:xfrm rot="24000">
            <a:off x="8187120" y="1120320"/>
            <a:ext cx="1953000" cy="1580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31" name="Picture 89" descr=""/>
          <p:cNvPicPr/>
          <p:nvPr/>
        </p:nvPicPr>
        <p:blipFill>
          <a:blip r:embed="rId6"/>
          <a:stretch/>
        </p:blipFill>
        <p:spPr>
          <a:xfrm>
            <a:off x="4023000" y="1035000"/>
            <a:ext cx="2105640" cy="1594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32" name="Graphic 20" descr="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2140200" y="3429000"/>
            <a:ext cx="1823040" cy="1823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33" name="Graphic 23" descr=""/>
          <p:cNvPicPr/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6134400" y="3429000"/>
            <a:ext cx="1823040" cy="1823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34" name="Graphic 25" descr=""/>
          <p:cNvPicPr/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/>
        </p:blipFill>
        <p:spPr>
          <a:xfrm>
            <a:off x="2140200" y="927000"/>
            <a:ext cx="1823040" cy="1823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35" name="Graphic 26" descr=""/>
          <p:cNvPicPr/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/>
        </p:blipFill>
        <p:spPr>
          <a:xfrm>
            <a:off x="10121400" y="963000"/>
            <a:ext cx="1823040" cy="1823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36" name="Graphic 27" descr=""/>
          <p:cNvPicPr/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/>
        </p:blipFill>
        <p:spPr>
          <a:xfrm>
            <a:off x="10157400" y="3537000"/>
            <a:ext cx="1687320" cy="1687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37" name="Graphic 28" descr=""/>
          <p:cNvPicPr/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/>
        </p:blipFill>
        <p:spPr>
          <a:xfrm>
            <a:off x="6134400" y="963000"/>
            <a:ext cx="1823040" cy="1823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38" name="" descr=""/>
          <p:cNvPicPr/>
          <p:nvPr/>
        </p:nvPicPr>
        <p:blipFill>
          <a:blip r:embed="rId19"/>
          <a:stretch/>
        </p:blipFill>
        <p:spPr>
          <a:xfrm>
            <a:off x="230760" y="6172920"/>
            <a:ext cx="1364400" cy="352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39" name="Picture 90" descr=""/>
          <p:cNvPicPr/>
          <p:nvPr/>
        </p:nvPicPr>
        <p:blipFill>
          <a:blip r:embed="rId20"/>
          <a:stretch/>
        </p:blipFill>
        <p:spPr>
          <a:xfrm>
            <a:off x="10435680" y="6172560"/>
            <a:ext cx="1134360" cy="392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"/>
          <p:cNvSpPr/>
          <p:nvPr/>
        </p:nvSpPr>
        <p:spPr>
          <a:xfrm>
            <a:off x="8217720" y="3377520"/>
            <a:ext cx="3440520" cy="409320"/>
          </a:xfrm>
          <a:prstGeom prst="rect">
            <a:avLst/>
          </a:prstGeom>
          <a:solidFill>
            <a:srgbClr val="ff4000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1" name=""/>
          <p:cNvSpPr/>
          <p:nvPr/>
        </p:nvSpPr>
        <p:spPr>
          <a:xfrm>
            <a:off x="8181720" y="4063320"/>
            <a:ext cx="3476520" cy="40932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42" name=""/>
          <p:cNvSpPr/>
          <p:nvPr/>
        </p:nvSpPr>
        <p:spPr>
          <a:xfrm>
            <a:off x="8217720" y="3399120"/>
            <a:ext cx="344052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CD4 T cells → 16241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3" name="Rectangle 80"/>
          <p:cNvSpPr/>
          <p:nvPr/>
        </p:nvSpPr>
        <p:spPr>
          <a:xfrm>
            <a:off x="7893720" y="4063320"/>
            <a:ext cx="3764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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CD8 T cells → 12466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4" name=""/>
          <p:cNvSpPr/>
          <p:nvPr/>
        </p:nvSpPr>
        <p:spPr>
          <a:xfrm>
            <a:off x="8229600" y="1371600"/>
            <a:ext cx="3428640" cy="730080"/>
          </a:xfrm>
          <a:prstGeom prst="rect">
            <a:avLst/>
          </a:prstGeom>
          <a:solidFill>
            <a:srgbClr val="6b5e9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845" name="Picture 49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9400" cy="397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46" name="" descr=""/>
          <p:cNvPicPr/>
          <p:nvPr/>
        </p:nvPicPr>
        <p:blipFill>
          <a:blip r:embed="rId2"/>
          <a:stretch/>
        </p:blipFill>
        <p:spPr>
          <a:xfrm>
            <a:off x="457560" y="6172560"/>
            <a:ext cx="1364400" cy="352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47" name="" descr=""/>
          <p:cNvPicPr/>
          <p:nvPr/>
        </p:nvPicPr>
        <p:blipFill>
          <a:blip r:embed="rId3"/>
          <a:stretch/>
        </p:blipFill>
        <p:spPr>
          <a:xfrm>
            <a:off x="456840" y="1191600"/>
            <a:ext cx="7543440" cy="4114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48" name=""/>
          <p:cNvSpPr/>
          <p:nvPr/>
        </p:nvSpPr>
        <p:spPr>
          <a:xfrm>
            <a:off x="0" y="89280"/>
            <a:ext cx="121914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Biology is (fortunately) not just math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9" name="Rectangle 81"/>
          <p:cNvSpPr/>
          <p:nvPr/>
        </p:nvSpPr>
        <p:spPr>
          <a:xfrm>
            <a:off x="8229600" y="1371600"/>
            <a:ext cx="34264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29-color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               → 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536 million (theory)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0" name=""/>
          <p:cNvSpPr/>
          <p:nvPr/>
        </p:nvSpPr>
        <p:spPr>
          <a:xfrm>
            <a:off x="8196480" y="4665600"/>
            <a:ext cx="3461760" cy="576720"/>
          </a:xfrm>
          <a:prstGeom prst="rect">
            <a:avLst/>
          </a:prstGeom>
          <a:solidFill>
            <a:srgbClr val="afd09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1" name=""/>
          <p:cNvSpPr/>
          <p:nvPr/>
        </p:nvSpPr>
        <p:spPr>
          <a:xfrm>
            <a:off x="8229600" y="4701600"/>
            <a:ext cx="34286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DN T cells →    9035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2" name=""/>
          <p:cNvSpPr/>
          <p:nvPr/>
        </p:nvSpPr>
        <p:spPr>
          <a:xfrm>
            <a:off x="8000640" y="2514600"/>
            <a:ext cx="384192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When actually exploring our panels dimensional space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622</TotalTime>
  <Application>LibreOffice/25.2.3.2$Linux_X86_64 LibreOffice_project/520$Build-2</Application>
  <AppVersion>15.0000</AppVersion>
  <Words>1146</Words>
  <Paragraphs>268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2025-07-21T11:58:18Z</dcterms:created>
  <dc:creator>Thomas Evans</dc:creator>
  <dc:description/>
  <dc:language>en-US</dc:language>
  <cp:lastModifiedBy/>
  <dcterms:modified xsi:type="dcterms:W3CDTF">2026-10-27T19:55:12Z</dcterms:modified>
  <cp:revision>65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0x010100804A9A38EF1C6344A4E9D5FEC9AF05B5</vt:lpwstr>
  </property>
  <property fmtid="{D5CDD505-2E9C-101B-9397-08002B2CF9AE}" pid="3" name="Notes">
    <vt:i4>3</vt:i4>
  </property>
  <property fmtid="{D5CDD505-2E9C-101B-9397-08002B2CF9AE}" pid="4" name="PresentationFormat">
    <vt:lpwstr>Widescreen</vt:lpwstr>
  </property>
  <property fmtid="{D5CDD505-2E9C-101B-9397-08002B2CF9AE}" pid="5" name="Slides">
    <vt:i4>39</vt:i4>
  </property>
  <property fmtid="{D5CDD505-2E9C-101B-9397-08002B2CF9AE}" pid="6" name="_dlc_DocIdItemGuid">
    <vt:lpwstr>4d3e5825-e8bc-4995-b9ad-4f8ee15e5c87</vt:lpwstr>
  </property>
</Properties>
</file>