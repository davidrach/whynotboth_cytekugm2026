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5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1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9.png" ContentType="image/png"/>
  <Override PartName="/ppt/media/image87.png" ContentType="image/png"/>
  <Override PartName="/ppt/media/image35.svg" ContentType="image/svg"/>
  <Override PartName="/ppt/media/image116.png" ContentType="image/png"/>
  <Override PartName="/ppt/media/image16.png" ContentType="image/png"/>
  <Override PartName="/ppt/media/image132.svg" ContentType="image/svg"/>
  <Override PartName="/ppt/media/image114.png" ContentType="image/png"/>
  <Override PartName="/ppt/media/image14.png" ContentType="image/png"/>
  <Override PartName="/ppt/media/image30.svg" ContentType="image/svg"/>
  <Override PartName="/ppt/media/image130.svg" ContentType="image/svg"/>
  <Override PartName="/ppt/media/image112.png" ContentType="image/png"/>
  <Override PartName="/ppt/media/image180.png" ContentType="image/png"/>
  <Override PartName="/ppt/media/image110.png" ContentType="image/png"/>
  <Override PartName="/ppt/media/image10.png" ContentType="image/png"/>
  <Override PartName="/ppt/media/image109.png" ContentType="image/png"/>
  <Override PartName="/ppt/media/image77.png" ContentType="image/png"/>
  <Override PartName="/ppt/media/image108.png" ContentType="image/png"/>
  <Override PartName="/ppt/media/image92.svg" ContentType="image/svg"/>
  <Override PartName="/ppt/media/image124.svg" ContentType="image/svg"/>
  <Override PartName="/ppt/media/image176.png" ContentType="image/png"/>
  <Override PartName="/ppt/media/image100.svg" ContentType="image/svg"/>
  <Override PartName="/ppt/media/image6.png" ContentType="image/png"/>
  <Override PartName="/ppt/media/image52.png" ContentType="image/png"/>
  <Override PartName="/ppt/media/image152.png" ContentType="image/png"/>
  <Override PartName="/ppt/media/image99.png" ContentType="image/png"/>
  <Override PartName="/ppt/media/image95.png" ContentType="image/png"/>
  <Override PartName="/ppt/media/image127.png" ContentType="image/png"/>
  <Override PartName="/ppt/media/image27.png" ContentType="image/png"/>
  <Override PartName="/ppt/media/image94.svg" ContentType="image/svg"/>
  <Override PartName="/ppt/media/image126.svg" ContentType="image/svg"/>
  <Override PartName="/ppt/media/image178.png" ContentType="image/png"/>
  <Override PartName="/ppt/media/image90.svg" ContentType="image/svg"/>
  <Override PartName="/ppt/media/image122.svg" ContentType="image/svg"/>
  <Override PartName="/ppt/media/image174.png" ContentType="image/png"/>
  <Override PartName="/ppt/media/image89.png" ContentType="image/png"/>
  <Override PartName="/ppt/media/image37.svg" ContentType="image/svg"/>
  <Override PartName="/ppt/media/image88.svg" ContentType="image/svg"/>
  <Override PartName="/ppt/media/image85.png" ContentType="image/png"/>
  <Override PartName="/ppt/media/image117.png" ContentType="image/png"/>
  <Override PartName="/ppt/media/image17.png" ContentType="image/png"/>
  <Override PartName="/ppt/media/image33.svg" ContentType="image/svg"/>
  <Override PartName="/ppt/media/image82.svg" ContentType="image/svg"/>
  <Override PartName="/ppt/media/image166.png" ContentType="image/png"/>
  <Override PartName="/ppt/media/image80.svg" ContentType="image/svg"/>
  <Override PartName="/ppt/media/image164.png" ContentType="image/png"/>
  <Override PartName="/ppt/media/image79.png" ContentType="image/png"/>
  <Override PartName="/ppt/media/image125.png" ContentType="image/png"/>
  <Override PartName="/ppt/media/image25.png" ContentType="image/png"/>
  <Override PartName="/ppt/media/image93.png" ContentType="image/png"/>
  <Override PartName="/ppt/media/image123.png" ContentType="image/png"/>
  <Override PartName="/ppt/media/image91.png" ContentType="image/png"/>
  <Override PartName="/ppt/media/image23.png" ContentType="image/png"/>
  <Override PartName="/ppt/media/image75.png" ContentType="image/png"/>
  <Override PartName="/ppt/media/image107.png" ContentType="image/png"/>
  <Override PartName="/ppt/media/image175.png" ContentType="image/png"/>
  <Override PartName="/ppt/media/image5.png" ContentType="image/png"/>
  <Override PartName="/ppt/media/image51.png" ContentType="image/png"/>
  <Override PartName="/ppt/media/image151.png" ContentType="image/png"/>
  <Override PartName="/ppt/media/image39.svg" ContentType="image/svg"/>
  <Override PartName="/ppt/media/image1.png" ContentType="image/png"/>
  <Override PartName="/ppt/media/image58.jpeg" ContentType="image/jpeg"/>
  <Override PartName="/ppt/media/image160.png" ContentType="image/png"/>
  <Override PartName="/ppt/media/image20.png" ContentType="image/png"/>
  <Override PartName="/ppt/media/image148.png" ContentType="image/png"/>
  <Override PartName="/ppt/media/image64.svg" ContentType="image/svg"/>
  <Override PartName="/ppt/media/image57.png" ContentType="image/png"/>
  <Override PartName="/ppt/media/image157.png" ContentType="image/png"/>
  <Override PartName="/ppt/media/image12.jpeg" ContentType="image/jpeg"/>
  <Override PartName="/ppt/media/image15.png" ContentType="image/png"/>
  <Override PartName="/ppt/media/image83.png" ContentType="image/png"/>
  <Override PartName="/ppt/media/image96.svg" ContentType="image/svg"/>
  <Override PartName="/ppt/media/image128.svg" ContentType="image/svg"/>
  <Override PartName="/ppt/media/image98.svg" ContentType="image/svg"/>
  <Override PartName="/ppt/media/image139.png" ContentType="image/png"/>
  <Override PartName="/ppt/media/image44.svg" ContentType="image/svg"/>
  <Override PartName="/ppt/media/image28.png" ContentType="image/png"/>
  <Override PartName="/ppt/media/image150.png" ContentType="image/png"/>
  <Override PartName="/ppt/media/image162.png" ContentType="image/png"/>
  <Override PartName="/ppt/media/image38.png" ContentType="image/png"/>
  <Override PartName="/ppt/media/image138.png" ContentType="image/png"/>
  <Override PartName="/ppt/media/image171.jpeg" ContentType="image/jpeg"/>
  <Override PartName="/ppt/media/image177.svg" ContentType="image/svg"/>
  <Override PartName="/ppt/media/image133.png" ContentType="image/png"/>
  <Override PartName="/ppt/media/image11.jpeg" ContentType="image/jpeg"/>
  <Override PartName="/ppt/media/image131.png" ContentType="image/png"/>
  <Override PartName="/ppt/media/image31.png" ContentType="image/png"/>
  <Override PartName="/ppt/media/image182.jpeg" ContentType="image/jpeg"/>
  <Override PartName="/ppt/media/image9.png" ContentType="image/png"/>
  <Override PartName="/ppt/media/image55.png" ContentType="image/png"/>
  <Override PartName="/ppt/media/image155.png" ContentType="image/png"/>
  <Override PartName="/ppt/media/image179.svg" ContentType="image/svg"/>
  <Override PartName="/ppt/media/image135.png" ContentType="image/png"/>
  <Override PartName="/ppt/media/image84.svg" ContentType="image/svg"/>
  <Override PartName="/ppt/media/image140.png" ContentType="image/png"/>
  <Override PartName="/ppt/media/image40.png" ContentType="image/png"/>
  <Override PartName="/ppt/media/image105.png" ContentType="image/png"/>
  <Override PartName="/ppt/media/image73.png" ContentType="image/png"/>
  <Override PartName="/ppt/media/image173.png" ContentType="image/png"/>
  <Override PartName="/ppt/media/image145.png" ContentType="image/png"/>
  <Override PartName="/ppt/media/image45.png" ContentType="image/png"/>
  <Override PartName="/ppt/media/image137.png" ContentType="image/png"/>
  <Override PartName="/ppt/media/image142.png" ContentType="image/png"/>
  <Override PartName="/ppt/media/image42.png" ContentType="image/png"/>
  <Override PartName="/ppt/media/image134.svg" ContentType="image/svg"/>
  <Override PartName="/ppt/media/image43.png" ContentType="image/png"/>
  <Override PartName="/ppt/media/image143.png" ContentType="image/png"/>
  <Override PartName="/ppt/media/image141.png" ContentType="image/png"/>
  <Override PartName="/ppt/media/image41.png" ContentType="image/png"/>
  <Override PartName="/ppt/media/image36.png" ContentType="image/png"/>
  <Override PartName="/ppt/media/image136.png" ContentType="image/png"/>
  <Override PartName="/ppt/media/image32.png" ContentType="image/png"/>
  <Override PartName="/ppt/media/image76.svg" ContentType="image/svg"/>
  <Override PartName="/ppt/media/image47.png" ContentType="image/png"/>
  <Override PartName="/ppt/media/image147.png" ContentType="image/png"/>
  <Override PartName="/ppt/media/image49.png" ContentType="image/png"/>
  <Override PartName="/ppt/media/image149.png" ContentType="image/png"/>
  <Override PartName="/ppt/media/image3.png" ContentType="image/png"/>
  <Override PartName="/ppt/media/image50.svg" ContentType="image/svg"/>
  <Override PartName="/ppt/media/image4.svg" ContentType="image/svg"/>
  <Override PartName="/ppt/media/image34.png" ContentType="image/png"/>
  <Override PartName="/ppt/media/image78.svg" ContentType="image/svg"/>
  <Override PartName="/ppt/media/image2.png" ContentType="image/png"/>
  <Override PartName="/ppt/media/image153.png" ContentType="image/png"/>
  <Override PartName="/ppt/media/image7.png" ContentType="image/png"/>
  <Override PartName="/ppt/media/image53.png" ContentType="image/png"/>
  <Override PartName="/ppt/media/image101.png" ContentType="image/png"/>
  <Override PartName="/ppt/media/image19.jpeg" ContentType="image/jpeg"/>
  <Override PartName="/ppt/media/image158.svg" ContentType="image/svg"/>
  <Override PartName="/ppt/media/image121.png" ContentType="image/png"/>
  <Override PartName="/ppt/media/image21.png" ContentType="image/png"/>
  <Override PartName="/ppt/media/image159.png" ContentType="image/png"/>
  <Override PartName="/ppt/media/image59.png" ContentType="image/png"/>
  <Override PartName="/ppt/media/image22.png" ContentType="image/png"/>
  <Override PartName="/ppt/media/image13.jpeg" ContentType="image/jpeg"/>
  <Override PartName="/ppt/media/image66.svg" ContentType="image/svg"/>
  <Override PartName="/ppt/media/image48.svg" ContentType="image/svg"/>
  <Override PartName="/ppt/media/image24.png" ContentType="image/png"/>
  <Override PartName="/ppt/media/image68.svg" ContentType="image/svg"/>
  <Override PartName="/ppt/media/image168.svg" ContentType="image/svg"/>
  <Override PartName="/ppt/media/image26.png" ContentType="image/png"/>
  <Override PartName="/ppt/media/image86.svg" ContentType="image/svg"/>
  <Override PartName="/ppt/media/image118.svg" ContentType="image/svg"/>
  <Override PartName="/ppt/media/image18.svg" ContentType="image/svg"/>
  <Override PartName="/ppt/media/image97.png" ContentType="image/png"/>
  <Override PartName="/ppt/media/image29.png" ContentType="image/png"/>
  <Override PartName="/ppt/media/image129.png" ContentType="image/png"/>
  <Override PartName="/ppt/media/image144.png" ContentType="image/png"/>
  <Override PartName="/ppt/media/image60.svg" ContentType="image/svg"/>
  <Override PartName="/ppt/media/image161.png" ContentType="image/png"/>
  <Override PartName="/ppt/media/image61.png" ContentType="image/png"/>
  <Override PartName="/ppt/media/image146.png" ContentType="image/png"/>
  <Override PartName="/ppt/media/image46.png" ContentType="image/png"/>
  <Override PartName="/ppt/media/image62.svg" ContentType="image/svg"/>
  <Override PartName="/ppt/media/image163.png" ContentType="image/png"/>
  <Override PartName="/ppt/media/image63.png" ContentType="image/png"/>
  <Override PartName="/ppt/media/image111.png" ContentType="image/png"/>
  <Override PartName="/ppt/media/image165.png" ContentType="image/png"/>
  <Override PartName="/ppt/media/image181.svg" ContentType="image/svg"/>
  <Override PartName="/ppt/media/image65.png" ContentType="image/png"/>
  <Override PartName="/ppt/media/image81.png" ContentType="image/png"/>
  <Override PartName="/ppt/media/image113.png" ContentType="image/png"/>
  <Override PartName="/ppt/media/image167.png" ContentType="image/png"/>
  <Override PartName="/ppt/media/image115.svg" ContentType="image/svg"/>
  <Override PartName="/ppt/media/image67.png" ContentType="image/png"/>
  <Override PartName="/ppt/media/image169.png" ContentType="image/png"/>
  <Override PartName="/ppt/media/image69.png" ContentType="image/png"/>
  <Override PartName="/ppt/media/image102.svg" ContentType="image/svg"/>
  <Override PartName="/ppt/media/image54.png" ContentType="image/png"/>
  <Override PartName="/ppt/media/image170.svg" ContentType="image/svg"/>
  <Override PartName="/ppt/media/image154.png" ContentType="image/png"/>
  <Override PartName="/ppt/media/image8.png" ContentType="image/png"/>
  <Override PartName="/ppt/media/image70.svg" ContentType="image/svg"/>
  <Override PartName="/ppt/media/image103.png" ContentType="image/png"/>
  <Override PartName="/ppt/media/image71.png" ContentType="image/png"/>
  <Override PartName="/ppt/media/image104.svg" ContentType="image/svg"/>
  <Override PartName="/ppt/media/image156.png" ContentType="image/png"/>
  <Override PartName="/ppt/media/image56.png" ContentType="image/png"/>
  <Override PartName="/ppt/media/image72.svg" ContentType="image/svg"/>
  <Override PartName="/ppt/media/image172.png" ContentType="image/png"/>
  <Override PartName="/ppt/media/image120.svg" ContentType="image/svg"/>
  <Override PartName="/ppt/media/image106.svg" ContentType="image/svg"/>
  <Override PartName="/ppt/media/image74.svg" ContentType="image/sv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71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29.xml.rels" ContentType="application/vnd.openxmlformats-package.relationships+xml"/>
  <Override PartName="/ppt/slides/_rels/slide1.xml.rels" ContentType="application/vnd.openxmlformats-package.relationships+xml"/>
  <Override PartName="/ppt/slides/_rels/slide43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66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5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66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_rels/notesSlide69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6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6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0" r:id="rId6"/>
    <p:sldMasterId id="2147483662" r:id="rId7"/>
    <p:sldMasterId id="2147483664" r:id="rId8"/>
    <p:sldMasterId id="2147483666" r:id="rId9"/>
    <p:sldMasterId id="2147483672" r:id="rId10"/>
    <p:sldMasterId id="2147483674" r:id="rId11"/>
  </p:sldMasterIdLst>
  <p:notesMasterIdLst>
    <p:notesMasterId r:id="rId12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9.xml"/><Relationship Id="rId7" Type="http://schemas.openxmlformats.org/officeDocument/2006/relationships/slideMaster" Target="slideMasters/slideMaster10.xml"/><Relationship Id="rId8" Type="http://schemas.openxmlformats.org/officeDocument/2006/relationships/slideMaster" Target="slideMasters/slideMaster11.xml"/><Relationship Id="rId9" Type="http://schemas.openxmlformats.org/officeDocument/2006/relationships/slideMaster" Target="slideMasters/slideMaster12.xml"/><Relationship Id="rId10" Type="http://schemas.openxmlformats.org/officeDocument/2006/relationships/slideMaster" Target="slideMasters/slideMaster15.xml"/><Relationship Id="rId11" Type="http://schemas.openxmlformats.org/officeDocument/2006/relationships/slideMaster" Target="slideMasters/slideMaster16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dt" idx="55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ftr" idx="56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57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436C53-0516-4216-8BCF-236494BFBD59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0720" cy="339228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4680" cy="39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8"/>
          </p:nvPr>
        </p:nvSpPr>
        <p:spPr>
          <a:xfrm>
            <a:off x="4402080" y="9553680"/>
            <a:ext cx="336672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FB5B7E-4966-4348-A89B-DDF1D87AB34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0720" cy="339228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4680" cy="39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9"/>
          </p:nvPr>
        </p:nvSpPr>
        <p:spPr>
          <a:xfrm>
            <a:off x="4402080" y="9553680"/>
            <a:ext cx="336672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3C13B0-1941-4686-983B-64C9665CDBD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5680" cy="338724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9640" cy="39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60"/>
          </p:nvPr>
        </p:nvSpPr>
        <p:spPr>
          <a:xfrm>
            <a:off x="4402080" y="9553680"/>
            <a:ext cx="3361680" cy="49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ED1FF1-DAD7-4A77-9895-F2734862CB0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795877-19FF-4696-84D1-6334873A5BD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6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032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A4C704-8826-48CF-8170-032756F3621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6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9080" cy="18928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C72FA7-8374-48A2-9EC5-DB9EF3A561E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9840" cy="1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C7BB03-6DC1-4D89-972F-7D61C10A122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28018B-0CED-48C1-B5AA-892B1F3E313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AEDBD6-6C58-4BD7-8529-93515305C64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6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120" cy="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9E19F1-D826-49F3-938D-47DFCE4D55A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E862323-4DBC-4D1E-9AA6-5AEBF5B1879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609480" y="-2268000"/>
            <a:ext cx="1476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E81C71B-06B5-42C2-ABCD-8A4814EA8D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00D889A-905F-48D1-B530-3F0CA77600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0273F97-9AE6-47FE-8651-2F108D06C1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960" cy="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86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DF0B20-8AEA-409D-B5EE-8C9098B254B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86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02FAEA-CC66-4B3F-BE1C-E8D23684AEB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086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32A170-AB34-41DC-B0A9-975DA709FBE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86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E595E3-F1C2-4071-A4F5-FF00092E527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8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86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7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5CF885-CE35-42E8-ABD2-DE14B60AFED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8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7080" cy="358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17040" y="160452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/>
          </p:nvPr>
        </p:nvSpPr>
        <p:spPr>
          <a:xfrm>
            <a:off x="60948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/>
          </p:nvPr>
        </p:nvSpPr>
        <p:spPr>
          <a:xfrm>
            <a:off x="617040" y="1605960"/>
            <a:ext cx="684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447E3FD-F3D9-40C6-9DA1-BEC76E6D67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38080" y="712440"/>
            <a:ext cx="105094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ubTitle"/>
          </p:nvPr>
        </p:nvSpPr>
        <p:spPr>
          <a:xfrm>
            <a:off x="609480" y="-2268000"/>
            <a:ext cx="1476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992F59F-1D42-486E-9796-76443B80FE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7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08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540C63-E281-4FA4-8F6F-4D0F945A126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240" cy="3610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72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C3EF6D-D341-4AD2-996D-583322407B1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ftr" idx="25"/>
          </p:nvPr>
        </p:nvSpPr>
        <p:spPr>
          <a:xfrm>
            <a:off x="3447360" y="5165280"/>
            <a:ext cx="318960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sldNum" idx="26"/>
          </p:nvPr>
        </p:nvSpPr>
        <p:spPr>
          <a:xfrm>
            <a:off x="722736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450413-1BF5-472E-96D5-E17D7A9C527F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dt" idx="27"/>
          </p:nvPr>
        </p:nvSpPr>
        <p:spPr>
          <a:xfrm>
            <a:off x="504000" y="5165280"/>
            <a:ext cx="2342880" cy="38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960" cy="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72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A73BAF-D05C-4858-9072-32550BF0535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5640" cy="357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61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0D76E9-95BA-4DF9-B424-452A1862D92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4560" cy="356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  <p:sldLayoutId id="2147483668" r:id="rId3"/>
    <p:sldLayoutId id="2147483669" r:id="rId4"/>
    <p:sldLayoutId id="2147483670" r:id="rId5"/>
    <p:sldLayoutId id="2147483671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body"/>
          </p:nvPr>
        </p:nvSpPr>
        <p:spPr>
          <a:xfrm>
            <a:off x="6256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body"/>
          </p:nvPr>
        </p:nvSpPr>
        <p:spPr>
          <a:xfrm>
            <a:off x="6094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body"/>
          </p:nvPr>
        </p:nvSpPr>
        <p:spPr>
          <a:xfrm>
            <a:off x="625680" y="160848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6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05080" cy="355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7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33480" cy="355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679B0D-FF8C-43FD-A2A2-C93332E00CA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8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33480" cy="355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52"/>
          </p:nvPr>
        </p:nvSpPr>
        <p:spPr>
          <a:xfrm>
            <a:off x="3447360" y="5165280"/>
            <a:ext cx="318852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3"/>
          </p:nvPr>
        </p:nvSpPr>
        <p:spPr>
          <a:xfrm>
            <a:off x="7227360" y="5165280"/>
            <a:ext cx="234180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BADB0C-2E15-4BAC-83E5-031B4D633AB3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54"/>
          </p:nvPr>
        </p:nvSpPr>
        <p:spPr>
          <a:xfrm>
            <a:off x="504000" y="5165280"/>
            <a:ext cx="234180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svg"/><Relationship Id="rId6" Type="http://schemas.openxmlformats.org/officeDocument/2006/relationships/slideLayout" Target="../slideLayouts/slideLayout1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9.jpeg"/><Relationship Id="rId4" Type="http://schemas.openxmlformats.org/officeDocument/2006/relationships/slideLayout" Target="../slideLayouts/slideLayou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sv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svg"/><Relationship Id="rId4" Type="http://schemas.openxmlformats.org/officeDocument/2006/relationships/image" Target="../media/image34.png"/><Relationship Id="rId5" Type="http://schemas.openxmlformats.org/officeDocument/2006/relationships/image" Target="../media/image35.svg"/><Relationship Id="rId6" Type="http://schemas.openxmlformats.org/officeDocument/2006/relationships/image" Target="../media/image36.png"/><Relationship Id="rId7" Type="http://schemas.openxmlformats.org/officeDocument/2006/relationships/image" Target="../media/image37.svg"/><Relationship Id="rId8" Type="http://schemas.openxmlformats.org/officeDocument/2006/relationships/image" Target="../media/image38.png"/><Relationship Id="rId9" Type="http://schemas.openxmlformats.org/officeDocument/2006/relationships/image" Target="../media/image39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slideLayout" Target="../slideLayouts/slideLayout8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svg"/><Relationship Id="rId5" Type="http://schemas.openxmlformats.org/officeDocument/2006/relationships/image" Target="../media/image45.png"/><Relationship Id="rId6" Type="http://schemas.openxmlformats.org/officeDocument/2006/relationships/slideLayout" Target="../slideLayouts/slideLayout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6.png"/><Relationship Id="rId3" Type="http://schemas.openxmlformats.org/officeDocument/2006/relationships/slideLayout" Target="../slideLayouts/slideLayout8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47.png"/><Relationship Id="rId3" Type="http://schemas.openxmlformats.org/officeDocument/2006/relationships/image" Target="../media/image48.svg"/><Relationship Id="rId4" Type="http://schemas.openxmlformats.org/officeDocument/2006/relationships/image" Target="../media/image49.png"/><Relationship Id="rId5" Type="http://schemas.openxmlformats.org/officeDocument/2006/relationships/image" Target="../media/image50.svg"/><Relationship Id="rId6" Type="http://schemas.openxmlformats.org/officeDocument/2006/relationships/image" Target="../media/image1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1.png"/><Relationship Id="rId3" Type="http://schemas.openxmlformats.org/officeDocument/2006/relationships/image" Target="../media/image47.png"/><Relationship Id="rId4" Type="http://schemas.openxmlformats.org/officeDocument/2006/relationships/image" Target="../media/image48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slideLayout" Target="../slideLayouts/slideLayout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57.png"/><Relationship Id="rId6" Type="http://schemas.openxmlformats.org/officeDocument/2006/relationships/slideLayout" Target="../slideLayouts/slideLayout8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53.png"/><Relationship Id="rId3" Type="http://schemas.openxmlformats.org/officeDocument/2006/relationships/image" Target="../media/image58.jpeg"/><Relationship Id="rId4" Type="http://schemas.openxmlformats.org/officeDocument/2006/relationships/slideLayout" Target="../slideLayouts/slideLayout8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59.png"/><Relationship Id="rId3" Type="http://schemas.openxmlformats.org/officeDocument/2006/relationships/image" Target="../media/image60.svg"/><Relationship Id="rId4" Type="http://schemas.openxmlformats.org/officeDocument/2006/relationships/image" Target="../media/image61.png"/><Relationship Id="rId5" Type="http://schemas.openxmlformats.org/officeDocument/2006/relationships/image" Target="../media/image62.svg"/><Relationship Id="rId6" Type="http://schemas.openxmlformats.org/officeDocument/2006/relationships/image" Target="../media/image63.png"/><Relationship Id="rId7" Type="http://schemas.openxmlformats.org/officeDocument/2006/relationships/image" Target="../media/image64.svg"/><Relationship Id="rId8" Type="http://schemas.openxmlformats.org/officeDocument/2006/relationships/image" Target="../media/image65.png"/><Relationship Id="rId9" Type="http://schemas.openxmlformats.org/officeDocument/2006/relationships/image" Target="../media/image66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<Relationship Id="rId1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image" Target="../media/image68.svg"/><Relationship Id="rId3" Type="http://schemas.openxmlformats.org/officeDocument/2006/relationships/image" Target="../media/image31.png"/><Relationship Id="rId4" Type="http://schemas.openxmlformats.org/officeDocument/2006/relationships/image" Target="../media/image69.png"/><Relationship Id="rId5" Type="http://schemas.openxmlformats.org/officeDocument/2006/relationships/image" Target="../media/image70.svg"/><Relationship Id="rId6" Type="http://schemas.openxmlformats.org/officeDocument/2006/relationships/image" Target="../media/image71.png"/><Relationship Id="rId7" Type="http://schemas.openxmlformats.org/officeDocument/2006/relationships/image" Target="../media/image72.svg"/><Relationship Id="rId8" Type="http://schemas.openxmlformats.org/officeDocument/2006/relationships/image" Target="../media/image73.png"/><Relationship Id="rId9" Type="http://schemas.openxmlformats.org/officeDocument/2006/relationships/image" Target="../media/image74.svg"/><Relationship Id="rId10" Type="http://schemas.openxmlformats.org/officeDocument/2006/relationships/image" Target="../media/image75.png"/><Relationship Id="rId11" Type="http://schemas.openxmlformats.org/officeDocument/2006/relationships/image" Target="../media/image76.svg"/><Relationship Id="rId12" Type="http://schemas.openxmlformats.org/officeDocument/2006/relationships/image" Target="../media/image1.png"/><Relationship Id="rId13" Type="http://schemas.openxmlformats.org/officeDocument/2006/relationships/image" Target="../media/image7.png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77.png"/><Relationship Id="rId3" Type="http://schemas.openxmlformats.org/officeDocument/2006/relationships/image" Target="../media/image78.svg"/><Relationship Id="rId4" Type="http://schemas.openxmlformats.org/officeDocument/2006/relationships/image" Target="../media/image79.png"/><Relationship Id="rId5" Type="http://schemas.openxmlformats.org/officeDocument/2006/relationships/image" Target="../media/image80.svg"/><Relationship Id="rId6" Type="http://schemas.openxmlformats.org/officeDocument/2006/relationships/image" Target="../media/image81.png"/><Relationship Id="rId7" Type="http://schemas.openxmlformats.org/officeDocument/2006/relationships/image" Target="../media/image82.svg"/><Relationship Id="rId8" Type="http://schemas.openxmlformats.org/officeDocument/2006/relationships/image" Target="../media/image83.png"/><Relationship Id="rId9" Type="http://schemas.openxmlformats.org/officeDocument/2006/relationships/image" Target="../media/image84.svg"/><Relationship Id="rId10" Type="http://schemas.openxmlformats.org/officeDocument/2006/relationships/image" Target="../media/image85.png"/><Relationship Id="rId11" Type="http://schemas.openxmlformats.org/officeDocument/2006/relationships/image" Target="../media/image86.svg"/><Relationship Id="rId12" Type="http://schemas.openxmlformats.org/officeDocument/2006/relationships/image" Target="../media/image87.png"/><Relationship Id="rId13" Type="http://schemas.openxmlformats.org/officeDocument/2006/relationships/image" Target="../media/image88.svg"/><Relationship Id="rId14" Type="http://schemas.openxmlformats.org/officeDocument/2006/relationships/image" Target="../media/image1.png"/><Relationship Id="rId15" Type="http://schemas.openxmlformats.org/officeDocument/2006/relationships/image" Target="../media/image7.png"/><Relationship Id="rId16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89.png"/><Relationship Id="rId3" Type="http://schemas.openxmlformats.org/officeDocument/2006/relationships/image" Target="../media/image90.svg"/><Relationship Id="rId4" Type="http://schemas.openxmlformats.org/officeDocument/2006/relationships/image" Target="../media/image91.png"/><Relationship Id="rId5" Type="http://schemas.openxmlformats.org/officeDocument/2006/relationships/image" Target="../media/image92.svg"/><Relationship Id="rId6" Type="http://schemas.openxmlformats.org/officeDocument/2006/relationships/image" Target="../media/image93.png"/><Relationship Id="rId7" Type="http://schemas.openxmlformats.org/officeDocument/2006/relationships/image" Target="../media/image94.svg"/><Relationship Id="rId8" Type="http://schemas.openxmlformats.org/officeDocument/2006/relationships/image" Target="../media/image95.png"/><Relationship Id="rId9" Type="http://schemas.openxmlformats.org/officeDocument/2006/relationships/image" Target="../media/image96.svg"/><Relationship Id="rId10" Type="http://schemas.openxmlformats.org/officeDocument/2006/relationships/image" Target="../media/image97.png"/><Relationship Id="rId11" Type="http://schemas.openxmlformats.org/officeDocument/2006/relationships/image" Target="../media/image98.svg"/><Relationship Id="rId12" Type="http://schemas.openxmlformats.org/officeDocument/2006/relationships/image" Target="../media/image1.png"/><Relationship Id="rId13" Type="http://schemas.openxmlformats.org/officeDocument/2006/relationships/image" Target="../media/image7.png"/><Relationship Id="rId14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99.png"/><Relationship Id="rId3" Type="http://schemas.openxmlformats.org/officeDocument/2006/relationships/image" Target="../media/image100.svg"/><Relationship Id="rId4" Type="http://schemas.openxmlformats.org/officeDocument/2006/relationships/image" Target="../media/image101.png"/><Relationship Id="rId5" Type="http://schemas.openxmlformats.org/officeDocument/2006/relationships/image" Target="../media/image102.svg"/><Relationship Id="rId6" Type="http://schemas.openxmlformats.org/officeDocument/2006/relationships/image" Target="../media/image103.png"/><Relationship Id="rId7" Type="http://schemas.openxmlformats.org/officeDocument/2006/relationships/image" Target="../media/image104.svg"/><Relationship Id="rId8" Type="http://schemas.openxmlformats.org/officeDocument/2006/relationships/image" Target="../media/image105.png"/><Relationship Id="rId9" Type="http://schemas.openxmlformats.org/officeDocument/2006/relationships/image" Target="../media/image106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99.png"/><Relationship Id="rId3" Type="http://schemas.openxmlformats.org/officeDocument/2006/relationships/image" Target="../media/image100.svg"/><Relationship Id="rId4" Type="http://schemas.openxmlformats.org/officeDocument/2006/relationships/image" Target="../media/image101.png"/><Relationship Id="rId5" Type="http://schemas.openxmlformats.org/officeDocument/2006/relationships/image" Target="../media/image102.svg"/><Relationship Id="rId6" Type="http://schemas.openxmlformats.org/officeDocument/2006/relationships/image" Target="../media/image103.png"/><Relationship Id="rId7" Type="http://schemas.openxmlformats.org/officeDocument/2006/relationships/image" Target="../media/image104.svg"/><Relationship Id="rId8" Type="http://schemas.openxmlformats.org/officeDocument/2006/relationships/image" Target="../media/image105.png"/><Relationship Id="rId9" Type="http://schemas.openxmlformats.org/officeDocument/2006/relationships/image" Target="../media/image106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07.png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08.png"/><Relationship Id="rId2" Type="http://schemas.openxmlformats.org/officeDocument/2006/relationships/image" Target="../media/image108.png"/><Relationship Id="rId3" Type="http://schemas.openxmlformats.org/officeDocument/2006/relationships/image" Target="../media/image99.png"/><Relationship Id="rId4" Type="http://schemas.openxmlformats.org/officeDocument/2006/relationships/image" Target="../media/image100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07.png"/><Relationship Id="rId2" Type="http://schemas.openxmlformats.org/officeDocument/2006/relationships/image" Target="../media/image1.png"/><Relationship Id="rId3" Type="http://schemas.openxmlformats.org/officeDocument/2006/relationships/image" Target="../media/image109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07.png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12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6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13.png"/><Relationship Id="rId2" Type="http://schemas.openxmlformats.org/officeDocument/2006/relationships/image" Target="../media/image114.png"/><Relationship Id="rId3" Type="http://schemas.openxmlformats.org/officeDocument/2006/relationships/image" Target="../media/image115.svg"/><Relationship Id="rId4" Type="http://schemas.openxmlformats.org/officeDocument/2006/relationships/image" Target="../media/image116.png"/><Relationship Id="rId5" Type="http://schemas.openxmlformats.org/officeDocument/2006/relationships/image" Target="../media/image7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17.png"/><Relationship Id="rId3" Type="http://schemas.openxmlformats.org/officeDocument/2006/relationships/image" Target="../media/image118.svg"/><Relationship Id="rId4" Type="http://schemas.openxmlformats.org/officeDocument/2006/relationships/image" Target="../media/image119.png"/><Relationship Id="rId5" Type="http://schemas.openxmlformats.org/officeDocument/2006/relationships/image" Target="../media/image120.svg"/><Relationship Id="rId6" Type="http://schemas.openxmlformats.org/officeDocument/2006/relationships/image" Target="../media/image121.png"/><Relationship Id="rId7" Type="http://schemas.openxmlformats.org/officeDocument/2006/relationships/image" Target="../media/image122.svg"/><Relationship Id="rId8" Type="http://schemas.openxmlformats.org/officeDocument/2006/relationships/image" Target="../media/image123.png"/><Relationship Id="rId9" Type="http://schemas.openxmlformats.org/officeDocument/2006/relationships/image" Target="../media/image124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25.png"/><Relationship Id="rId3" Type="http://schemas.openxmlformats.org/officeDocument/2006/relationships/image" Target="../media/image126.svg"/><Relationship Id="rId4" Type="http://schemas.openxmlformats.org/officeDocument/2006/relationships/image" Target="../media/image127.png"/><Relationship Id="rId5" Type="http://schemas.openxmlformats.org/officeDocument/2006/relationships/image" Target="../media/image128.svg"/><Relationship Id="rId6" Type="http://schemas.openxmlformats.org/officeDocument/2006/relationships/image" Target="../media/image1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29.png"/><Relationship Id="rId3" Type="http://schemas.openxmlformats.org/officeDocument/2006/relationships/image" Target="../media/image130.svg"/><Relationship Id="rId4" Type="http://schemas.openxmlformats.org/officeDocument/2006/relationships/image" Target="../media/image131.png"/><Relationship Id="rId5" Type="http://schemas.openxmlformats.org/officeDocument/2006/relationships/image" Target="../media/image132.svg"/><Relationship Id="rId6" Type="http://schemas.openxmlformats.org/officeDocument/2006/relationships/image" Target="../media/image133.png"/><Relationship Id="rId7" Type="http://schemas.openxmlformats.org/officeDocument/2006/relationships/image" Target="../media/image134.svg"/><Relationship Id="rId8" Type="http://schemas.openxmlformats.org/officeDocument/2006/relationships/image" Target="../media/image133.png"/><Relationship Id="rId9" Type="http://schemas.openxmlformats.org/officeDocument/2006/relationships/image" Target="../media/image134.svg"/><Relationship Id="rId10" Type="http://schemas.openxmlformats.org/officeDocument/2006/relationships/image" Target="../media/image1.png"/><Relationship Id="rId11" Type="http://schemas.openxmlformats.org/officeDocument/2006/relationships/image" Target="../media/image7.png"/><Relationship Id="rId12" Type="http://schemas.openxmlformats.org/officeDocument/2006/relationships/slideLayout" Target="../slideLayouts/slideLayout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slideLayout" Target="../slideLayouts/slideLayout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slideLayout" Target="../slideLayouts/slideLayout16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slideLayout" Target="../slideLayouts/slideLayout1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Relationship Id="rId7" Type="http://schemas.openxmlformats.org/officeDocument/2006/relationships/slideLayout" Target="../slideLayouts/slideLayout16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41.png"/><Relationship Id="rId7" Type="http://schemas.openxmlformats.org/officeDocument/2006/relationships/slideLayout" Target="../slideLayouts/slideLayout16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5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7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slideLayout" Target="../slideLayouts/slideLayout8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Relationship Id="rId6" Type="http://schemas.openxmlformats.org/officeDocument/2006/relationships/image" Target="../media/image158.sv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8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59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7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0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7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1.png"/><Relationship Id="rId3" Type="http://schemas.openxmlformats.org/officeDocument/2006/relationships/slideLayout" Target="../slideLayouts/slideLayout1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2.png"/><Relationship Id="rId3" Type="http://schemas.openxmlformats.org/officeDocument/2006/relationships/slideLayout" Target="../slideLayouts/slideLayout1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3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64.png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167.png"/><Relationship Id="rId7" Type="http://schemas.openxmlformats.org/officeDocument/2006/relationships/image" Target="../media/image168.svg"/><Relationship Id="rId8" Type="http://schemas.openxmlformats.org/officeDocument/2006/relationships/image" Target="../media/image169.png"/><Relationship Id="rId9" Type="http://schemas.openxmlformats.org/officeDocument/2006/relationships/image" Target="../media/image170.svg"/><Relationship Id="rId10" Type="http://schemas.openxmlformats.org/officeDocument/2006/relationships/image" Target="../media/image171.jpeg"/><Relationship Id="rId11" Type="http://schemas.openxmlformats.org/officeDocument/2006/relationships/image" Target="../media/image172.png"/><Relationship Id="rId12" Type="http://schemas.openxmlformats.org/officeDocument/2006/relationships/image" Target="../media/image2.png"/><Relationship Id="rId13" Type="http://schemas.openxmlformats.org/officeDocument/2006/relationships/image" Target="../media/image173.png"/><Relationship Id="rId14" Type="http://schemas.openxmlformats.org/officeDocument/2006/relationships/slideLayout" Target="../slideLayouts/slideLayout8.xml"/><Relationship Id="rId15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56.png"/><Relationship Id="rId2" Type="http://schemas.openxmlformats.org/officeDocument/2006/relationships/image" Target="../media/image113.png"/><Relationship Id="rId3" Type="http://schemas.openxmlformats.org/officeDocument/2006/relationships/image" Target="../media/image41.png"/><Relationship Id="rId4" Type="http://schemas.openxmlformats.org/officeDocument/2006/relationships/image" Target="../media/image174.png"/><Relationship Id="rId5" Type="http://schemas.openxmlformats.org/officeDocument/2006/relationships/image" Target="../media/image175.png"/><Relationship Id="rId6" Type="http://schemas.openxmlformats.org/officeDocument/2006/relationships/image" Target="../media/image156.png"/><Relationship Id="rId7" Type="http://schemas.openxmlformats.org/officeDocument/2006/relationships/image" Target="../media/image114.png"/><Relationship Id="rId8" Type="http://schemas.openxmlformats.org/officeDocument/2006/relationships/image" Target="../media/image115.svg"/><Relationship Id="rId9" Type="http://schemas.openxmlformats.org/officeDocument/2006/relationships/image" Target="../media/image176.png"/><Relationship Id="rId10" Type="http://schemas.openxmlformats.org/officeDocument/2006/relationships/image" Target="../media/image177.svg"/><Relationship Id="rId11" Type="http://schemas.openxmlformats.org/officeDocument/2006/relationships/image" Target="../media/image178.png"/><Relationship Id="rId12" Type="http://schemas.openxmlformats.org/officeDocument/2006/relationships/image" Target="../media/image179.svg"/><Relationship Id="rId13" Type="http://schemas.openxmlformats.org/officeDocument/2006/relationships/image" Target="../media/image43.png"/><Relationship Id="rId14" Type="http://schemas.openxmlformats.org/officeDocument/2006/relationships/image" Target="../media/image44.svg"/><Relationship Id="rId15" Type="http://schemas.openxmlformats.org/officeDocument/2006/relationships/image" Target="../media/image180.png"/><Relationship Id="rId16" Type="http://schemas.openxmlformats.org/officeDocument/2006/relationships/image" Target="../media/image181.svg"/><Relationship Id="rId17" Type="http://schemas.openxmlformats.org/officeDocument/2006/relationships/image" Target="../media/image157.png"/><Relationship Id="rId18" Type="http://schemas.openxmlformats.org/officeDocument/2006/relationships/image" Target="../media/image158.svg"/><Relationship Id="rId19" Type="http://schemas.openxmlformats.org/officeDocument/2006/relationships/image" Target="../media/image7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16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182.jpeg"/><Relationship Id="rId4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164600" y="1848600"/>
            <a:ext cx="10511640" cy="1321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19999"/>
          </a:bodyPr>
          <a:p>
            <a:pPr indent="0" algn="ctr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3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“Why not both?” A semi-supervised pipeline for a comprehensive and scalable analysis of immune heterogeneity in human samples</a:t>
            </a:r>
            <a:br>
              <a:rPr sz="3100"/>
            </a:br>
            <a:endParaRPr b="0" lang="en-US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914760" y="2977200"/>
            <a:ext cx="10511640" cy="410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Nginache Nampota-Nkomba, Godfrey Mvula, Felix A. Mkandawire, Osward M. Nyirenda, Winter A. Okoth,  Daniela Franco, Andrea G. Buchwald, Franklin R. Toapanta, Marcelo B. Sztein, Miriam K. Laufer,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Kirsten E. Lyke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Cristiana Cairo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University of Maryland School of Medicine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28, 2026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Box 2"/>
          <p:cNvSpPr/>
          <p:nvPr/>
        </p:nvSpPr>
        <p:spPr>
          <a:xfrm>
            <a:off x="122760" y="6332400"/>
            <a:ext cx="21042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Picture 8" descr=""/>
          <p:cNvPicPr/>
          <p:nvPr/>
        </p:nvPicPr>
        <p:blipFill>
          <a:blip r:embed="rId2"/>
          <a:stretch/>
        </p:blipFill>
        <p:spPr>
          <a:xfrm>
            <a:off x="9073800" y="156240"/>
            <a:ext cx="2854080" cy="107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47960" y="123480"/>
            <a:ext cx="3437280" cy="89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4" name="" descr=""/>
          <p:cNvPicPr/>
          <p:nvPr/>
        </p:nvPicPr>
        <p:blipFill>
          <a:blip r:embed="rId5"/>
          <a:stretch/>
        </p:blipFill>
        <p:spPr>
          <a:xfrm>
            <a:off x="721800" y="4800600"/>
            <a:ext cx="1348560" cy="1371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686160" y="1052640"/>
            <a:ext cx="5253120" cy="14576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6480" cy="444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"/>
          <p:cNvSpPr/>
          <p:nvPr/>
        </p:nvSpPr>
        <p:spPr>
          <a:xfrm>
            <a:off x="686160" y="2660400"/>
            <a:ext cx="5253120" cy="159588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Rectangle 7"/>
          <p:cNvSpPr/>
          <p:nvPr/>
        </p:nvSpPr>
        <p:spPr>
          <a:xfrm>
            <a:off x="748800" y="1052640"/>
            <a:ext cx="519048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11"/>
          <p:cNvSpPr/>
          <p:nvPr/>
        </p:nvSpPr>
        <p:spPr>
          <a:xfrm>
            <a:off x="748800" y="2707200"/>
            <a:ext cx="519048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12"/>
          <p:cNvSpPr/>
          <p:nvPr/>
        </p:nvSpPr>
        <p:spPr>
          <a:xfrm>
            <a:off x="685800" y="4440600"/>
            <a:ext cx="51904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685800" y="4397760"/>
            <a:ext cx="5253480" cy="10843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4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6629400" y="1198800"/>
            <a:ext cx="5027760" cy="12297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6629400" y="3837600"/>
            <a:ext cx="5024880" cy="8323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9" name=""/>
          <p:cNvSpPr/>
          <p:nvPr/>
        </p:nvSpPr>
        <p:spPr>
          <a:xfrm>
            <a:off x="6629400" y="3895200"/>
            <a:ext cx="525348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6629400" y="1234800"/>
            <a:ext cx="502488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6626520" y="2498400"/>
            <a:ext cx="5027760" cy="122976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2"/>
          <a:stretch/>
        </p:blipFill>
        <p:spPr>
          <a:xfrm>
            <a:off x="914400" y="1143000"/>
            <a:ext cx="5027400" cy="376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>
            <a:off x="903960" y="3466080"/>
            <a:ext cx="5035680" cy="145296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"/>
          <p:cNvSpPr/>
          <p:nvPr/>
        </p:nvSpPr>
        <p:spPr>
          <a:xfrm>
            <a:off x="909360" y="1603080"/>
            <a:ext cx="5023800" cy="136728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3"/>
          <p:cNvSpPr/>
          <p:nvPr/>
        </p:nvSpPr>
        <p:spPr>
          <a:xfrm>
            <a:off x="909360" y="1603080"/>
            <a:ext cx="4869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13"/>
          <p:cNvSpPr/>
          <p:nvPr/>
        </p:nvSpPr>
        <p:spPr>
          <a:xfrm>
            <a:off x="970560" y="3514680"/>
            <a:ext cx="49690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2240" cy="41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5486400" y="4114800"/>
            <a:ext cx="5939640" cy="1367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640" cy="446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Rectangle 16"/>
          <p:cNvSpPr/>
          <p:nvPr/>
        </p:nvSpPr>
        <p:spPr>
          <a:xfrm>
            <a:off x="5403600" y="3154680"/>
            <a:ext cx="55713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17"/>
          <p:cNvSpPr/>
          <p:nvPr/>
        </p:nvSpPr>
        <p:spPr>
          <a:xfrm>
            <a:off x="5482800" y="4114800"/>
            <a:ext cx="5967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7" name="Rectangle 18"/>
          <p:cNvSpPr/>
          <p:nvPr/>
        </p:nvSpPr>
        <p:spPr>
          <a:xfrm>
            <a:off x="5486400" y="4572000"/>
            <a:ext cx="5939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5481720" y="1403640"/>
            <a:ext cx="5861520" cy="2502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Rectangle 19"/>
          <p:cNvSpPr/>
          <p:nvPr/>
        </p:nvSpPr>
        <p:spPr>
          <a:xfrm>
            <a:off x="5403600" y="1325880"/>
            <a:ext cx="57110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30"/>
          <p:cNvSpPr/>
          <p:nvPr/>
        </p:nvSpPr>
        <p:spPr>
          <a:xfrm>
            <a:off x="5403600" y="2240280"/>
            <a:ext cx="5939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31"/>
          <p:cNvSpPr/>
          <p:nvPr/>
        </p:nvSpPr>
        <p:spPr>
          <a:xfrm>
            <a:off x="5486400" y="5029200"/>
            <a:ext cx="617184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>
            <a:off x="5486400" y="4114800"/>
            <a:ext cx="5939640" cy="1367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640" cy="446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Rectangle 2"/>
          <p:cNvSpPr/>
          <p:nvPr/>
        </p:nvSpPr>
        <p:spPr>
          <a:xfrm>
            <a:off x="5403600" y="3154680"/>
            <a:ext cx="557136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32"/>
          <p:cNvSpPr/>
          <p:nvPr/>
        </p:nvSpPr>
        <p:spPr>
          <a:xfrm>
            <a:off x="5482800" y="411480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33"/>
          <p:cNvSpPr/>
          <p:nvPr/>
        </p:nvSpPr>
        <p:spPr>
          <a:xfrm>
            <a:off x="5482800" y="45720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"/>
          <p:cNvSpPr/>
          <p:nvPr/>
        </p:nvSpPr>
        <p:spPr>
          <a:xfrm>
            <a:off x="5481720" y="1403640"/>
            <a:ext cx="5861520" cy="2502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2" name="Rectangle 34"/>
          <p:cNvSpPr/>
          <p:nvPr/>
        </p:nvSpPr>
        <p:spPr>
          <a:xfrm>
            <a:off x="5403600" y="1325880"/>
            <a:ext cx="57110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35"/>
          <p:cNvSpPr/>
          <p:nvPr/>
        </p:nvSpPr>
        <p:spPr>
          <a:xfrm>
            <a:off x="5403600" y="2240280"/>
            <a:ext cx="593964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ectangle 36"/>
          <p:cNvSpPr/>
          <p:nvPr/>
        </p:nvSpPr>
        <p:spPr>
          <a:xfrm>
            <a:off x="5486400" y="50292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457200" y="2784600"/>
            <a:ext cx="5939640" cy="1601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920" cy="650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37"/>
          <p:cNvSpPr/>
          <p:nvPr/>
        </p:nvSpPr>
        <p:spPr>
          <a:xfrm>
            <a:off x="457200" y="2738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Rectangle 38"/>
          <p:cNvSpPr/>
          <p:nvPr/>
        </p:nvSpPr>
        <p:spPr>
          <a:xfrm>
            <a:off x="453600" y="19458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39"/>
          <p:cNvSpPr/>
          <p:nvPr/>
        </p:nvSpPr>
        <p:spPr>
          <a:xfrm>
            <a:off x="457200" y="3134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40"/>
          <p:cNvSpPr/>
          <p:nvPr/>
        </p:nvSpPr>
        <p:spPr>
          <a:xfrm>
            <a:off x="457200" y="3530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41"/>
          <p:cNvSpPr/>
          <p:nvPr/>
        </p:nvSpPr>
        <p:spPr>
          <a:xfrm>
            <a:off x="457200" y="396252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457200" y="18990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720" cy="302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2"/>
          <p:cNvSpPr/>
          <p:nvPr/>
        </p:nvSpPr>
        <p:spPr>
          <a:xfrm>
            <a:off x="1900800" y="808200"/>
            <a:ext cx="8913960" cy="1089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>
            <a:off x="457200" y="2784600"/>
            <a:ext cx="5939640" cy="16016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920" cy="650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45"/>
          <p:cNvSpPr/>
          <p:nvPr/>
        </p:nvSpPr>
        <p:spPr>
          <a:xfrm>
            <a:off x="457200" y="2738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Rectangle 53"/>
          <p:cNvSpPr/>
          <p:nvPr/>
        </p:nvSpPr>
        <p:spPr>
          <a:xfrm>
            <a:off x="453600" y="19458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54"/>
          <p:cNvSpPr/>
          <p:nvPr/>
        </p:nvSpPr>
        <p:spPr>
          <a:xfrm>
            <a:off x="457200" y="3134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55"/>
          <p:cNvSpPr/>
          <p:nvPr/>
        </p:nvSpPr>
        <p:spPr>
          <a:xfrm>
            <a:off x="457200" y="3530520"/>
            <a:ext cx="5967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56"/>
          <p:cNvSpPr/>
          <p:nvPr/>
        </p:nvSpPr>
        <p:spPr>
          <a:xfrm>
            <a:off x="457200" y="396252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457200" y="18990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7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720" cy="302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PlaceHolder 14"/>
          <p:cNvSpPr/>
          <p:nvPr/>
        </p:nvSpPr>
        <p:spPr>
          <a:xfrm>
            <a:off x="1900800" y="808200"/>
            <a:ext cx="8913960" cy="1089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1910520" y="4601520"/>
            <a:ext cx="28886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Rectangle 43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44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7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60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Rectangle 46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47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9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76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"/>
          <p:cNvSpPr/>
          <p:nvPr/>
        </p:nvSpPr>
        <p:spPr>
          <a:xfrm>
            <a:off x="5490000" y="357876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Rectangle 42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ctangle 48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49"/>
          <p:cNvSpPr/>
          <p:nvPr/>
        </p:nvSpPr>
        <p:spPr>
          <a:xfrm>
            <a:off x="5490000" y="357876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Rectangle 51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52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11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760" cy="265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"/>
          <p:cNvSpPr/>
          <p:nvPr/>
        </p:nvSpPr>
        <p:spPr>
          <a:xfrm>
            <a:off x="5490000" y="357876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"/>
          <p:cNvSpPr/>
          <p:nvPr/>
        </p:nvSpPr>
        <p:spPr>
          <a:xfrm>
            <a:off x="5490000" y="2056680"/>
            <a:ext cx="5936040" cy="116784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Rectangle 57"/>
          <p:cNvSpPr/>
          <p:nvPr/>
        </p:nvSpPr>
        <p:spPr>
          <a:xfrm>
            <a:off x="5486400" y="1371600"/>
            <a:ext cx="61718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58"/>
          <p:cNvSpPr/>
          <p:nvPr/>
        </p:nvSpPr>
        <p:spPr>
          <a:xfrm>
            <a:off x="5490000" y="204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59"/>
          <p:cNvSpPr/>
          <p:nvPr/>
        </p:nvSpPr>
        <p:spPr>
          <a:xfrm>
            <a:off x="5490000" y="357876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5486400" y="1371600"/>
            <a:ext cx="5939640" cy="45324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4" name="Rectangle 60"/>
          <p:cNvSpPr/>
          <p:nvPr/>
        </p:nvSpPr>
        <p:spPr>
          <a:xfrm>
            <a:off x="5490000" y="2406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ectangle 61"/>
          <p:cNvSpPr/>
          <p:nvPr/>
        </p:nvSpPr>
        <p:spPr>
          <a:xfrm>
            <a:off x="5490000" y="2730600"/>
            <a:ext cx="6168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16"/>
          <p:cNvSpPr/>
          <p:nvPr/>
        </p:nvSpPr>
        <p:spPr>
          <a:xfrm>
            <a:off x="0" y="-182520"/>
            <a:ext cx="12184920" cy="1317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"/>
          <p:cNvSpPr/>
          <p:nvPr/>
        </p:nvSpPr>
        <p:spPr>
          <a:xfrm>
            <a:off x="6629400" y="5215320"/>
            <a:ext cx="3884760" cy="76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"/>
          <p:cNvGrpSpPr/>
          <p:nvPr/>
        </p:nvGrpSpPr>
        <p:grpSpPr>
          <a:xfrm>
            <a:off x="6858000" y="1371600"/>
            <a:ext cx="5025240" cy="4110840"/>
            <a:chOff x="6858000" y="1371600"/>
            <a:chExt cx="5025240" cy="4110840"/>
          </a:xfrm>
        </p:grpSpPr>
        <p:pic>
          <p:nvPicPr>
            <p:cNvPr id="280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4280" cy="3719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1" name=""/>
            <p:cNvSpPr/>
            <p:nvPr/>
          </p:nvSpPr>
          <p:spPr>
            <a:xfrm>
              <a:off x="6858000" y="2743200"/>
              <a:ext cx="568800" cy="15634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82" name=""/>
            <p:cNvSpPr/>
            <p:nvPr/>
          </p:nvSpPr>
          <p:spPr>
            <a:xfrm>
              <a:off x="7239600" y="1371600"/>
              <a:ext cx="569160" cy="97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83" name=""/>
            <p:cNvSpPr/>
            <p:nvPr/>
          </p:nvSpPr>
          <p:spPr>
            <a:xfrm>
              <a:off x="11314440" y="1567440"/>
              <a:ext cx="568800" cy="9756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84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"/>
          <p:cNvSpPr/>
          <p:nvPr/>
        </p:nvSpPr>
        <p:spPr>
          <a:xfrm>
            <a:off x="685800" y="1135800"/>
            <a:ext cx="5936040" cy="143568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6" name="Rectangle 62"/>
          <p:cNvSpPr/>
          <p:nvPr/>
        </p:nvSpPr>
        <p:spPr>
          <a:xfrm>
            <a:off x="685800" y="114300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6520" cy="108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63"/>
          <p:cNvSpPr/>
          <p:nvPr/>
        </p:nvSpPr>
        <p:spPr>
          <a:xfrm>
            <a:off x="685800" y="1143000"/>
            <a:ext cx="59396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64"/>
          <p:cNvSpPr/>
          <p:nvPr/>
        </p:nvSpPr>
        <p:spPr>
          <a:xfrm>
            <a:off x="685800" y="3159000"/>
            <a:ext cx="5939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ectangle 65"/>
          <p:cNvSpPr/>
          <p:nvPr/>
        </p:nvSpPr>
        <p:spPr>
          <a:xfrm>
            <a:off x="685800" y="3789000"/>
            <a:ext cx="593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685800" y="4813200"/>
            <a:ext cx="5939640" cy="91044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2" name="Rectangle 69"/>
          <p:cNvSpPr/>
          <p:nvPr/>
        </p:nvSpPr>
        <p:spPr>
          <a:xfrm>
            <a:off x="685800" y="4932000"/>
            <a:ext cx="593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685800" y="3104640"/>
            <a:ext cx="5939640" cy="15354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8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0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1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"/>
          <p:cNvSpPr/>
          <p:nvPr/>
        </p:nvSpPr>
        <p:spPr>
          <a:xfrm flipH="1" flipV="1" rot="16074000">
            <a:off x="1857600" y="894240"/>
            <a:ext cx="453240" cy="49608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"/>
          <p:cNvSpPr/>
          <p:nvPr/>
        </p:nvSpPr>
        <p:spPr>
          <a:xfrm flipH="1" flipV="1" rot="16074000">
            <a:off x="9401400" y="894240"/>
            <a:ext cx="453240" cy="49608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0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1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"/>
          <p:cNvSpPr/>
          <p:nvPr/>
        </p:nvSpPr>
        <p:spPr>
          <a:xfrm>
            <a:off x="101880" y="89280"/>
            <a:ext cx="120088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Many algorithmic tools often struggle with SFC data’s quirks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8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8800" cy="464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9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7960" cy="113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>
            <a:off x="7929000" y="2900880"/>
            <a:ext cx="4113360" cy="131292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1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/>
          <p:nvPr/>
        </p:nvSpPr>
        <p:spPr>
          <a:xfrm>
            <a:off x="101880" y="89280"/>
            <a:ext cx="12008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ectangle 82"/>
          <p:cNvSpPr/>
          <p:nvPr/>
        </p:nvSpPr>
        <p:spPr>
          <a:xfrm>
            <a:off x="7929000" y="2900880"/>
            <a:ext cx="4113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" descr=""/>
          <p:cNvPicPr/>
          <p:nvPr/>
        </p:nvPicPr>
        <p:blipFill>
          <a:blip r:embed="rId3"/>
          <a:srcRect l="0" t="0" r="0" b="9428"/>
          <a:stretch/>
        </p:blipFill>
        <p:spPr>
          <a:xfrm>
            <a:off x="228600" y="1371600"/>
            <a:ext cx="7542360" cy="388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Picture 7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2520" cy="58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Picture 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0" name="Picture 2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4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8280" cy="357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3" name="Picture 5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4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Study Timeline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6" name="Picture 3" descr=""/>
          <p:cNvPicPr/>
          <p:nvPr/>
        </p:nvPicPr>
        <p:blipFill>
          <a:blip r:embed="rId1"/>
          <a:srcRect l="0" t="18235" r="0" b="29137"/>
          <a:stretch/>
        </p:blipFill>
        <p:spPr>
          <a:xfrm>
            <a:off x="404640" y="1332360"/>
            <a:ext cx="11381040" cy="419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Arrow: Right 4"/>
          <p:cNvSpPr/>
          <p:nvPr/>
        </p:nvSpPr>
        <p:spPr>
          <a:xfrm rot="16200000">
            <a:off x="4167720" y="554148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8" name="Arrow: Right 5"/>
          <p:cNvSpPr/>
          <p:nvPr/>
        </p:nvSpPr>
        <p:spPr>
          <a:xfrm rot="16200000">
            <a:off x="9073080" y="555552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9" name="Arrow: Right 6"/>
          <p:cNvSpPr/>
          <p:nvPr/>
        </p:nvSpPr>
        <p:spPr>
          <a:xfrm rot="16200000">
            <a:off x="10784880" y="5576760"/>
            <a:ext cx="529920" cy="285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0" name="Picture 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44" name=""/>
          <p:cNvGrpSpPr/>
          <p:nvPr/>
        </p:nvGrpSpPr>
        <p:grpSpPr>
          <a:xfrm>
            <a:off x="914400" y="757800"/>
            <a:ext cx="2284560" cy="5641560"/>
            <a:chOff x="914400" y="757800"/>
            <a:chExt cx="2284560" cy="5641560"/>
          </a:xfrm>
        </p:grpSpPr>
        <p:pic>
          <p:nvPicPr>
            <p:cNvPr id="345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4560" cy="2573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6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7720" cy="30744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47" name="Picture 4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8160" cy="540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>
            <a:off x="6118920" y="3496680"/>
            <a:ext cx="5104080" cy="143568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0" name="Picture 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8640" cy="607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2" name="Picture 4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9040" cy="549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6"/>
          <p:cNvSpPr/>
          <p:nvPr/>
        </p:nvSpPr>
        <p:spPr>
          <a:xfrm>
            <a:off x="6095880" y="1191240"/>
            <a:ext cx="504504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Repeated 3 AM thoughts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15"/>
          <p:cNvSpPr/>
          <p:nvPr/>
        </p:nvSpPr>
        <p:spPr>
          <a:xfrm>
            <a:off x="6118920" y="3223800"/>
            <a:ext cx="504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6095880" y="1847880"/>
            <a:ext cx="5104080" cy="14356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7" name="Picture 3" descr=""/>
          <p:cNvPicPr/>
          <p:nvPr/>
        </p:nvPicPr>
        <p:blipFill>
          <a:blip r:embed="rId1"/>
          <a:stretch/>
        </p:blipFill>
        <p:spPr>
          <a:xfrm>
            <a:off x="1633320" y="1017360"/>
            <a:ext cx="5833080" cy="463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"/>
          <p:cNvSpPr/>
          <p:nvPr/>
        </p:nvSpPr>
        <p:spPr>
          <a:xfrm>
            <a:off x="7503480" y="1130400"/>
            <a:ext cx="4382280" cy="4557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7507800" y="1780200"/>
            <a:ext cx="4377960" cy="7844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7543800" y="2639160"/>
            <a:ext cx="4341960" cy="784440"/>
          </a:xfrm>
          <a:prstGeom prst="rect">
            <a:avLst/>
          </a:prstGeom>
          <a:solidFill>
            <a:srgbClr val="e8a202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7543800" y="3573000"/>
            <a:ext cx="4341960" cy="1141560"/>
          </a:xfrm>
          <a:prstGeom prst="rect">
            <a:avLst/>
          </a:prstGeom>
          <a:solidFill>
            <a:srgbClr val="a7074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7543800" y="4860000"/>
            <a:ext cx="4341960" cy="76896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Previously looked at unconventional T cells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5"/>
          <p:cNvSpPr/>
          <p:nvPr/>
        </p:nvSpPr>
        <p:spPr>
          <a:xfrm>
            <a:off x="7457760" y="1780200"/>
            <a:ext cx="4464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Shifting from 50%-50% FlowJo – R to increasingly more 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18960" y="2425680"/>
            <a:ext cx="1517400" cy="151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TextBox 9"/>
          <p:cNvSpPr/>
          <p:nvPr/>
        </p:nvSpPr>
        <p:spPr>
          <a:xfrm>
            <a:off x="241920" y="4029840"/>
            <a:ext cx="127692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Picture 10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TextBox 16"/>
          <p:cNvSpPr/>
          <p:nvPr/>
        </p:nvSpPr>
        <p:spPr>
          <a:xfrm>
            <a:off x="7457760" y="3162600"/>
            <a:ext cx="4464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Building around reproducibility from the start (not as an after thought)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17"/>
          <p:cNvSpPr/>
          <p:nvPr/>
        </p:nvSpPr>
        <p:spPr>
          <a:xfrm>
            <a:off x="7484400" y="4847400"/>
            <a:ext cx="47062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Improved Bioconductor interoperability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18"/>
          <p:cNvSpPr/>
          <p:nvPr/>
        </p:nvSpPr>
        <p:spPr>
          <a:xfrm>
            <a:off x="7474680" y="1096920"/>
            <a:ext cx="4464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Main differences this time around: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20"/>
          <p:cNvSpPr/>
          <p:nvPr/>
        </p:nvSpPr>
        <p:spPr>
          <a:xfrm>
            <a:off x="7457760" y="2237400"/>
            <a:ext cx="44640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Targeted re-writes in Rust to speed up original R code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2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4" name="Picture 1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880" cy="578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Picture 4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Rectangle 1"/>
          <p:cNvSpPr/>
          <p:nvPr/>
        </p:nvSpPr>
        <p:spPr>
          <a:xfrm>
            <a:off x="2548800" y="697320"/>
            <a:ext cx="5118840" cy="5467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8" name="Rectangle 22"/>
          <p:cNvSpPr/>
          <p:nvPr/>
        </p:nvSpPr>
        <p:spPr>
          <a:xfrm>
            <a:off x="2668680" y="1095120"/>
            <a:ext cx="4559400" cy="31986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Acquisition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3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Rectangle 50"/>
          <p:cNvSpPr/>
          <p:nvPr/>
        </p:nvSpPr>
        <p:spPr>
          <a:xfrm>
            <a:off x="2645280" y="1318320"/>
            <a:ext cx="4614840" cy="34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Acquired day of staining on a 5-Laser Cytek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flushed with 10% Contrad and Water for 20 minutes pre-use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passed by both the UMGCCC FCSR and Cytek’s QC criteria immediately before acquisition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3"/>
          <p:cNvSpPr/>
          <p:nvPr/>
        </p:nvSpPr>
        <p:spPr>
          <a:xfrm>
            <a:off x="7428600" y="2621880"/>
            <a:ext cx="2500200" cy="92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UMGCCC FCSR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InstrumentQC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9473760" y="2621880"/>
            <a:ext cx="2500200" cy="10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Plots for our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5L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12"/>
          <p:cNvSpPr/>
          <p:nvPr/>
        </p:nvSpPr>
        <p:spPr>
          <a:xfrm>
            <a:off x="9487800" y="5092200"/>
            <a:ext cx="250020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How-To-Set-Up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13"/>
          <p:cNvSpPr/>
          <p:nvPr/>
        </p:nvSpPr>
        <p:spPr>
          <a:xfrm>
            <a:off x="7524360" y="5085000"/>
            <a:ext cx="250020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Historical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5L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6" name="Graphic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37720" y="3212280"/>
            <a:ext cx="1846800" cy="184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Graphic 1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05120" y="858600"/>
            <a:ext cx="18237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Graphic 1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7930080" y="851760"/>
            <a:ext cx="1836360" cy="183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Graphic 21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15560" y="3288240"/>
            <a:ext cx="1845720" cy="184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Arrow: Down 23"/>
          <p:cNvSpPr/>
          <p:nvPr/>
        </p:nvSpPr>
        <p:spPr>
          <a:xfrm rot="16200000">
            <a:off x="207000" y="98532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91" name="Picture 24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5787000" y="3558600"/>
            <a:ext cx="4727520" cy="78444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5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7360" cy="47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Rectangle 66"/>
          <p:cNvSpPr/>
          <p:nvPr/>
        </p:nvSpPr>
        <p:spPr>
          <a:xfrm>
            <a:off x="5730480" y="2142360"/>
            <a:ext cx="5469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ectangle 67"/>
          <p:cNvSpPr/>
          <p:nvPr/>
        </p:nvSpPr>
        <p:spPr>
          <a:xfrm>
            <a:off x="5751000" y="4163760"/>
            <a:ext cx="49921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ectangle 68"/>
          <p:cNvSpPr/>
          <p:nvPr/>
        </p:nvSpPr>
        <p:spPr>
          <a:xfrm>
            <a:off x="5751000" y="3177360"/>
            <a:ext cx="5469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5787000" y="4601880"/>
            <a:ext cx="4727520" cy="78444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5751000" y="2572200"/>
            <a:ext cx="4763520" cy="78444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Picture 71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7640" cy="158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Picture 66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5" name="Picture 67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8440" cy="444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6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6280" cy="169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3000" cy="501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3000" cy="5014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9" name="Picture 68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3920" cy="159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000" cy="695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Picture 69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8120" cy="53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Picture 70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6440" cy="517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Evaluating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3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Rectangle 1"/>
          <p:cNvSpPr/>
          <p:nvPr/>
        </p:nvSpPr>
        <p:spPr>
          <a:xfrm>
            <a:off x="2548800" y="697320"/>
            <a:ext cx="5118840" cy="5461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7609680" y="426312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4"/>
          <p:cNvSpPr/>
          <p:nvPr/>
        </p:nvSpPr>
        <p:spPr>
          <a:xfrm>
            <a:off x="9716400" y="426708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940880" y="2308680"/>
            <a:ext cx="1868040" cy="186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Graphic 10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41840" y="2368440"/>
            <a:ext cx="1829520" cy="182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Rectangle 5"/>
          <p:cNvSpPr/>
          <p:nvPr/>
        </p:nvSpPr>
        <p:spPr>
          <a:xfrm>
            <a:off x="2658240" y="818640"/>
            <a:ext cx="4655160" cy="481464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1" name="Rectangle 6"/>
          <p:cNvSpPr/>
          <p:nvPr/>
        </p:nvSpPr>
        <p:spPr>
          <a:xfrm>
            <a:off x="2700720" y="1041840"/>
            <a:ext cx="4506480" cy="447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New unmixing controls acquired with each experiment.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Extra specimen cells acquired as additional unstained controls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Controls are screened for suitability for unmixing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Single-colors: Tandem degradation, and autofluorescence contamination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Unstained(s): Presence of multiple-autofluorescences in lymphocyte gate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Flagged unmixing controls are replaced with equivalents from adjacent experimental date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Arrow: Down 7"/>
          <p:cNvSpPr/>
          <p:nvPr/>
        </p:nvSpPr>
        <p:spPr>
          <a:xfrm rot="16200000">
            <a:off x="217800" y="204840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3" name="Picture 9" descr=""/>
          <p:cNvPicPr/>
          <p:nvPr/>
        </p:nvPicPr>
        <p:blipFill>
          <a:blip r:embed="rId6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4" name="" descr=""/>
          <p:cNvPicPr/>
          <p:nvPr/>
        </p:nvPicPr>
        <p:blipFill>
          <a:blip r:embed="rId7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Picture 4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2721960" y="0"/>
            <a:ext cx="6515640" cy="63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Luciernaga: Individual Cell Normalized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7" name="Picture 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0" y="286920"/>
            <a:ext cx="2547000" cy="267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8" name="TextBox 6"/>
          <p:cNvSpPr/>
          <p:nvPr/>
        </p:nvSpPr>
        <p:spPr>
          <a:xfrm>
            <a:off x="127440" y="551016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6920" y="3807720"/>
            <a:ext cx="1623600" cy="162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Picture 9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3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4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/>
          <p:nvPr/>
        </p:nvSpPr>
        <p:spPr>
          <a:xfrm>
            <a:off x="6487920" y="2309040"/>
            <a:ext cx="4543200" cy="20160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6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4160" cy="154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"/>
          <p:cNvSpPr/>
          <p:nvPr/>
        </p:nvSpPr>
        <p:spPr>
          <a:xfrm>
            <a:off x="6993360" y="3948840"/>
            <a:ext cx="35326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928440" y="3677040"/>
            <a:ext cx="5048640" cy="201600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5920" cy="146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"/>
          <p:cNvSpPr/>
          <p:nvPr/>
        </p:nvSpPr>
        <p:spPr>
          <a:xfrm>
            <a:off x="1686600" y="5356800"/>
            <a:ext cx="353232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914400" y="1143000"/>
            <a:ext cx="5062680" cy="227556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42" name=""/>
          <p:cNvGrpSpPr/>
          <p:nvPr/>
        </p:nvGrpSpPr>
        <p:grpSpPr>
          <a:xfrm>
            <a:off x="1686600" y="1233360"/>
            <a:ext cx="3944520" cy="1782000"/>
            <a:chOff x="1686600" y="1233360"/>
            <a:chExt cx="3944520" cy="1782000"/>
          </a:xfrm>
        </p:grpSpPr>
        <p:sp>
          <p:nvSpPr>
            <p:cNvPr id="443" name="Arrow: Right 2"/>
            <p:cNvSpPr/>
            <p:nvPr/>
          </p:nvSpPr>
          <p:spPr>
            <a:xfrm rot="10800000">
              <a:off x="4870800" y="1356840"/>
              <a:ext cx="416160" cy="219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44" name="TextBox 4"/>
            <p:cNvSpPr/>
            <p:nvPr/>
          </p:nvSpPr>
          <p:spPr>
            <a:xfrm>
              <a:off x="4759200" y="1505520"/>
              <a:ext cx="8719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45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3040" cy="17820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46" name="TextBox 3"/>
            <p:cNvSpPr/>
            <p:nvPr/>
          </p:nvSpPr>
          <p:spPr>
            <a:xfrm>
              <a:off x="3405960" y="1486440"/>
              <a:ext cx="62604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7" name="Arrow: Right 1"/>
            <p:cNvSpPr/>
            <p:nvPr/>
          </p:nvSpPr>
          <p:spPr>
            <a:xfrm>
              <a:off x="4076640" y="1538280"/>
              <a:ext cx="218160" cy="2192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48" name=""/>
          <p:cNvSpPr/>
          <p:nvPr/>
        </p:nvSpPr>
        <p:spPr>
          <a:xfrm>
            <a:off x="1939320" y="3028680"/>
            <a:ext cx="277380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>
            <a:off x="516600" y="3854880"/>
            <a:ext cx="6169680" cy="7164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"/>
          <p:cNvSpPr/>
          <p:nvPr/>
        </p:nvSpPr>
        <p:spPr>
          <a:xfrm>
            <a:off x="509400" y="2660400"/>
            <a:ext cx="6176880" cy="102168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5440" cy="29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"/>
          <p:cNvSpPr/>
          <p:nvPr/>
        </p:nvSpPr>
        <p:spPr>
          <a:xfrm>
            <a:off x="277200" y="961920"/>
            <a:ext cx="558900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3" name=""/>
          <p:cNvSpPr/>
          <p:nvPr/>
        </p:nvSpPr>
        <p:spPr>
          <a:xfrm>
            <a:off x="468000" y="2588400"/>
            <a:ext cx="64342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>
            <a:off x="480600" y="3813840"/>
            <a:ext cx="639828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47520"/>
            <a:ext cx="12341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6" name="Picture 7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7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"/>
          <p:cNvSpPr/>
          <p:nvPr/>
        </p:nvSpPr>
        <p:spPr>
          <a:xfrm>
            <a:off x="516600" y="1444320"/>
            <a:ext cx="6168960" cy="105840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9" name=""/>
          <p:cNvSpPr/>
          <p:nvPr/>
        </p:nvSpPr>
        <p:spPr>
          <a:xfrm>
            <a:off x="473400" y="1408320"/>
            <a:ext cx="61768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/>
          <p:nvPr/>
        </p:nvSpPr>
        <p:spPr>
          <a:xfrm>
            <a:off x="5257800" y="2861640"/>
            <a:ext cx="5940360" cy="98676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1" name=""/>
          <p:cNvSpPr/>
          <p:nvPr/>
        </p:nvSpPr>
        <p:spPr>
          <a:xfrm>
            <a:off x="5255280" y="4057920"/>
            <a:ext cx="5952960" cy="109044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2" name=""/>
          <p:cNvSpPr/>
          <p:nvPr/>
        </p:nvSpPr>
        <p:spPr>
          <a:xfrm>
            <a:off x="5258520" y="1494720"/>
            <a:ext cx="5940360" cy="11379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63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3960" cy="201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4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9480" cy="199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5" name=""/>
          <p:cNvSpPr/>
          <p:nvPr/>
        </p:nvSpPr>
        <p:spPr>
          <a:xfrm>
            <a:off x="5259240" y="1539000"/>
            <a:ext cx="6168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5221800" y="3987360"/>
            <a:ext cx="5950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5257800" y="2791080"/>
            <a:ext cx="59403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46800"/>
            <a:ext cx="1218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Picture 7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0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50160" cy="2631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"/>
          <p:cNvSpPr/>
          <p:nvPr/>
        </p:nvSpPr>
        <p:spPr>
          <a:xfrm>
            <a:off x="217800" y="2178000"/>
            <a:ext cx="4352760" cy="172872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3" name=""/>
          <p:cNvSpPr/>
          <p:nvPr/>
        </p:nvSpPr>
        <p:spPr>
          <a:xfrm>
            <a:off x="251280" y="4057920"/>
            <a:ext cx="4319280" cy="165564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"/>
          <p:cNvSpPr/>
          <p:nvPr/>
        </p:nvSpPr>
        <p:spPr>
          <a:xfrm>
            <a:off x="228600" y="1494720"/>
            <a:ext cx="4316040" cy="5612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5" name=""/>
          <p:cNvSpPr/>
          <p:nvPr/>
        </p:nvSpPr>
        <p:spPr>
          <a:xfrm>
            <a:off x="255240" y="1539000"/>
            <a:ext cx="4315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217800" y="3987360"/>
            <a:ext cx="435276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181800" y="2142000"/>
            <a:ext cx="438876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46800"/>
            <a:ext cx="1218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80" name=""/>
          <p:cNvGrpSpPr/>
          <p:nvPr/>
        </p:nvGrpSpPr>
        <p:grpSpPr>
          <a:xfrm>
            <a:off x="4800600" y="1092600"/>
            <a:ext cx="6627960" cy="2106360"/>
            <a:chOff x="4800600" y="1092600"/>
            <a:chExt cx="6627960" cy="2106360"/>
          </a:xfrm>
        </p:grpSpPr>
        <p:pic>
          <p:nvPicPr>
            <p:cNvPr id="481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7960" cy="2098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82" name=""/>
            <p:cNvSpPr/>
            <p:nvPr/>
          </p:nvSpPr>
          <p:spPr>
            <a:xfrm>
              <a:off x="5064120" y="1103040"/>
              <a:ext cx="3310200" cy="1922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83" name=""/>
            <p:cNvSpPr/>
            <p:nvPr/>
          </p:nvSpPr>
          <p:spPr>
            <a:xfrm>
              <a:off x="8028000" y="1092600"/>
              <a:ext cx="3310200" cy="19188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84" name="Picture 87" descr="A group of images of a square&#10;&#10;AI-generated content may be incorrect."/>
          <p:cNvPicPr/>
          <p:nvPr/>
        </p:nvPicPr>
        <p:blipFill>
          <a:blip r:embed="rId3"/>
          <a:srcRect l="0" t="67031" r="0" b="0"/>
          <a:stretch/>
        </p:blipFill>
        <p:spPr>
          <a:xfrm>
            <a:off x="5029200" y="3373200"/>
            <a:ext cx="6062760" cy="256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TextBox 21"/>
          <p:cNvSpPr/>
          <p:nvPr/>
        </p:nvSpPr>
        <p:spPr>
          <a:xfrm>
            <a:off x="5221800" y="5943600"/>
            <a:ext cx="3198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22"/>
          <p:cNvSpPr/>
          <p:nvPr/>
        </p:nvSpPr>
        <p:spPr>
          <a:xfrm>
            <a:off x="8001000" y="5991120"/>
            <a:ext cx="3198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 rot="7421400">
            <a:off x="9690120" y="1180800"/>
            <a:ext cx="455760" cy="45576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9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3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Rectangle 1"/>
          <p:cNvSpPr/>
          <p:nvPr/>
        </p:nvSpPr>
        <p:spPr>
          <a:xfrm>
            <a:off x="2548800" y="697320"/>
            <a:ext cx="5118840" cy="5461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1" name="TextBox 5"/>
          <p:cNvSpPr/>
          <p:nvPr/>
        </p:nvSpPr>
        <p:spPr>
          <a:xfrm>
            <a:off x="7609680" y="304056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TRU-OLS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8"/>
          <p:cNvSpPr/>
          <p:nvPr/>
        </p:nvSpPr>
        <p:spPr>
          <a:xfrm>
            <a:off x="9716400" y="304416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TRU-OLS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11"/>
          <p:cNvSpPr/>
          <p:nvPr/>
        </p:nvSpPr>
        <p:spPr>
          <a:xfrm>
            <a:off x="7682040" y="56044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AutoSpectral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14"/>
          <p:cNvSpPr/>
          <p:nvPr/>
        </p:nvSpPr>
        <p:spPr>
          <a:xfrm>
            <a:off x="9773640" y="554724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AutoSpectral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Walk-through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5" name="Graphic 1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73360" y="3657600"/>
            <a:ext cx="1846080" cy="184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Graphic 18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004960" y="1074600"/>
            <a:ext cx="1861200" cy="186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7" name="Graphic 22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035720" y="1074600"/>
            <a:ext cx="1876680" cy="187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Graphic 2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73520" y="3634920"/>
            <a:ext cx="1850040" cy="185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Arrow: Down 25"/>
          <p:cNvSpPr/>
          <p:nvPr/>
        </p:nvSpPr>
        <p:spPr>
          <a:xfrm rot="16200000">
            <a:off x="185760" y="309060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0" name="Rectangle 26"/>
          <p:cNvSpPr/>
          <p:nvPr/>
        </p:nvSpPr>
        <p:spPr>
          <a:xfrm>
            <a:off x="2689920" y="1850040"/>
            <a:ext cx="4655160" cy="310284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1" name="Rectangle 27"/>
          <p:cNvSpPr/>
          <p:nvPr/>
        </p:nvSpPr>
        <p:spPr>
          <a:xfrm>
            <a:off x="2743200" y="2020320"/>
            <a:ext cx="4506480" cy="28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Method Agnostic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in SpectroFlo (with modified single-color and unstained inputs via Luciernaga)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in 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OLS (Luciernaga using Rust)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TRU-OLS (via Julia wrapper)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AutoSpectral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Picture 28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4" name="Graphic 13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323720" y="2697480"/>
            <a:ext cx="1474920" cy="147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File Checks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Picture 2" descr=""/>
          <p:cNvPicPr/>
          <p:nvPr/>
        </p:nvPicPr>
        <p:blipFill>
          <a:blip r:embed="rId3"/>
          <a:srcRect l="0" t="0" r="68257" b="0"/>
          <a:stretch/>
        </p:blipFill>
        <p:spPr>
          <a:xfrm>
            <a:off x="-99000" y="491400"/>
            <a:ext cx="26233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Rectangle 1"/>
          <p:cNvSpPr/>
          <p:nvPr/>
        </p:nvSpPr>
        <p:spPr>
          <a:xfrm>
            <a:off x="2548800" y="697320"/>
            <a:ext cx="5118840" cy="5461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8" name="TextBox 5"/>
          <p:cNvSpPr/>
          <p:nvPr/>
        </p:nvSpPr>
        <p:spPr>
          <a:xfrm>
            <a:off x="7930800" y="2229120"/>
            <a:ext cx="16916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8"/>
          <p:cNvSpPr/>
          <p:nvPr/>
        </p:nvSpPr>
        <p:spPr>
          <a:xfrm>
            <a:off x="9994320" y="1983600"/>
            <a:ext cx="169164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 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Box 11"/>
          <p:cNvSpPr/>
          <p:nvPr/>
        </p:nvSpPr>
        <p:spPr>
          <a:xfrm>
            <a:off x="8019000" y="4299480"/>
            <a:ext cx="16916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FlowAI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14"/>
          <p:cNvSpPr/>
          <p:nvPr/>
        </p:nvSpPr>
        <p:spPr>
          <a:xfrm>
            <a:off x="10008000" y="4339440"/>
            <a:ext cx="16916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FlowAI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13400" y="571320"/>
            <a:ext cx="1511640" cy="151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Graphic 7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321560" y="564480"/>
            <a:ext cx="1483920" cy="148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4" name="Graphic 10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41120" y="2695320"/>
            <a:ext cx="1465560" cy="146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5" name="Graphic 17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296920" y="4601160"/>
            <a:ext cx="1474920" cy="147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Box 19"/>
          <p:cNvSpPr/>
          <p:nvPr/>
        </p:nvSpPr>
        <p:spPr>
          <a:xfrm>
            <a:off x="7994880" y="5928480"/>
            <a:ext cx="169164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 in Rust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Arrow: Down 20"/>
          <p:cNvSpPr/>
          <p:nvPr/>
        </p:nvSpPr>
        <p:spPr>
          <a:xfrm rot="16200000">
            <a:off x="175320" y="424944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8" name="Rectangle 21"/>
          <p:cNvSpPr/>
          <p:nvPr/>
        </p:nvSpPr>
        <p:spPr>
          <a:xfrm>
            <a:off x="2775240" y="3987360"/>
            <a:ext cx="4655160" cy="17949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9" name="Rectangle 23"/>
          <p:cNvSpPr/>
          <p:nvPr/>
        </p:nvSpPr>
        <p:spPr>
          <a:xfrm>
            <a:off x="2828160" y="3880800"/>
            <a:ext cx="450648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Checking for fluidic or laser-related issues in the unmixed files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R: PeacoQC or FlowAI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Rust: PeacoQC (thanks James!)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Picture 25" descr=""/>
          <p:cNvPicPr/>
          <p:nvPr/>
        </p:nvPicPr>
        <p:blipFill>
          <a:blip r:embed="rId1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" descr=""/>
          <p:cNvPicPr/>
          <p:nvPr/>
        </p:nvPicPr>
        <p:blipFill>
          <a:blip r:embed="rId1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Manual and Automated Gating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3" name="Picture 2" descr=""/>
          <p:cNvPicPr/>
          <p:nvPr/>
        </p:nvPicPr>
        <p:blipFill>
          <a:blip r:embed="rId1"/>
          <a:srcRect l="0" t="0" r="48220" b="0"/>
          <a:stretch/>
        </p:blipFill>
        <p:spPr>
          <a:xfrm>
            <a:off x="-99000" y="491400"/>
            <a:ext cx="428076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Rectangle 1"/>
          <p:cNvSpPr/>
          <p:nvPr/>
        </p:nvSpPr>
        <p:spPr>
          <a:xfrm>
            <a:off x="4103280" y="697320"/>
            <a:ext cx="3564360" cy="5461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5" name="TextBox 3"/>
          <p:cNvSpPr/>
          <p:nvPr/>
        </p:nvSpPr>
        <p:spPr>
          <a:xfrm>
            <a:off x="7826760" y="209160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flowGate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4"/>
          <p:cNvSpPr/>
          <p:nvPr/>
        </p:nvSpPr>
        <p:spPr>
          <a:xfrm>
            <a:off x="9785160" y="208404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flowGate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5"/>
          <p:cNvSpPr/>
          <p:nvPr/>
        </p:nvSpPr>
        <p:spPr>
          <a:xfrm>
            <a:off x="7841880" y="40384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openCyto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6"/>
          <p:cNvSpPr/>
          <p:nvPr/>
        </p:nvSpPr>
        <p:spPr>
          <a:xfrm>
            <a:off x="9727920" y="403848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openCyto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Walk-through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7"/>
          <p:cNvSpPr/>
          <p:nvPr/>
        </p:nvSpPr>
        <p:spPr>
          <a:xfrm>
            <a:off x="7868520" y="593964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flowMagic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8"/>
          <p:cNvSpPr/>
          <p:nvPr/>
        </p:nvSpPr>
        <p:spPr>
          <a:xfrm>
            <a:off x="9697320" y="5761440"/>
            <a:ext cx="210420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flowMagic Manual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Graphic 10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416440" y="617400"/>
            <a:ext cx="1392840" cy="139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2" name="Graphic 12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276560" y="626040"/>
            <a:ext cx="1383840" cy="138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3" name="Graphic 1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402040" y="2558880"/>
            <a:ext cx="1395720" cy="139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Graphic 16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303920" y="2520000"/>
            <a:ext cx="1448280" cy="144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5" name="Graphic 18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427600" y="4415400"/>
            <a:ext cx="1404360" cy="14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6" name="Graphic 22" descr="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0285560" y="4452480"/>
            <a:ext cx="1375200" cy="137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Rectangle 23"/>
          <p:cNvSpPr/>
          <p:nvPr/>
        </p:nvSpPr>
        <p:spPr>
          <a:xfrm>
            <a:off x="4231800" y="2860200"/>
            <a:ext cx="3241080" cy="31986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8" name="Rectangle 24"/>
          <p:cNvSpPr/>
          <p:nvPr/>
        </p:nvSpPr>
        <p:spPr>
          <a:xfrm>
            <a:off x="4165920" y="2926080"/>
            <a:ext cx="3392280" cy="31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Doublets, Debris, Dead cell cleanup (in R or FlowJo)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 for major cell subsets (openCyto or flowMagic)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automated gate placements visualized via export to a .pdf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Arrow: Down 25"/>
          <p:cNvSpPr/>
          <p:nvPr/>
        </p:nvSpPr>
        <p:spPr>
          <a:xfrm rot="5400000">
            <a:off x="4026240" y="91944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0" name="Arrow: Down 27"/>
          <p:cNvSpPr/>
          <p:nvPr/>
        </p:nvSpPr>
        <p:spPr>
          <a:xfrm rot="5400000">
            <a:off x="4019040" y="197568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1" name="Picture 28" descr=""/>
          <p:cNvPicPr/>
          <p:nvPr/>
        </p:nvPicPr>
        <p:blipFill>
          <a:blip r:embed="rId14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" descr=""/>
          <p:cNvPicPr/>
          <p:nvPr/>
        </p:nvPicPr>
        <p:blipFill>
          <a:blip r:embed="rId15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Save to FlowJo v10 .wsp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4" name="Picture 2" descr=""/>
          <p:cNvPicPr/>
          <p:nvPr/>
        </p:nvPicPr>
        <p:blipFill>
          <a:blip r:embed="rId1"/>
          <a:srcRect l="0" t="0" r="48220" b="0"/>
          <a:stretch/>
        </p:blipFill>
        <p:spPr>
          <a:xfrm>
            <a:off x="-99000" y="491400"/>
            <a:ext cx="428076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Rectangle 1"/>
          <p:cNvSpPr/>
          <p:nvPr/>
        </p:nvSpPr>
        <p:spPr>
          <a:xfrm>
            <a:off x="4103280" y="697320"/>
            <a:ext cx="3564360" cy="5461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6" name="TextBox 3"/>
          <p:cNvSpPr/>
          <p:nvPr/>
        </p:nvSpPr>
        <p:spPr>
          <a:xfrm>
            <a:off x="7826760" y="2091600"/>
            <a:ext cx="22071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flowWorkspace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Box 4"/>
          <p:cNvSpPr/>
          <p:nvPr/>
        </p:nvSpPr>
        <p:spPr>
          <a:xfrm>
            <a:off x="9785160" y="2084040"/>
            <a:ext cx="2104200" cy="2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CytoML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Box 5"/>
          <p:cNvSpPr/>
          <p:nvPr/>
        </p:nvSpPr>
        <p:spPr>
          <a:xfrm>
            <a:off x="7841880" y="40384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FlowJo to 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Box 6"/>
          <p:cNvSpPr/>
          <p:nvPr/>
        </p:nvSpPr>
        <p:spPr>
          <a:xfrm>
            <a:off x="9727920" y="40384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to FlowJo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7"/>
          <p:cNvSpPr/>
          <p:nvPr/>
        </p:nvSpPr>
        <p:spPr>
          <a:xfrm>
            <a:off x="7779960" y="5997600"/>
            <a:ext cx="24624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for Statistics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1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481240" y="709560"/>
            <a:ext cx="1315440" cy="131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Graphic 1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93200" y="663120"/>
            <a:ext cx="1312560" cy="131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3" name="Graphic 1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503920" y="2584080"/>
            <a:ext cx="1315440" cy="131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4" name="Graphic 21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310040" y="2584080"/>
            <a:ext cx="1315440" cy="131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Graphic 24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488800" y="4572000"/>
            <a:ext cx="1339920" cy="13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Rectangle 25"/>
          <p:cNvSpPr/>
          <p:nvPr/>
        </p:nvSpPr>
        <p:spPr>
          <a:xfrm>
            <a:off x="4178520" y="890640"/>
            <a:ext cx="3382920" cy="238032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7" name="Rectangle 26"/>
          <p:cNvSpPr/>
          <p:nvPr/>
        </p:nvSpPr>
        <p:spPr>
          <a:xfrm>
            <a:off x="4155120" y="1041840"/>
            <a:ext cx="3423960" cy="25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Everything is saved to a FlowJo v10 .wsp, via CytoML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Any automated gates that need adjustment get corrected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Arrow: Down 27"/>
          <p:cNvSpPr/>
          <p:nvPr/>
        </p:nvSpPr>
        <p:spPr>
          <a:xfrm rot="5400000">
            <a:off x="4104000" y="323028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9" name="Rectangle 28"/>
          <p:cNvSpPr/>
          <p:nvPr/>
        </p:nvSpPr>
        <p:spPr>
          <a:xfrm>
            <a:off x="4160880" y="4051080"/>
            <a:ext cx="3382920" cy="8913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0" name="Rectangle 29"/>
          <p:cNvSpPr/>
          <p:nvPr/>
        </p:nvSpPr>
        <p:spPr>
          <a:xfrm>
            <a:off x="4137480" y="4128840"/>
            <a:ext cx="3423960" cy="10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Major cell subset statistics exported and analyzed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Arrow: Down 30"/>
          <p:cNvSpPr/>
          <p:nvPr/>
        </p:nvSpPr>
        <p:spPr>
          <a:xfrm rot="5400000">
            <a:off x="4086360" y="487116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62" name="Picture 31" descr=""/>
          <p:cNvPicPr/>
          <p:nvPr/>
        </p:nvPicPr>
        <p:blipFill>
          <a:blip r:embed="rId1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3" name="" descr=""/>
          <p:cNvPicPr/>
          <p:nvPr/>
        </p:nvPicPr>
        <p:blipFill>
          <a:blip r:embed="rId1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Iterating through cell subsets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Picture 2" descr=""/>
          <p:cNvPicPr/>
          <p:nvPr/>
        </p:nvPicPr>
        <p:blipFill>
          <a:blip r:embed="rId1"/>
          <a:srcRect l="0" t="0" r="6365" b="1419"/>
          <a:stretch/>
        </p:blipFill>
        <p:spPr>
          <a:xfrm>
            <a:off x="-99000" y="491400"/>
            <a:ext cx="7742160" cy="570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Rectangle 1"/>
          <p:cNvSpPr/>
          <p:nvPr/>
        </p:nvSpPr>
        <p:spPr>
          <a:xfrm>
            <a:off x="5911560" y="697320"/>
            <a:ext cx="2337480" cy="5010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7" name="TextBox 3"/>
          <p:cNvSpPr/>
          <p:nvPr/>
        </p:nvSpPr>
        <p:spPr>
          <a:xfrm>
            <a:off x="10053000" y="2738880"/>
            <a:ext cx="19706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GatingSets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4"/>
          <p:cNvSpPr/>
          <p:nvPr/>
        </p:nvSpPr>
        <p:spPr>
          <a:xfrm>
            <a:off x="10121400" y="5346360"/>
            <a:ext cx="19706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9"/>
          <p:cNvSpPr/>
          <p:nvPr/>
        </p:nvSpPr>
        <p:spPr>
          <a:xfrm>
            <a:off x="8113680" y="2738880"/>
            <a:ext cx="20494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Subset Export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Box 10"/>
          <p:cNvSpPr/>
          <p:nvPr/>
        </p:nvSpPr>
        <p:spPr>
          <a:xfrm>
            <a:off x="8136360" y="5343120"/>
            <a:ext cx="19706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7400" y="3582360"/>
            <a:ext cx="1821600" cy="162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72320" y="3570480"/>
            <a:ext cx="1818000" cy="162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3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22120" y="914400"/>
            <a:ext cx="1882440" cy="168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4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64680" y="929160"/>
            <a:ext cx="1810440" cy="161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Arrow: Down 19"/>
          <p:cNvSpPr/>
          <p:nvPr/>
        </p:nvSpPr>
        <p:spPr>
          <a:xfrm rot="5400000">
            <a:off x="5964840" y="164628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6" name="Rectangle 20"/>
          <p:cNvSpPr/>
          <p:nvPr/>
        </p:nvSpPr>
        <p:spPr>
          <a:xfrm>
            <a:off x="6119640" y="2360520"/>
            <a:ext cx="2058480" cy="266724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7" name="Rectangle 21"/>
          <p:cNvSpPr/>
          <p:nvPr/>
        </p:nvSpPr>
        <p:spPr>
          <a:xfrm>
            <a:off x="6095880" y="2445480"/>
            <a:ext cx="208224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subset of interest exported out as own .fcs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subset .fcs files brought into 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Picture 22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1" name="Picture 2" descr=""/>
          <p:cNvPicPr/>
          <p:nvPr/>
        </p:nvPicPr>
        <p:blipFill>
          <a:blip r:embed="rId1"/>
          <a:srcRect l="0" t="0" r="6365" b="1419"/>
          <a:stretch/>
        </p:blipFill>
        <p:spPr>
          <a:xfrm>
            <a:off x="-99000" y="491400"/>
            <a:ext cx="7742160" cy="570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Rectangle 1"/>
          <p:cNvSpPr/>
          <p:nvPr/>
        </p:nvSpPr>
        <p:spPr>
          <a:xfrm>
            <a:off x="5911560" y="697320"/>
            <a:ext cx="2337480" cy="5010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3" name="TextBox 3"/>
          <p:cNvSpPr/>
          <p:nvPr/>
        </p:nvSpPr>
        <p:spPr>
          <a:xfrm>
            <a:off x="10053000" y="2738880"/>
            <a:ext cx="19706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GatingSets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Box 4"/>
          <p:cNvSpPr/>
          <p:nvPr/>
        </p:nvSpPr>
        <p:spPr>
          <a:xfrm>
            <a:off x="10121400" y="5346360"/>
            <a:ext cx="19706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Box 9"/>
          <p:cNvSpPr/>
          <p:nvPr/>
        </p:nvSpPr>
        <p:spPr>
          <a:xfrm>
            <a:off x="8113680" y="2738880"/>
            <a:ext cx="20494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Subset Export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10"/>
          <p:cNvSpPr/>
          <p:nvPr/>
        </p:nvSpPr>
        <p:spPr>
          <a:xfrm>
            <a:off x="8136360" y="5343120"/>
            <a:ext cx="197064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7400" y="3582360"/>
            <a:ext cx="1821600" cy="162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72320" y="3570480"/>
            <a:ext cx="1818000" cy="162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22120" y="914400"/>
            <a:ext cx="1882440" cy="168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0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64680" y="929160"/>
            <a:ext cx="1810440" cy="161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Arrow: Down 19"/>
          <p:cNvSpPr/>
          <p:nvPr/>
        </p:nvSpPr>
        <p:spPr>
          <a:xfrm rot="5400000">
            <a:off x="6177600" y="325152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2" name="Rectangle 21"/>
          <p:cNvSpPr/>
          <p:nvPr/>
        </p:nvSpPr>
        <p:spPr>
          <a:xfrm>
            <a:off x="5989680" y="875880"/>
            <a:ext cx="2082240" cy="70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Rectangle 8"/>
          <p:cNvSpPr/>
          <p:nvPr/>
        </p:nvSpPr>
        <p:spPr>
          <a:xfrm>
            <a:off x="6095880" y="2828160"/>
            <a:ext cx="1865880" cy="4233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4" name="TextBox 6"/>
          <p:cNvSpPr/>
          <p:nvPr/>
        </p:nvSpPr>
        <p:spPr>
          <a:xfrm>
            <a:off x="6095880" y="2845440"/>
            <a:ext cx="183420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5" name="Picture 11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6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Picture 27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560" cy="17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Picture 72" descr=""/>
          <p:cNvPicPr/>
          <p:nvPr/>
        </p:nvPicPr>
        <p:blipFill>
          <a:blip r:embed="rId2"/>
          <a:stretch/>
        </p:blipFill>
        <p:spPr>
          <a:xfrm>
            <a:off x="1523880" y="1185480"/>
            <a:ext cx="9142200" cy="63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Arrow: Down 2"/>
          <p:cNvSpPr/>
          <p:nvPr/>
        </p:nvSpPr>
        <p:spPr>
          <a:xfrm>
            <a:off x="7251480" y="829440"/>
            <a:ext cx="519120" cy="753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1" name="Picture 76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2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Picture 4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2440" cy="641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960" cy="286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Box 8"/>
          <p:cNvSpPr/>
          <p:nvPr/>
        </p:nvSpPr>
        <p:spPr>
          <a:xfrm>
            <a:off x="499680" y="55846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960" cy="183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1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560" cy="17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2" name="Picture 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3" name="Picture 2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9440" cy="4454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4" name="TextBox 3"/>
          <p:cNvSpPr/>
          <p:nvPr/>
        </p:nvSpPr>
        <p:spPr>
          <a:xfrm>
            <a:off x="6531840" y="1122480"/>
            <a:ext cx="4449600" cy="37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6557400" y="1407600"/>
            <a:ext cx="3956760" cy="137016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6557400" y="3999600"/>
            <a:ext cx="3956760" cy="94284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6531840" y="2905920"/>
            <a:ext cx="3956760" cy="94284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560" cy="17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1" name="Picture 4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5840" cy="530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2" name="Picture 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30720" cy="25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3" name="Picture 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4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6" name="Picture 2" descr=""/>
          <p:cNvPicPr/>
          <p:nvPr/>
        </p:nvPicPr>
        <p:blipFill>
          <a:blip r:embed="rId1"/>
          <a:srcRect l="0" t="0" r="27212" b="0"/>
          <a:stretch/>
        </p:blipFill>
        <p:spPr>
          <a:xfrm>
            <a:off x="-99000" y="491400"/>
            <a:ext cx="601812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Rectangle 1"/>
          <p:cNvSpPr/>
          <p:nvPr/>
        </p:nvSpPr>
        <p:spPr>
          <a:xfrm>
            <a:off x="5897880" y="733680"/>
            <a:ext cx="2670120" cy="5425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8" name="Arrow: Down 3"/>
          <p:cNvSpPr/>
          <p:nvPr/>
        </p:nvSpPr>
        <p:spPr>
          <a:xfrm rot="5400000">
            <a:off x="6106680" y="475092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9" name="Rectangle 4"/>
          <p:cNvSpPr/>
          <p:nvPr/>
        </p:nvSpPr>
        <p:spPr>
          <a:xfrm>
            <a:off x="5960160" y="2318040"/>
            <a:ext cx="2491200" cy="23904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0" name="Rectangle 5"/>
          <p:cNvSpPr/>
          <p:nvPr/>
        </p:nvSpPr>
        <p:spPr>
          <a:xfrm>
            <a:off x="5978880" y="2509200"/>
            <a:ext cx="2450880" cy="22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stored in a Summarized Experiment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Interoperability with Bioconductor statistics packages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1" name="Picture 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Rectangle 50"/>
          <p:cNvSpPr/>
          <p:nvPr/>
        </p:nvSpPr>
        <p:spPr>
          <a:xfrm>
            <a:off x="7864560" y="1079280"/>
            <a:ext cx="3872880" cy="452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5" name="Picture 2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6680" cy="560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7" name=""/>
          <p:cNvSpPr/>
          <p:nvPr/>
        </p:nvSpPr>
        <p:spPr>
          <a:xfrm>
            <a:off x="7864560" y="1079280"/>
            <a:ext cx="3792600" cy="97668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7864560" y="2186280"/>
            <a:ext cx="3792600" cy="74808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7864560" y="3007800"/>
            <a:ext cx="3792600" cy="14421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7864560" y="4572000"/>
            <a:ext cx="3792600" cy="10285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040" cy="635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Selectively re-aggregate in seconds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3" name="Picture 77" descr=""/>
          <p:cNvPicPr/>
          <p:nvPr/>
        </p:nvPicPr>
        <p:blipFill>
          <a:blip r:embed="rId1"/>
          <a:stretch/>
        </p:blipFill>
        <p:spPr>
          <a:xfrm>
            <a:off x="1523880" y="1725480"/>
            <a:ext cx="9140040" cy="639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4" name="Arrow: Down 1"/>
          <p:cNvSpPr/>
          <p:nvPr/>
        </p:nvSpPr>
        <p:spPr>
          <a:xfrm rot="5366400">
            <a:off x="5482080" y="-723600"/>
            <a:ext cx="516960" cy="4056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45" name="Picture 7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Arrow: Down 4"/>
          <p:cNvSpPr/>
          <p:nvPr/>
        </p:nvSpPr>
        <p:spPr>
          <a:xfrm rot="5366400">
            <a:off x="6240960" y="556560"/>
            <a:ext cx="546120" cy="25113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1063080" y="0"/>
            <a:ext cx="10511640" cy="694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Retrieval of marker expressions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9" name="Picture 151" descr=""/>
          <p:cNvPicPr/>
          <p:nvPr/>
        </p:nvPicPr>
        <p:blipFill>
          <a:blip r:embed="rId1"/>
          <a:stretch/>
        </p:blipFill>
        <p:spPr>
          <a:xfrm>
            <a:off x="72000" y="108000"/>
            <a:ext cx="184392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0" name="Graphic 15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515600" y="0"/>
            <a:ext cx="1596240" cy="159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1" name="Picture 2" descr=""/>
          <p:cNvPicPr/>
          <p:nvPr/>
        </p:nvPicPr>
        <p:blipFill>
          <a:blip r:embed="rId4"/>
          <a:stretch/>
        </p:blipFill>
        <p:spPr>
          <a:xfrm>
            <a:off x="1863720" y="1362240"/>
            <a:ext cx="8462880" cy="457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2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3" name="Picture 60" descr=""/>
          <p:cNvPicPr/>
          <p:nvPr/>
        </p:nvPicPr>
        <p:blipFill>
          <a:blip r:embed="rId6"/>
          <a:stretch/>
        </p:blipFill>
        <p:spPr>
          <a:xfrm>
            <a:off x="10435680" y="6172560"/>
            <a:ext cx="1141200" cy="39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Normalization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5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48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6" name="TextBox 3"/>
          <p:cNvSpPr/>
          <p:nvPr/>
        </p:nvSpPr>
        <p:spPr>
          <a:xfrm>
            <a:off x="9582480" y="302508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CytoNorm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Box 4"/>
          <p:cNvSpPr/>
          <p:nvPr/>
        </p:nvSpPr>
        <p:spPr>
          <a:xfrm>
            <a:off x="9693720" y="554724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CyCombine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Box 9"/>
          <p:cNvSpPr/>
          <p:nvPr/>
        </p:nvSpPr>
        <p:spPr>
          <a:xfrm>
            <a:off x="7718760" y="30142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CytoNorm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10"/>
          <p:cNvSpPr/>
          <p:nvPr/>
        </p:nvSpPr>
        <p:spPr>
          <a:xfrm>
            <a:off x="7696440" y="553932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CyCombine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0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40600" y="3577680"/>
            <a:ext cx="1885320" cy="188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1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50120" y="3641760"/>
            <a:ext cx="1832400" cy="183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2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100360" y="1054080"/>
            <a:ext cx="1804320" cy="180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3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972720" y="106596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4" name="Arrow: Down 19"/>
          <p:cNvSpPr/>
          <p:nvPr/>
        </p:nvSpPr>
        <p:spPr>
          <a:xfrm rot="5400000">
            <a:off x="7329240" y="92304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65" name="Picture 20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6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Clustering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8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48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9" name="TextBox 3"/>
          <p:cNvSpPr/>
          <p:nvPr/>
        </p:nvSpPr>
        <p:spPr>
          <a:xfrm>
            <a:off x="9624960" y="294012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FlowSOM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Box 9"/>
          <p:cNvSpPr/>
          <p:nvPr/>
        </p:nvSpPr>
        <p:spPr>
          <a:xfrm>
            <a:off x="7707960" y="294012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FlowSOM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1" name="Graphic 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25840" y="947520"/>
            <a:ext cx="1804320" cy="180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2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929160" y="937080"/>
            <a:ext cx="1846800" cy="184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3" name="Arrow: Down 8"/>
          <p:cNvSpPr/>
          <p:nvPr/>
        </p:nvSpPr>
        <p:spPr>
          <a:xfrm rot="5400000">
            <a:off x="7233480" y="202896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74" name="Picture 11" descr=""/>
          <p:cNvPicPr/>
          <p:nvPr/>
        </p:nvPicPr>
        <p:blipFill>
          <a:blip r:embed="rId6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5" name="" descr=""/>
          <p:cNvPicPr/>
          <p:nvPr/>
        </p:nvPicPr>
        <p:blipFill>
          <a:blip r:embed="rId7"/>
          <a:stretch/>
        </p:blipFill>
        <p:spPr>
          <a:xfrm>
            <a:off x="230760" y="628092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Dimensionality Visualization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480" cy="578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8" name="TextBox 3"/>
          <p:cNvSpPr/>
          <p:nvPr/>
        </p:nvSpPr>
        <p:spPr>
          <a:xfrm>
            <a:off x="9624960" y="294012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Box 9"/>
          <p:cNvSpPr/>
          <p:nvPr/>
        </p:nvSpPr>
        <p:spPr>
          <a:xfrm>
            <a:off x="7707960" y="294012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Box 1"/>
          <p:cNvSpPr/>
          <p:nvPr/>
        </p:nvSpPr>
        <p:spPr>
          <a:xfrm>
            <a:off x="9660600" y="5346360"/>
            <a:ext cx="21042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PaCMAP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4"/>
          <p:cNvSpPr/>
          <p:nvPr/>
        </p:nvSpPr>
        <p:spPr>
          <a:xfrm>
            <a:off x="7860240" y="5420880"/>
            <a:ext cx="210420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PaCMAP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2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25840" y="1011600"/>
            <a:ext cx="1815120" cy="181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3" name="Graphic 11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121600" y="3429000"/>
            <a:ext cx="1793880" cy="179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4" name="Graphic 13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956880" y="1028520"/>
            <a:ext cx="1787040" cy="178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5" name="Graphic 1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02960" y="3429000"/>
            <a:ext cx="1787040" cy="178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6" name="Arrow: Down 15"/>
          <p:cNvSpPr/>
          <p:nvPr/>
        </p:nvSpPr>
        <p:spPr>
          <a:xfrm rot="5400000">
            <a:off x="7212240" y="3088440"/>
            <a:ext cx="519120" cy="67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87" name="Picture 16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8" name="" descr=""/>
          <p:cNvPicPr/>
          <p:nvPr/>
        </p:nvPicPr>
        <p:blipFill>
          <a:blip r:embed="rId11"/>
          <a:stretch/>
        </p:blipFill>
        <p:spPr>
          <a:xfrm>
            <a:off x="23076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0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1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3040" cy="420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2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Retrieving and re-enumerating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4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5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" descr=""/>
          <p:cNvPicPr/>
          <p:nvPr/>
        </p:nvPicPr>
        <p:blipFill>
          <a:blip r:embed="rId3"/>
          <a:srcRect l="0" t="0" r="75396" b="50082"/>
          <a:stretch/>
        </p:blipFill>
        <p:spPr>
          <a:xfrm>
            <a:off x="685800" y="1438200"/>
            <a:ext cx="2615400" cy="224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7" name="" descr=""/>
          <p:cNvPicPr/>
          <p:nvPr/>
        </p:nvPicPr>
        <p:blipFill>
          <a:blip r:embed="rId4"/>
          <a:srcRect l="0" t="0" r="0" b="46265"/>
          <a:stretch/>
        </p:blipFill>
        <p:spPr>
          <a:xfrm>
            <a:off x="3568680" y="2062800"/>
            <a:ext cx="3879720" cy="1879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8" name="" descr=""/>
          <p:cNvPicPr/>
          <p:nvPr/>
        </p:nvPicPr>
        <p:blipFill>
          <a:blip r:embed="rId5"/>
          <a:srcRect l="28789" t="0" r="0" b="79839"/>
          <a:stretch/>
        </p:blipFill>
        <p:spPr>
          <a:xfrm>
            <a:off x="5927760" y="4227480"/>
            <a:ext cx="5498280" cy="16023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99" name=""/>
          <p:cNvGrpSpPr/>
          <p:nvPr/>
        </p:nvGrpSpPr>
        <p:grpSpPr>
          <a:xfrm>
            <a:off x="1307160" y="3902760"/>
            <a:ext cx="1731960" cy="589680"/>
            <a:chOff x="1307160" y="3902760"/>
            <a:chExt cx="1731960" cy="589680"/>
          </a:xfrm>
        </p:grpSpPr>
        <p:sp>
          <p:nvSpPr>
            <p:cNvPr id="700" name=""/>
            <p:cNvSpPr/>
            <p:nvPr/>
          </p:nvSpPr>
          <p:spPr>
            <a:xfrm>
              <a:off x="1307160" y="3902760"/>
              <a:ext cx="1525680" cy="589680"/>
            </a:xfrm>
            <a:prstGeom prst="rect">
              <a:avLst/>
            </a:prstGeom>
            <a:solidFill>
              <a:srgbClr val="afd095">
                <a:alpha val="50000"/>
              </a:srgbClr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701" name=""/>
            <p:cNvSpPr/>
            <p:nvPr/>
          </p:nvSpPr>
          <p:spPr>
            <a:xfrm>
              <a:off x="1491480" y="3956760"/>
              <a:ext cx="1547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1) Gate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2" name=""/>
          <p:cNvSpPr/>
          <p:nvPr/>
        </p:nvSpPr>
        <p:spPr>
          <a:xfrm>
            <a:off x="4051800" y="1319040"/>
            <a:ext cx="3155040" cy="7398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3" name=""/>
          <p:cNvSpPr/>
          <p:nvPr/>
        </p:nvSpPr>
        <p:spPr>
          <a:xfrm>
            <a:off x="7963200" y="3495960"/>
            <a:ext cx="2414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3) Re-enumerate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plot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>
            <a:off x="3283920" y="1522080"/>
            <a:ext cx="547920" cy="64224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>
            <a:off x="6994800" y="3729240"/>
            <a:ext cx="565200" cy="62640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6" name=""/>
          <p:cNvSpPr/>
          <p:nvPr/>
        </p:nvSpPr>
        <p:spPr>
          <a:xfrm>
            <a:off x="4203360" y="1387080"/>
            <a:ext cx="320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2) Retrieve manual-annotated gates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7766640" y="3428640"/>
            <a:ext cx="2588400" cy="7398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8" name="Picture 6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9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0" name=""/>
          <p:cNvSpPr/>
          <p:nvPr/>
        </p:nvSpPr>
        <p:spPr>
          <a:xfrm>
            <a:off x="457200" y="89280"/>
            <a:ext cx="1120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each island, re-aggregate cells from each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5011560" y="5800320"/>
            <a:ext cx="1599120" cy="34776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5011560" y="5739120"/>
            <a:ext cx="1617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3" name=""/>
          <p:cNvGrpSpPr/>
          <p:nvPr/>
        </p:nvGrpSpPr>
        <p:grpSpPr>
          <a:xfrm>
            <a:off x="838440" y="914400"/>
            <a:ext cx="10590840" cy="4545360"/>
            <a:chOff x="838440" y="914400"/>
            <a:chExt cx="10590840" cy="4545360"/>
          </a:xfrm>
        </p:grpSpPr>
        <p:pic>
          <p:nvPicPr>
            <p:cNvPr id="714" name="" descr=""/>
            <p:cNvPicPr/>
            <p:nvPr/>
          </p:nvPicPr>
          <p:blipFill>
            <a:blip r:embed="rId3"/>
            <a:stretch/>
          </p:blipFill>
          <p:spPr>
            <a:xfrm>
              <a:off x="838440" y="914400"/>
              <a:ext cx="10590840" cy="1508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15" name="" descr=""/>
            <p:cNvPicPr/>
            <p:nvPr/>
          </p:nvPicPr>
          <p:blipFill>
            <a:blip r:embed="rId4"/>
            <a:stretch/>
          </p:blipFill>
          <p:spPr>
            <a:xfrm>
              <a:off x="838440" y="2442600"/>
              <a:ext cx="10590840" cy="1508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16" name="" descr=""/>
            <p:cNvPicPr/>
            <p:nvPr/>
          </p:nvPicPr>
          <p:blipFill>
            <a:blip r:embed="rId5"/>
            <a:stretch/>
          </p:blipFill>
          <p:spPr>
            <a:xfrm>
              <a:off x="838440" y="3951720"/>
              <a:ext cx="10590840" cy="15080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" name="Picture 10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8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9" name="" descr=""/>
          <p:cNvPicPr/>
          <p:nvPr/>
        </p:nvPicPr>
        <p:blipFill>
          <a:blip r:embed="rId3"/>
          <a:stretch/>
        </p:blipFill>
        <p:spPr>
          <a:xfrm>
            <a:off x="4286520" y="914400"/>
            <a:ext cx="4399200" cy="457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0" name="" descr=""/>
          <p:cNvPicPr/>
          <p:nvPr/>
        </p:nvPicPr>
        <p:blipFill>
          <a:blip r:embed="rId4"/>
          <a:stretch/>
        </p:blipFill>
        <p:spPr>
          <a:xfrm>
            <a:off x="457200" y="914400"/>
            <a:ext cx="3336480" cy="457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1" name="" descr=""/>
          <p:cNvPicPr/>
          <p:nvPr/>
        </p:nvPicPr>
        <p:blipFill>
          <a:blip r:embed="rId5"/>
          <a:stretch/>
        </p:blipFill>
        <p:spPr>
          <a:xfrm>
            <a:off x="9141840" y="914400"/>
            <a:ext cx="2287080" cy="457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2" name=""/>
          <p:cNvSpPr/>
          <p:nvPr/>
        </p:nvSpPr>
        <p:spPr>
          <a:xfrm>
            <a:off x="1143000" y="5569560"/>
            <a:ext cx="1731960" cy="40896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5844960" y="5643000"/>
            <a:ext cx="1695240" cy="4089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9601200" y="5594760"/>
            <a:ext cx="1599120" cy="34776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9655200" y="5558760"/>
            <a:ext cx="1617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5844960" y="5664960"/>
            <a:ext cx="1695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>
            <a:off x="1164960" y="5569560"/>
            <a:ext cx="17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112680"/>
            <a:ext cx="12114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Cord blood T cells - Baseline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9" name="Picture 1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0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1" name="" descr=""/>
          <p:cNvPicPr/>
          <p:nvPr/>
        </p:nvPicPr>
        <p:blipFill>
          <a:blip r:embed="rId3"/>
          <a:stretch/>
        </p:blipFill>
        <p:spPr>
          <a:xfrm>
            <a:off x="3531600" y="3257280"/>
            <a:ext cx="3415320" cy="245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2" name="" descr=""/>
          <p:cNvPicPr/>
          <p:nvPr/>
        </p:nvPicPr>
        <p:blipFill>
          <a:blip r:embed="rId4"/>
          <a:stretch/>
        </p:blipFill>
        <p:spPr>
          <a:xfrm>
            <a:off x="3531600" y="914400"/>
            <a:ext cx="3255840" cy="234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675000" y="201600"/>
            <a:ext cx="10982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CD4-CD8- Cord blood T cell subsets driving observed IFN</a:t>
            </a:r>
            <a:r>
              <a:rPr b="0" lang="en-US" sz="2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γ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4" name="" descr=""/>
          <p:cNvPicPr/>
          <p:nvPr/>
        </p:nvPicPr>
        <p:blipFill>
          <a:blip r:embed="rId5"/>
          <a:stretch/>
        </p:blipFill>
        <p:spPr>
          <a:xfrm>
            <a:off x="7315200" y="914400"/>
            <a:ext cx="3446280" cy="412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5" name="Arrow: Down 5"/>
          <p:cNvSpPr/>
          <p:nvPr/>
        </p:nvSpPr>
        <p:spPr>
          <a:xfrm rot="5366400">
            <a:off x="10929240" y="1092600"/>
            <a:ext cx="546120" cy="915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36" name="" descr=""/>
          <p:cNvPicPr/>
          <p:nvPr/>
        </p:nvPicPr>
        <p:blipFill>
          <a:blip r:embed="rId6"/>
          <a:stretch/>
        </p:blipFill>
        <p:spPr>
          <a:xfrm>
            <a:off x="457200" y="914400"/>
            <a:ext cx="2742480" cy="457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7" name=""/>
          <p:cNvSpPr/>
          <p:nvPr/>
        </p:nvSpPr>
        <p:spPr>
          <a:xfrm>
            <a:off x="1600200" y="806400"/>
            <a:ext cx="685080" cy="479988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8" name="Picture 1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9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0" name="" descr=""/>
          <p:cNvPicPr/>
          <p:nvPr/>
        </p:nvPicPr>
        <p:blipFill>
          <a:blip r:embed="rId3"/>
          <a:stretch/>
        </p:blipFill>
        <p:spPr>
          <a:xfrm>
            <a:off x="4358160" y="3429000"/>
            <a:ext cx="3656160" cy="274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1" name="" descr=""/>
          <p:cNvPicPr/>
          <p:nvPr/>
        </p:nvPicPr>
        <p:blipFill>
          <a:blip r:embed="rId4"/>
          <a:stretch/>
        </p:blipFill>
        <p:spPr>
          <a:xfrm>
            <a:off x="4125600" y="842400"/>
            <a:ext cx="4137120" cy="258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2" name="" descr=""/>
          <p:cNvPicPr/>
          <p:nvPr/>
        </p:nvPicPr>
        <p:blipFill>
          <a:blip r:embed="rId5"/>
          <a:stretch/>
        </p:blipFill>
        <p:spPr>
          <a:xfrm>
            <a:off x="8263800" y="806400"/>
            <a:ext cx="3656160" cy="2741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3" name="" descr=""/>
          <p:cNvPicPr/>
          <p:nvPr/>
        </p:nvPicPr>
        <p:blipFill>
          <a:blip r:embed="rId6"/>
          <a:stretch/>
        </p:blipFill>
        <p:spPr>
          <a:xfrm>
            <a:off x="548640" y="1029960"/>
            <a:ext cx="3336480" cy="457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4" name=""/>
          <p:cNvSpPr/>
          <p:nvPr/>
        </p:nvSpPr>
        <p:spPr>
          <a:xfrm>
            <a:off x="685800" y="89280"/>
            <a:ext cx="112006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Conventional Cord blood T cell subsets also show changes in CD62L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2478600" y="914400"/>
            <a:ext cx="685080" cy="479988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TextBox 5"/>
          <p:cNvSpPr/>
          <p:nvPr/>
        </p:nvSpPr>
        <p:spPr>
          <a:xfrm>
            <a:off x="7269840" y="1225800"/>
            <a:ext cx="4732200" cy="56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8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3720" cy="451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9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7315200" y="1297800"/>
            <a:ext cx="4341960" cy="37296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>
            <a:off x="7315200" y="1949400"/>
            <a:ext cx="4341960" cy="15987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7315200" y="3765600"/>
            <a:ext cx="4341960" cy="159876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3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200" cy="637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 our high-dimensional analysis problems fixed?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5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200" cy="3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6" name="Picture 48" descr=""/>
          <p:cNvPicPr/>
          <p:nvPr/>
        </p:nvPicPr>
        <p:blipFill>
          <a:blip r:embed="rId2"/>
          <a:srcRect l="19531" t="32521" r="20346" b="27773"/>
          <a:stretch/>
        </p:blipFill>
        <p:spPr>
          <a:xfrm>
            <a:off x="1098360" y="1371960"/>
            <a:ext cx="10328040" cy="383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7" name="" descr=""/>
          <p:cNvPicPr/>
          <p:nvPr/>
        </p:nvPicPr>
        <p:blipFill>
          <a:blip r:embed="rId3"/>
          <a:stretch/>
        </p:blipFill>
        <p:spPr>
          <a:xfrm>
            <a:off x="230400" y="617256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600" cy="634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9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880" cy="578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0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3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4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65" name=""/>
          <p:cNvGrpSpPr/>
          <p:nvPr/>
        </p:nvGrpSpPr>
        <p:grpSpPr>
          <a:xfrm>
            <a:off x="5486400" y="1150920"/>
            <a:ext cx="6254640" cy="4337640"/>
            <a:chOff x="5486400" y="1150920"/>
            <a:chExt cx="6254640" cy="4337640"/>
          </a:xfrm>
        </p:grpSpPr>
        <p:pic>
          <p:nvPicPr>
            <p:cNvPr id="766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4640" cy="4337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67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40720" cy="25693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68" name=""/>
          <p:cNvSpPr/>
          <p:nvPr/>
        </p:nvSpPr>
        <p:spPr>
          <a:xfrm>
            <a:off x="444600" y="1150920"/>
            <a:ext cx="4566240" cy="4562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9" name="Rectangle 9"/>
          <p:cNvSpPr/>
          <p:nvPr/>
        </p:nvSpPr>
        <p:spPr>
          <a:xfrm>
            <a:off x="415440" y="1186920"/>
            <a:ext cx="461232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1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2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9840" cy="151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3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6760" cy="401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4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2080" cy="145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5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4680" cy="119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6" name="PlaceHolder 27"/>
          <p:cNvSpPr/>
          <p:nvPr/>
        </p:nvSpPr>
        <p:spPr>
          <a:xfrm>
            <a:off x="613800" y="4836600"/>
            <a:ext cx="1549080" cy="10461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7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6629400" y="1467000"/>
            <a:ext cx="4337280" cy="3784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9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8520" cy="552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Rectangle 70"/>
          <p:cNvSpPr/>
          <p:nvPr/>
        </p:nvSpPr>
        <p:spPr>
          <a:xfrm>
            <a:off x="6665400" y="1467000"/>
            <a:ext cx="45946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2" name="Picture 7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"/>
          <p:cNvSpPr/>
          <p:nvPr/>
        </p:nvSpPr>
        <p:spPr>
          <a:xfrm>
            <a:off x="252000" y="1238040"/>
            <a:ext cx="4650120" cy="42418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Rectangle 71"/>
          <p:cNvSpPr/>
          <p:nvPr/>
        </p:nvSpPr>
        <p:spPr>
          <a:xfrm>
            <a:off x="307440" y="1443600"/>
            <a:ext cx="45946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Picture 8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8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7120" cy="441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6773760" y="914400"/>
            <a:ext cx="4650120" cy="47944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ectangle 72"/>
          <p:cNvSpPr/>
          <p:nvPr/>
        </p:nvSpPr>
        <p:spPr>
          <a:xfrm>
            <a:off x="6828480" y="1048680"/>
            <a:ext cx="45946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3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4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0440" cy="480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"/>
          <p:cNvSpPr/>
          <p:nvPr/>
        </p:nvSpPr>
        <p:spPr>
          <a:xfrm>
            <a:off x="685800" y="2561400"/>
            <a:ext cx="4650120" cy="13654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760" cy="131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ectangle 73"/>
          <p:cNvSpPr/>
          <p:nvPr/>
        </p:nvSpPr>
        <p:spPr>
          <a:xfrm>
            <a:off x="717480" y="2561400"/>
            <a:ext cx="45946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8" name="Picture 8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9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2360" cy="503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"/>
          <p:cNvSpPr/>
          <p:nvPr/>
        </p:nvSpPr>
        <p:spPr>
          <a:xfrm>
            <a:off x="2569320" y="4523400"/>
            <a:ext cx="6623640" cy="159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48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Rectangle 10"/>
          <p:cNvSpPr/>
          <p:nvPr/>
        </p:nvSpPr>
        <p:spPr>
          <a:xfrm>
            <a:off x="2569320" y="4523400"/>
            <a:ext cx="702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3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4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4640" cy="344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6" name=""/>
          <p:cNvSpPr/>
          <p:nvPr/>
        </p:nvSpPr>
        <p:spPr>
          <a:xfrm rot="19411800">
            <a:off x="10550160" y="793440"/>
            <a:ext cx="455760" cy="912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>
            <a:off x="349200" y="4885200"/>
            <a:ext cx="2163960" cy="599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8" name=""/>
          <p:cNvSpPr/>
          <p:nvPr/>
        </p:nvSpPr>
        <p:spPr>
          <a:xfrm>
            <a:off x="10395000" y="2685600"/>
            <a:ext cx="1365840" cy="680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9" name=""/>
          <p:cNvSpPr/>
          <p:nvPr/>
        </p:nvSpPr>
        <p:spPr>
          <a:xfrm>
            <a:off x="8458200" y="2649600"/>
            <a:ext cx="1365840" cy="680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0" name=""/>
          <p:cNvSpPr/>
          <p:nvPr/>
        </p:nvSpPr>
        <p:spPr>
          <a:xfrm>
            <a:off x="4102200" y="3828600"/>
            <a:ext cx="3897360" cy="21135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1" name=""/>
          <p:cNvSpPr/>
          <p:nvPr/>
        </p:nvSpPr>
        <p:spPr>
          <a:xfrm>
            <a:off x="349200" y="3803400"/>
            <a:ext cx="2161440" cy="910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2" name=""/>
          <p:cNvSpPr/>
          <p:nvPr/>
        </p:nvSpPr>
        <p:spPr>
          <a:xfrm>
            <a:off x="349200" y="1204200"/>
            <a:ext cx="3423240" cy="681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3" name=""/>
          <p:cNvSpPr/>
          <p:nvPr/>
        </p:nvSpPr>
        <p:spPr>
          <a:xfrm>
            <a:off x="338400" y="2118600"/>
            <a:ext cx="3423240" cy="159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3000" cy="1316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5" name="Picture 54" descr=""/>
          <p:cNvPicPr/>
          <p:nvPr/>
        </p:nvPicPr>
        <p:blipFill>
          <a:blip r:embed="rId1"/>
          <a:stretch/>
        </p:blipFill>
        <p:spPr>
          <a:xfrm>
            <a:off x="9290520" y="3601800"/>
            <a:ext cx="2362320" cy="42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6" name="Picture 55" descr=""/>
          <p:cNvPicPr/>
          <p:nvPr/>
        </p:nvPicPr>
        <p:blipFill>
          <a:blip r:embed="rId2"/>
          <a:stretch/>
        </p:blipFill>
        <p:spPr>
          <a:xfrm>
            <a:off x="9673200" y="4028400"/>
            <a:ext cx="198108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7" name="Content Placeholder 1"/>
          <p:cNvSpPr/>
          <p:nvPr/>
        </p:nvSpPr>
        <p:spPr>
          <a:xfrm>
            <a:off x="228600" y="3803400"/>
            <a:ext cx="3970800" cy="18198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23"/>
          <p:cNvSpPr/>
          <p:nvPr/>
        </p:nvSpPr>
        <p:spPr>
          <a:xfrm>
            <a:off x="255240" y="1215000"/>
            <a:ext cx="3398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Box 24"/>
          <p:cNvSpPr/>
          <p:nvPr/>
        </p:nvSpPr>
        <p:spPr>
          <a:xfrm>
            <a:off x="302400" y="2203200"/>
            <a:ext cx="33984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ontent Placeholder 3"/>
          <p:cNvSpPr/>
          <p:nvPr/>
        </p:nvSpPr>
        <p:spPr>
          <a:xfrm>
            <a:off x="9829800" y="1486800"/>
            <a:ext cx="3970800" cy="18198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25"/>
          <p:cNvSpPr/>
          <p:nvPr/>
        </p:nvSpPr>
        <p:spPr>
          <a:xfrm>
            <a:off x="8001000" y="2846880"/>
            <a:ext cx="225540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Box 26"/>
          <p:cNvSpPr/>
          <p:nvPr/>
        </p:nvSpPr>
        <p:spPr>
          <a:xfrm>
            <a:off x="10287000" y="2895120"/>
            <a:ext cx="156960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3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1760" cy="107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4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7280" cy="89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5" name="TextBox 27"/>
          <p:cNvSpPr/>
          <p:nvPr/>
        </p:nvSpPr>
        <p:spPr>
          <a:xfrm>
            <a:off x="228600" y="5065200"/>
            <a:ext cx="349956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6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44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7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44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8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7680" cy="242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9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7680" cy="93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0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3160" cy="94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1" name="Rectangle 14"/>
          <p:cNvSpPr/>
          <p:nvPr/>
        </p:nvSpPr>
        <p:spPr>
          <a:xfrm>
            <a:off x="4138200" y="3850200"/>
            <a:ext cx="374076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Rectangle 15"/>
          <p:cNvSpPr/>
          <p:nvPr/>
        </p:nvSpPr>
        <p:spPr>
          <a:xfrm>
            <a:off x="8602200" y="4417200"/>
            <a:ext cx="3740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3" name="" descr=""/>
          <p:cNvPicPr/>
          <p:nvPr/>
        </p:nvPicPr>
        <p:blipFill>
          <a:blip r:embed="rId13"/>
          <a:stretch/>
        </p:blipFill>
        <p:spPr>
          <a:xfrm>
            <a:off x="8769600" y="4453200"/>
            <a:ext cx="400680" cy="3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4" name=""/>
          <p:cNvSpPr/>
          <p:nvPr/>
        </p:nvSpPr>
        <p:spPr>
          <a:xfrm>
            <a:off x="8686800" y="5065200"/>
            <a:ext cx="3090960" cy="419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5" name=""/>
          <p:cNvSpPr/>
          <p:nvPr/>
        </p:nvSpPr>
        <p:spPr>
          <a:xfrm>
            <a:off x="8686800" y="5101200"/>
            <a:ext cx="3006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2280" cy="1319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Rectangle 74"/>
          <p:cNvSpPr/>
          <p:nvPr/>
        </p:nvSpPr>
        <p:spPr>
          <a:xfrm>
            <a:off x="8557200" y="2791800"/>
            <a:ext cx="2965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Rectangle 75"/>
          <p:cNvSpPr/>
          <p:nvPr/>
        </p:nvSpPr>
        <p:spPr>
          <a:xfrm>
            <a:off x="4991400" y="5257800"/>
            <a:ext cx="296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76"/>
          <p:cNvSpPr/>
          <p:nvPr/>
        </p:nvSpPr>
        <p:spPr>
          <a:xfrm>
            <a:off x="4991400" y="2791800"/>
            <a:ext cx="296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Rectangle 77"/>
          <p:cNvSpPr/>
          <p:nvPr/>
        </p:nvSpPr>
        <p:spPr>
          <a:xfrm>
            <a:off x="876600" y="2791800"/>
            <a:ext cx="296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Rectangle 78"/>
          <p:cNvSpPr/>
          <p:nvPr/>
        </p:nvSpPr>
        <p:spPr>
          <a:xfrm>
            <a:off x="876600" y="5257800"/>
            <a:ext cx="296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Rectangle 79"/>
          <p:cNvSpPr/>
          <p:nvPr/>
        </p:nvSpPr>
        <p:spPr>
          <a:xfrm>
            <a:off x="8557200" y="5029200"/>
            <a:ext cx="2965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3" name="Picture 83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528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4" name="Picture 84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176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5" name="Picture 85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5480" cy="1578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6" name="Picture 86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140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7" name="Picture 88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6760" y="1119960"/>
            <a:ext cx="1952640" cy="158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8" name="Picture 89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528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9" name="Graphic 20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26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0" name="Graphic 23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26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1" name="Graphic 25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26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2" name="Graphic 26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26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3" name="Graphic 27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6960" cy="168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4" name="Graphic 28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2680" cy="182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5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6" name="Picture 90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4000" cy="39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"/>
          <p:cNvSpPr/>
          <p:nvPr/>
        </p:nvSpPr>
        <p:spPr>
          <a:xfrm>
            <a:off x="8217720" y="3377520"/>
            <a:ext cx="3440160" cy="40896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8181720" y="4063320"/>
            <a:ext cx="3476160" cy="40896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9" name=""/>
          <p:cNvSpPr/>
          <p:nvPr/>
        </p:nvSpPr>
        <p:spPr>
          <a:xfrm>
            <a:off x="8217720" y="3399120"/>
            <a:ext cx="3440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CD4 T cells → 16241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Rectangle 80"/>
          <p:cNvSpPr/>
          <p:nvPr/>
        </p:nvSpPr>
        <p:spPr>
          <a:xfrm>
            <a:off x="7893720" y="4063320"/>
            <a:ext cx="37641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CD8 T cells → 12466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8229600" y="1371600"/>
            <a:ext cx="3428280" cy="72972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2" name="Picture 4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040" cy="39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3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4" name="" descr=""/>
          <p:cNvPicPr/>
          <p:nvPr/>
        </p:nvPicPr>
        <p:blipFill>
          <a:blip r:embed="rId3"/>
          <a:stretch/>
        </p:blipFill>
        <p:spPr>
          <a:xfrm>
            <a:off x="456840" y="1191600"/>
            <a:ext cx="7543080" cy="411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5" name=""/>
          <p:cNvSpPr/>
          <p:nvPr/>
        </p:nvSpPr>
        <p:spPr>
          <a:xfrm>
            <a:off x="0" y="89280"/>
            <a:ext cx="1219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Biology is (fortunately) not just math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Rectangle 81"/>
          <p:cNvSpPr/>
          <p:nvPr/>
        </p:nvSpPr>
        <p:spPr>
          <a:xfrm>
            <a:off x="8229600" y="1371600"/>
            <a:ext cx="3426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               → 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536 million (theory)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8196480" y="4665600"/>
            <a:ext cx="3461400" cy="57636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8229600" y="4701600"/>
            <a:ext cx="34282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DN T cells →    9035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"/>
          <p:cNvSpPr/>
          <p:nvPr/>
        </p:nvSpPr>
        <p:spPr>
          <a:xfrm>
            <a:off x="8000640" y="2514600"/>
            <a:ext cx="384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actually exploring our panels dimensional space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622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2026-10-27T20:03:19Z</dcterms:modified>
  <cp:revision>66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