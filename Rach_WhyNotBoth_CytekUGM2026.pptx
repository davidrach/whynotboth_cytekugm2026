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19.png" ContentType="image/png"/>
  <Override PartName="/ppt/media/image87.png" ContentType="image/png"/>
  <Override PartName="/ppt/media/image35.svg" ContentType="image/svg"/>
  <Override PartName="/ppt/media/image116.png" ContentType="image/png"/>
  <Override PartName="/ppt/media/image16.png" ContentType="image/png"/>
  <Override PartName="/ppt/media/image132.svg" ContentType="image/svg"/>
  <Override PartName="/ppt/media/image114.png" ContentType="image/png"/>
  <Override PartName="/ppt/media/image14.png" ContentType="image/png"/>
  <Override PartName="/ppt/media/image30.svg" ContentType="image/svg"/>
  <Override PartName="/ppt/media/image130.svg" ContentType="image/svg"/>
  <Override PartName="/ppt/media/image112.png" ContentType="image/png"/>
  <Override PartName="/ppt/media/image180.png" ContentType="image/png"/>
  <Override PartName="/ppt/media/image110.png" ContentType="image/png"/>
  <Override PartName="/ppt/media/image10.png" ContentType="image/png"/>
  <Override PartName="/ppt/media/image109.png" ContentType="image/png"/>
  <Override PartName="/ppt/media/image77.png" ContentType="image/png"/>
  <Override PartName="/ppt/media/image108.png" ContentType="image/png"/>
  <Override PartName="/ppt/media/image92.svg" ContentType="image/svg"/>
  <Override PartName="/ppt/media/image124.svg" ContentType="image/svg"/>
  <Override PartName="/ppt/media/image176.png" ContentType="image/png"/>
  <Override PartName="/ppt/media/image100.svg" ContentType="image/svg"/>
  <Override PartName="/ppt/media/image6.png" ContentType="image/png"/>
  <Override PartName="/ppt/media/image52.png" ContentType="image/png"/>
  <Override PartName="/ppt/media/image152.png" ContentType="image/png"/>
  <Override PartName="/ppt/media/image99.png" ContentType="image/png"/>
  <Override PartName="/ppt/media/image95.png" ContentType="image/png"/>
  <Override PartName="/ppt/media/image127.png" ContentType="image/png"/>
  <Override PartName="/ppt/media/image27.png" ContentType="image/png"/>
  <Override PartName="/ppt/media/image94.svg" ContentType="image/svg"/>
  <Override PartName="/ppt/media/image126.svg" ContentType="image/svg"/>
  <Override PartName="/ppt/media/image178.png" ContentType="image/png"/>
  <Override PartName="/ppt/media/image90.svg" ContentType="image/svg"/>
  <Override PartName="/ppt/media/image122.svg" ContentType="image/svg"/>
  <Override PartName="/ppt/media/image174.png" ContentType="image/png"/>
  <Override PartName="/ppt/media/image89.png" ContentType="image/png"/>
  <Override PartName="/ppt/media/image37.svg" ContentType="image/svg"/>
  <Override PartName="/ppt/media/image88.svg" ContentType="image/svg"/>
  <Override PartName="/ppt/media/image85.png" ContentType="image/png"/>
  <Override PartName="/ppt/media/image117.png" ContentType="image/png"/>
  <Override PartName="/ppt/media/image17.png" ContentType="image/png"/>
  <Override PartName="/ppt/media/image33.svg" ContentType="image/svg"/>
  <Override PartName="/ppt/media/image82.svg" ContentType="image/svg"/>
  <Override PartName="/ppt/media/image166.png" ContentType="image/png"/>
  <Override PartName="/ppt/media/image80.svg" ContentType="image/svg"/>
  <Override PartName="/ppt/media/image164.png" ContentType="image/png"/>
  <Override PartName="/ppt/media/image79.png" ContentType="image/png"/>
  <Override PartName="/ppt/media/image125.png" ContentType="image/png"/>
  <Override PartName="/ppt/media/image25.png" ContentType="image/png"/>
  <Override PartName="/ppt/media/image93.png" ContentType="image/png"/>
  <Override PartName="/ppt/media/image123.png" ContentType="image/png"/>
  <Override PartName="/ppt/media/image91.png" ContentType="image/png"/>
  <Override PartName="/ppt/media/image23.png" ContentType="image/png"/>
  <Override PartName="/ppt/media/image75.png" ContentType="image/png"/>
  <Override PartName="/ppt/media/image107.png" ContentType="image/png"/>
  <Override PartName="/ppt/media/image175.png" ContentType="image/png"/>
  <Override PartName="/ppt/media/image5.png" ContentType="image/png"/>
  <Override PartName="/ppt/media/image51.png" ContentType="image/png"/>
  <Override PartName="/ppt/media/image151.png" ContentType="image/png"/>
  <Override PartName="/ppt/media/image39.svg" ContentType="image/svg"/>
  <Override PartName="/ppt/media/image1.png" ContentType="image/png"/>
  <Override PartName="/ppt/media/image58.jpeg" ContentType="image/jpeg"/>
  <Override PartName="/ppt/media/image160.png" ContentType="image/png"/>
  <Override PartName="/ppt/media/image20.png" ContentType="image/png"/>
  <Override PartName="/ppt/media/image148.png" ContentType="image/png"/>
  <Override PartName="/ppt/media/image64.svg" ContentType="image/svg"/>
  <Override PartName="/ppt/media/image57.png" ContentType="image/png"/>
  <Override PartName="/ppt/media/image157.png" ContentType="image/png"/>
  <Override PartName="/ppt/media/image12.jpeg" ContentType="image/jpeg"/>
  <Override PartName="/ppt/media/image15.png" ContentType="image/png"/>
  <Override PartName="/ppt/media/image83.png" ContentType="image/png"/>
  <Override PartName="/ppt/media/image96.svg" ContentType="image/svg"/>
  <Override PartName="/ppt/media/image128.svg" ContentType="image/svg"/>
  <Override PartName="/ppt/media/image98.svg" ContentType="image/svg"/>
  <Override PartName="/ppt/media/image139.png" ContentType="image/png"/>
  <Override PartName="/ppt/media/image44.svg" ContentType="image/svg"/>
  <Override PartName="/ppt/media/image28.png" ContentType="image/png"/>
  <Override PartName="/ppt/media/image150.png" ContentType="image/png"/>
  <Override PartName="/ppt/media/image162.png" ContentType="image/png"/>
  <Override PartName="/ppt/media/image38.png" ContentType="image/png"/>
  <Override PartName="/ppt/media/image138.png" ContentType="image/png"/>
  <Override PartName="/ppt/media/image171.jpeg" ContentType="image/jpeg"/>
  <Override PartName="/ppt/media/image177.svg" ContentType="image/svg"/>
  <Override PartName="/ppt/media/image133.png" ContentType="image/png"/>
  <Override PartName="/ppt/media/image11.jpeg" ContentType="image/jpeg"/>
  <Override PartName="/ppt/media/image131.png" ContentType="image/png"/>
  <Override PartName="/ppt/media/image31.png" ContentType="image/png"/>
  <Override PartName="/ppt/media/image182.jpeg" ContentType="image/jpeg"/>
  <Override PartName="/ppt/media/image9.png" ContentType="image/png"/>
  <Override PartName="/ppt/media/image55.png" ContentType="image/png"/>
  <Override PartName="/ppt/media/image155.png" ContentType="image/png"/>
  <Override PartName="/ppt/media/image179.svg" ContentType="image/svg"/>
  <Override PartName="/ppt/media/image135.png" ContentType="image/png"/>
  <Override PartName="/ppt/media/image84.svg" ContentType="image/svg"/>
  <Override PartName="/ppt/media/image140.png" ContentType="image/png"/>
  <Override PartName="/ppt/media/image40.png" ContentType="image/png"/>
  <Override PartName="/ppt/media/image105.png" ContentType="image/png"/>
  <Override PartName="/ppt/media/image73.png" ContentType="image/png"/>
  <Override PartName="/ppt/media/image173.png" ContentType="image/png"/>
  <Override PartName="/ppt/media/image145.png" ContentType="image/png"/>
  <Override PartName="/ppt/media/image45.png" ContentType="image/png"/>
  <Override PartName="/ppt/media/image137.png" ContentType="image/png"/>
  <Override PartName="/ppt/media/image142.png" ContentType="image/png"/>
  <Override PartName="/ppt/media/image42.png" ContentType="image/png"/>
  <Override PartName="/ppt/media/image134.svg" ContentType="image/svg"/>
  <Override PartName="/ppt/media/image43.png" ContentType="image/png"/>
  <Override PartName="/ppt/media/image143.png" ContentType="image/png"/>
  <Override PartName="/ppt/media/image141.png" ContentType="image/png"/>
  <Override PartName="/ppt/media/image41.png" ContentType="image/png"/>
  <Override PartName="/ppt/media/image36.png" ContentType="image/png"/>
  <Override PartName="/ppt/media/image136.png" ContentType="image/png"/>
  <Override PartName="/ppt/media/image32.png" ContentType="image/png"/>
  <Override PartName="/ppt/media/image76.svg" ContentType="image/svg"/>
  <Override PartName="/ppt/media/image47.png" ContentType="image/png"/>
  <Override PartName="/ppt/media/image147.png" ContentType="image/png"/>
  <Override PartName="/ppt/media/image49.png" ContentType="image/png"/>
  <Override PartName="/ppt/media/image149.png" ContentType="image/png"/>
  <Override PartName="/ppt/media/image3.png" ContentType="image/png"/>
  <Override PartName="/ppt/media/image50.svg" ContentType="image/svg"/>
  <Override PartName="/ppt/media/image4.svg" ContentType="image/svg"/>
  <Override PartName="/ppt/media/image34.png" ContentType="image/png"/>
  <Override PartName="/ppt/media/image78.svg" ContentType="image/svg"/>
  <Override PartName="/ppt/media/image2.png" ContentType="image/png"/>
  <Override PartName="/ppt/media/image153.png" ContentType="image/png"/>
  <Override PartName="/ppt/media/image7.png" ContentType="image/png"/>
  <Override PartName="/ppt/media/image53.png" ContentType="image/png"/>
  <Override PartName="/ppt/media/image101.png" ContentType="image/png"/>
  <Override PartName="/ppt/media/image19.jpeg" ContentType="image/jpeg"/>
  <Override PartName="/ppt/media/image158.svg" ContentType="image/svg"/>
  <Override PartName="/ppt/media/image121.png" ContentType="image/png"/>
  <Override PartName="/ppt/media/image21.png" ContentType="image/png"/>
  <Override PartName="/ppt/media/image159.png" ContentType="image/png"/>
  <Override PartName="/ppt/media/image59.png" ContentType="image/png"/>
  <Override PartName="/ppt/media/image22.png" ContentType="image/png"/>
  <Override PartName="/ppt/media/image13.jpeg" ContentType="image/jpeg"/>
  <Override PartName="/ppt/media/image66.svg" ContentType="image/svg"/>
  <Override PartName="/ppt/media/image48.svg" ContentType="image/svg"/>
  <Override PartName="/ppt/media/image24.png" ContentType="image/png"/>
  <Override PartName="/ppt/media/image68.svg" ContentType="image/svg"/>
  <Override PartName="/ppt/media/image168.svg" ContentType="image/svg"/>
  <Override PartName="/ppt/media/image26.png" ContentType="image/png"/>
  <Override PartName="/ppt/media/image86.svg" ContentType="image/svg"/>
  <Override PartName="/ppt/media/image118.svg" ContentType="image/svg"/>
  <Override PartName="/ppt/media/image18.svg" ContentType="image/svg"/>
  <Override PartName="/ppt/media/image97.png" ContentType="image/png"/>
  <Override PartName="/ppt/media/image29.png" ContentType="image/png"/>
  <Override PartName="/ppt/media/image129.png" ContentType="image/png"/>
  <Override PartName="/ppt/media/image144.png" ContentType="image/png"/>
  <Override PartName="/ppt/media/image60.svg" ContentType="image/svg"/>
  <Override PartName="/ppt/media/image161.png" ContentType="image/png"/>
  <Override PartName="/ppt/media/image61.png" ContentType="image/png"/>
  <Override PartName="/ppt/media/image146.png" ContentType="image/png"/>
  <Override PartName="/ppt/media/image46.png" ContentType="image/png"/>
  <Override PartName="/ppt/media/image62.svg" ContentType="image/svg"/>
  <Override PartName="/ppt/media/image163.png" ContentType="image/png"/>
  <Override PartName="/ppt/media/image63.png" ContentType="image/png"/>
  <Override PartName="/ppt/media/image111.png" ContentType="image/png"/>
  <Override PartName="/ppt/media/image165.png" ContentType="image/png"/>
  <Override PartName="/ppt/media/image181.svg" ContentType="image/svg"/>
  <Override PartName="/ppt/media/image65.png" ContentType="image/png"/>
  <Override PartName="/ppt/media/image81.png" ContentType="image/png"/>
  <Override PartName="/ppt/media/image113.png" ContentType="image/png"/>
  <Override PartName="/ppt/media/image167.png" ContentType="image/png"/>
  <Override PartName="/ppt/media/image115.svg" ContentType="image/svg"/>
  <Override PartName="/ppt/media/image67.png" ContentType="image/png"/>
  <Override PartName="/ppt/media/image169.png" ContentType="image/png"/>
  <Override PartName="/ppt/media/image69.png" ContentType="image/png"/>
  <Override PartName="/ppt/media/image102.svg" ContentType="image/svg"/>
  <Override PartName="/ppt/media/image54.png" ContentType="image/png"/>
  <Override PartName="/ppt/media/image170.svg" ContentType="image/svg"/>
  <Override PartName="/ppt/media/image154.png" ContentType="image/png"/>
  <Override PartName="/ppt/media/image8.png" ContentType="image/png"/>
  <Override PartName="/ppt/media/image70.svg" ContentType="image/svg"/>
  <Override PartName="/ppt/media/image103.png" ContentType="image/png"/>
  <Override PartName="/ppt/media/image71.png" ContentType="image/png"/>
  <Override PartName="/ppt/media/image104.svg" ContentType="image/svg"/>
  <Override PartName="/ppt/media/image156.png" ContentType="image/png"/>
  <Override PartName="/ppt/media/image56.png" ContentType="image/png"/>
  <Override PartName="/ppt/media/image72.svg" ContentType="image/svg"/>
  <Override PartName="/ppt/media/image172.png" ContentType="image/png"/>
  <Override PartName="/ppt/media/image120.svg" ContentType="image/svg"/>
  <Override PartName="/ppt/media/image106.svg" ContentType="image/svg"/>
  <Override PartName="/ppt/media/image74.svg" ContentType="image/svg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71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46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29.xml.rels" ContentType="application/vnd.openxmlformats-package.relationships+xml"/>
  <Override PartName="/ppt/slides/_rels/slide1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41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54.xml.rels" ContentType="application/vnd.openxmlformats-package.relationships+xml"/>
  <Override PartName="/ppt/slides/_rels/slide17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69.xml.rels" ContentType="application/vnd.openxmlformats-package.relationships+xml"/>
  <Override PartName="/ppt/slides/_rels/slide32.xml.rels" ContentType="application/vnd.openxmlformats-package.relationships+xml"/>
  <Override PartName="/ppt/slides/_rels/slide70.xml.rels" ContentType="application/vnd.openxmlformats-package.relationships+xml"/>
  <Override PartName="/ppt/slides/_rels/slide28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65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66.xml.rels" ContentType="application/vnd.openxmlformats-package.relationships+xml"/>
  <Override PartName="/ppt/slides/_rels/slide63.xml.rels" ContentType="application/vnd.openxmlformats-package.relationships+xml"/>
  <Override PartName="/ppt/slides/_rels/slide62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5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5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66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Slides/_rels/notesSlide69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6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6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8" r:id="rId5"/>
    <p:sldMasterId id="2147483660" r:id="rId6"/>
    <p:sldMasterId id="2147483662" r:id="rId7"/>
    <p:sldMasterId id="2147483664" r:id="rId8"/>
    <p:sldMasterId id="2147483666" r:id="rId9"/>
    <p:sldMasterId id="2147483674" r:id="rId10"/>
    <p:sldMasterId id="214748367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8.xml"/><Relationship Id="rId6" Type="http://schemas.openxmlformats.org/officeDocument/2006/relationships/slideMaster" Target="slideMasters/slideMaster9.xml"/><Relationship Id="rId7" Type="http://schemas.openxmlformats.org/officeDocument/2006/relationships/slideMaster" Target="slideMasters/slideMaster10.xml"/><Relationship Id="rId8" Type="http://schemas.openxmlformats.org/officeDocument/2006/relationships/slideMaster" Target="slideMasters/slideMaster11.xml"/><Relationship Id="rId9" Type="http://schemas.openxmlformats.org/officeDocument/2006/relationships/slideMaster" Target="slideMasters/slideMaster12.xml"/><Relationship Id="rId10" Type="http://schemas.openxmlformats.org/officeDocument/2006/relationships/slideMaster" Target="slideMasters/slideMaster17.xml"/><Relationship Id="rId11" Type="http://schemas.openxmlformats.org/officeDocument/2006/relationships/slideMaster" Target="slideMasters/slideMaster18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6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 idx="6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 idx="6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A48E746-F41C-48D3-9A55-059F37CD134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0360" cy="339192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4320" cy="39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64"/>
          </p:nvPr>
        </p:nvSpPr>
        <p:spPr>
          <a:xfrm>
            <a:off x="4402080" y="9553680"/>
            <a:ext cx="3366360" cy="50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FC9007-DD07-4164-8465-F7B2611F8F8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0360" cy="339192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4320" cy="39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65"/>
          </p:nvPr>
        </p:nvSpPr>
        <p:spPr>
          <a:xfrm>
            <a:off x="4402080" y="9553680"/>
            <a:ext cx="3366360" cy="50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AFDEDF-67B1-4388-93F0-B435232F16A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25320" cy="338688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09280" cy="39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66"/>
          </p:nvPr>
        </p:nvSpPr>
        <p:spPr>
          <a:xfrm>
            <a:off x="4402080" y="9553680"/>
            <a:ext cx="33613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6352EA-1D26-4219-955F-E501A1C98B1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0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1704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0948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61704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52A0A5-846C-41F6-8982-4A160856DE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1-title-Title-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128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4996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4996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4996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4996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0198B4-6E4C-4150-B7AF-698A807D296C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128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2872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2872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2872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2872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2872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28720" cy="18925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C71569-0982-4864-B18F-E43DE0FB96DC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aster1-Layout2-obj-Title-and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69480" cy="1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782A3F-FCFA-40CA-B517-A6F147586E0F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8556BA-A379-4C3E-93CB-ECC54FBA19EA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E2AC85-1B6D-4292-BA60-3194CE1356AC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2760" cy="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04C49D-2AC2-4F8B-B2A5-52080A97ABA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0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1704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0948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61704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A409F1C-6719-48BF-A043-8246A04C4A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0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09480" y="-2268360"/>
            <a:ext cx="1440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B0BB331-84A2-4DF3-AFE1-7AF21EEAF2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0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56E9C79-ADC1-4C0F-BA50-C834DF8D4E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0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1704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60948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/>
          </p:nvPr>
        </p:nvSpPr>
        <p:spPr>
          <a:xfrm>
            <a:off x="61704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923A31F-3571-4EC3-94AA-8C9C5F3BDC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0600" cy="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83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46E2DA-7B48-420D-A42A-8A5156376B62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083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BECD72-D51C-4B3C-A72D-7E0E6448708C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56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094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6256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083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BEB770-D2AB-4679-BA6E-81BAFC7F5AB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8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256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94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6256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083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A7AE08-1D90-4A9D-8D5B-BFB779E96872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56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094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6256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083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20B20B-8202-4841-A1A8-1E464B9FB08A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8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56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094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256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083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DFD436-3D25-4321-960E-D0CAA90E830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8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56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094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625680" y="160848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083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7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3711AD-AF43-436B-8319-50A02D863A0D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8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6720" cy="358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0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17040" y="160452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617040" y="1605960"/>
            <a:ext cx="6840" cy="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23BAB371-9544-4A65-A50C-71ECB8F2B3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0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609480" y="-2268360"/>
            <a:ext cx="1440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EB651951-84D1-45CF-9C42-762BF2E398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9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1704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1704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C1F59C-7AA9-40EB-8C24-C21BDA752F82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1704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04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6880" cy="357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5280" cy="357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48A83D-00A8-4431-943E-2464C7D77E8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5280" cy="357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ftr" idx="25"/>
          </p:nvPr>
        </p:nvSpPr>
        <p:spPr>
          <a:xfrm>
            <a:off x="3447360" y="5165280"/>
            <a:ext cx="3189240" cy="38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26"/>
          </p:nvPr>
        </p:nvSpPr>
        <p:spPr>
          <a:xfrm>
            <a:off x="7227360" y="5165280"/>
            <a:ext cx="2342520" cy="38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CAA061-F675-4260-BF08-06FF8AC5F4A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27"/>
          </p:nvPr>
        </p:nvSpPr>
        <p:spPr>
          <a:xfrm>
            <a:off x="504000" y="5165280"/>
            <a:ext cx="2342520" cy="38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400" cy="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06880" cy="357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5280" cy="357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D51B7A-3690-41F0-BC39-97447A66A607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5280" cy="357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1704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0948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1704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05800" cy="3560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4200" cy="3560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095961-1FD4-4286-8DBC-5A3473E92D5F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8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4200" cy="3560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17040" y="160452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0948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17040" y="1605960"/>
            <a:ext cx="6480" cy="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04720" cy="3549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3120" cy="3549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7A3ACB-2F61-428A-947D-69AF6EFA68E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3120" cy="3549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ftr" idx="58"/>
          </p:nvPr>
        </p:nvSpPr>
        <p:spPr>
          <a:xfrm>
            <a:off x="3447360" y="5165280"/>
            <a:ext cx="318816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59"/>
          </p:nvPr>
        </p:nvSpPr>
        <p:spPr>
          <a:xfrm>
            <a:off x="7227360" y="5165280"/>
            <a:ext cx="234144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20E026-5998-47D9-8298-0908835EFAC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60"/>
          </p:nvPr>
        </p:nvSpPr>
        <p:spPr>
          <a:xfrm>
            <a:off x="504000" y="5165280"/>
            <a:ext cx="234144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slideLayout" Target="../slideLayouts/slideLayout2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2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svg"/><Relationship Id="rId4" Type="http://schemas.openxmlformats.org/officeDocument/2006/relationships/image" Target="../media/image34.png"/><Relationship Id="rId5" Type="http://schemas.openxmlformats.org/officeDocument/2006/relationships/image" Target="../media/image35.sv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svg"/><Relationship Id="rId5" Type="http://schemas.openxmlformats.org/officeDocument/2006/relationships/image" Target="../media/image45.png"/><Relationship Id="rId6" Type="http://schemas.openxmlformats.org/officeDocument/2006/relationships/slideLayout" Target="../slideLayouts/slideLayout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8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47.png"/><Relationship Id="rId3" Type="http://schemas.openxmlformats.org/officeDocument/2006/relationships/image" Target="../media/image48.svg"/><Relationship Id="rId4" Type="http://schemas.openxmlformats.org/officeDocument/2006/relationships/image" Target="../media/image49.png"/><Relationship Id="rId5" Type="http://schemas.openxmlformats.org/officeDocument/2006/relationships/image" Target="../media/image50.sv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1.png"/><Relationship Id="rId3" Type="http://schemas.openxmlformats.org/officeDocument/2006/relationships/image" Target="../media/image47.png"/><Relationship Id="rId4" Type="http://schemas.openxmlformats.org/officeDocument/2006/relationships/image" Target="../media/image48.sv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slideLayout" Target="../slideLayouts/slideLayout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slideLayout" Target="../slideLayouts/slideLayout8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3.png"/><Relationship Id="rId3" Type="http://schemas.openxmlformats.org/officeDocument/2006/relationships/image" Target="../media/image58.jpeg"/><Relationship Id="rId4" Type="http://schemas.openxmlformats.org/officeDocument/2006/relationships/slideLayout" Target="../slideLayouts/slideLayout8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59.png"/><Relationship Id="rId3" Type="http://schemas.openxmlformats.org/officeDocument/2006/relationships/image" Target="../media/image60.svg"/><Relationship Id="rId4" Type="http://schemas.openxmlformats.org/officeDocument/2006/relationships/image" Target="../media/image61.png"/><Relationship Id="rId5" Type="http://schemas.openxmlformats.org/officeDocument/2006/relationships/image" Target="../media/image62.svg"/><Relationship Id="rId6" Type="http://schemas.openxmlformats.org/officeDocument/2006/relationships/image" Target="../media/image63.png"/><Relationship Id="rId7" Type="http://schemas.openxmlformats.org/officeDocument/2006/relationships/image" Target="../media/image64.svg"/><Relationship Id="rId8" Type="http://schemas.openxmlformats.org/officeDocument/2006/relationships/image" Target="../media/image65.png"/><Relationship Id="rId9" Type="http://schemas.openxmlformats.org/officeDocument/2006/relationships/image" Target="../media/image66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svg"/><Relationship Id="rId3" Type="http://schemas.openxmlformats.org/officeDocument/2006/relationships/image" Target="../media/image31.png"/><Relationship Id="rId4" Type="http://schemas.openxmlformats.org/officeDocument/2006/relationships/image" Target="../media/image69.png"/><Relationship Id="rId5" Type="http://schemas.openxmlformats.org/officeDocument/2006/relationships/image" Target="../media/image70.svg"/><Relationship Id="rId6" Type="http://schemas.openxmlformats.org/officeDocument/2006/relationships/image" Target="../media/image71.png"/><Relationship Id="rId7" Type="http://schemas.openxmlformats.org/officeDocument/2006/relationships/image" Target="../media/image72.svg"/><Relationship Id="rId8" Type="http://schemas.openxmlformats.org/officeDocument/2006/relationships/image" Target="../media/image73.png"/><Relationship Id="rId9" Type="http://schemas.openxmlformats.org/officeDocument/2006/relationships/image" Target="../media/image74.svg"/><Relationship Id="rId10" Type="http://schemas.openxmlformats.org/officeDocument/2006/relationships/image" Target="../media/image75.png"/><Relationship Id="rId11" Type="http://schemas.openxmlformats.org/officeDocument/2006/relationships/image" Target="../media/image76.svg"/><Relationship Id="rId12" Type="http://schemas.openxmlformats.org/officeDocument/2006/relationships/image" Target="../media/image1.pn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77.png"/><Relationship Id="rId3" Type="http://schemas.openxmlformats.org/officeDocument/2006/relationships/image" Target="../media/image78.svg"/><Relationship Id="rId4" Type="http://schemas.openxmlformats.org/officeDocument/2006/relationships/image" Target="../media/image79.png"/><Relationship Id="rId5" Type="http://schemas.openxmlformats.org/officeDocument/2006/relationships/image" Target="../media/image80.svg"/><Relationship Id="rId6" Type="http://schemas.openxmlformats.org/officeDocument/2006/relationships/image" Target="../media/image81.png"/><Relationship Id="rId7" Type="http://schemas.openxmlformats.org/officeDocument/2006/relationships/image" Target="../media/image82.svg"/><Relationship Id="rId8" Type="http://schemas.openxmlformats.org/officeDocument/2006/relationships/image" Target="../media/image83.png"/><Relationship Id="rId9" Type="http://schemas.openxmlformats.org/officeDocument/2006/relationships/image" Target="../media/image84.svg"/><Relationship Id="rId10" Type="http://schemas.openxmlformats.org/officeDocument/2006/relationships/image" Target="../media/image85.png"/><Relationship Id="rId11" Type="http://schemas.openxmlformats.org/officeDocument/2006/relationships/image" Target="../media/image86.svg"/><Relationship Id="rId12" Type="http://schemas.openxmlformats.org/officeDocument/2006/relationships/image" Target="../media/image87.png"/><Relationship Id="rId13" Type="http://schemas.openxmlformats.org/officeDocument/2006/relationships/image" Target="../media/image88.svg"/><Relationship Id="rId14" Type="http://schemas.openxmlformats.org/officeDocument/2006/relationships/image" Target="../media/image1.png"/><Relationship Id="rId15" Type="http://schemas.openxmlformats.org/officeDocument/2006/relationships/image" Target="../media/image7.png"/><Relationship Id="rId16" Type="http://schemas.openxmlformats.org/officeDocument/2006/relationships/slideLayout" Target="../slideLayouts/slideLayout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89.png"/><Relationship Id="rId3" Type="http://schemas.openxmlformats.org/officeDocument/2006/relationships/image" Target="../media/image90.svg"/><Relationship Id="rId4" Type="http://schemas.openxmlformats.org/officeDocument/2006/relationships/image" Target="../media/image91.png"/><Relationship Id="rId5" Type="http://schemas.openxmlformats.org/officeDocument/2006/relationships/image" Target="../media/image92.svg"/><Relationship Id="rId6" Type="http://schemas.openxmlformats.org/officeDocument/2006/relationships/image" Target="../media/image93.png"/><Relationship Id="rId7" Type="http://schemas.openxmlformats.org/officeDocument/2006/relationships/image" Target="../media/image94.svg"/><Relationship Id="rId8" Type="http://schemas.openxmlformats.org/officeDocument/2006/relationships/image" Target="../media/image95.png"/><Relationship Id="rId9" Type="http://schemas.openxmlformats.org/officeDocument/2006/relationships/image" Target="../media/image96.svg"/><Relationship Id="rId10" Type="http://schemas.openxmlformats.org/officeDocument/2006/relationships/image" Target="../media/image97.png"/><Relationship Id="rId11" Type="http://schemas.openxmlformats.org/officeDocument/2006/relationships/image" Target="../media/image98.svg"/><Relationship Id="rId12" Type="http://schemas.openxmlformats.org/officeDocument/2006/relationships/image" Target="../media/image1.pn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99.png"/><Relationship Id="rId3" Type="http://schemas.openxmlformats.org/officeDocument/2006/relationships/image" Target="../media/image100.svg"/><Relationship Id="rId4" Type="http://schemas.openxmlformats.org/officeDocument/2006/relationships/image" Target="../media/image101.png"/><Relationship Id="rId5" Type="http://schemas.openxmlformats.org/officeDocument/2006/relationships/image" Target="../media/image102.svg"/><Relationship Id="rId6" Type="http://schemas.openxmlformats.org/officeDocument/2006/relationships/image" Target="../media/image103.png"/><Relationship Id="rId7" Type="http://schemas.openxmlformats.org/officeDocument/2006/relationships/image" Target="../media/image104.svg"/><Relationship Id="rId8" Type="http://schemas.openxmlformats.org/officeDocument/2006/relationships/image" Target="../media/image105.png"/><Relationship Id="rId9" Type="http://schemas.openxmlformats.org/officeDocument/2006/relationships/image" Target="../media/image106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99.png"/><Relationship Id="rId3" Type="http://schemas.openxmlformats.org/officeDocument/2006/relationships/image" Target="../media/image100.svg"/><Relationship Id="rId4" Type="http://schemas.openxmlformats.org/officeDocument/2006/relationships/image" Target="../media/image101.png"/><Relationship Id="rId5" Type="http://schemas.openxmlformats.org/officeDocument/2006/relationships/image" Target="../media/image102.svg"/><Relationship Id="rId6" Type="http://schemas.openxmlformats.org/officeDocument/2006/relationships/image" Target="../media/image103.png"/><Relationship Id="rId7" Type="http://schemas.openxmlformats.org/officeDocument/2006/relationships/image" Target="../media/image104.svg"/><Relationship Id="rId8" Type="http://schemas.openxmlformats.org/officeDocument/2006/relationships/image" Target="../media/image105.png"/><Relationship Id="rId9" Type="http://schemas.openxmlformats.org/officeDocument/2006/relationships/image" Target="../media/image106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image" Target="../media/image108.png"/><Relationship Id="rId3" Type="http://schemas.openxmlformats.org/officeDocument/2006/relationships/image" Target="../media/image99.png"/><Relationship Id="rId4" Type="http://schemas.openxmlformats.org/officeDocument/2006/relationships/image" Target="../media/image100.sv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image" Target="../media/image1.png"/><Relationship Id="rId3" Type="http://schemas.openxmlformats.org/officeDocument/2006/relationships/image" Target="../media/image109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12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13.png"/><Relationship Id="rId2" Type="http://schemas.openxmlformats.org/officeDocument/2006/relationships/image" Target="../media/image114.png"/><Relationship Id="rId3" Type="http://schemas.openxmlformats.org/officeDocument/2006/relationships/image" Target="../media/image115.svg"/><Relationship Id="rId4" Type="http://schemas.openxmlformats.org/officeDocument/2006/relationships/image" Target="../media/image11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17.png"/><Relationship Id="rId3" Type="http://schemas.openxmlformats.org/officeDocument/2006/relationships/image" Target="../media/image118.svg"/><Relationship Id="rId4" Type="http://schemas.openxmlformats.org/officeDocument/2006/relationships/image" Target="../media/image119.png"/><Relationship Id="rId5" Type="http://schemas.openxmlformats.org/officeDocument/2006/relationships/image" Target="../media/image120.svg"/><Relationship Id="rId6" Type="http://schemas.openxmlformats.org/officeDocument/2006/relationships/image" Target="../media/image121.png"/><Relationship Id="rId7" Type="http://schemas.openxmlformats.org/officeDocument/2006/relationships/image" Target="../media/image122.svg"/><Relationship Id="rId8" Type="http://schemas.openxmlformats.org/officeDocument/2006/relationships/image" Target="../media/image123.png"/><Relationship Id="rId9" Type="http://schemas.openxmlformats.org/officeDocument/2006/relationships/image" Target="../media/image124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25.png"/><Relationship Id="rId3" Type="http://schemas.openxmlformats.org/officeDocument/2006/relationships/image" Target="../media/image126.svg"/><Relationship Id="rId4" Type="http://schemas.openxmlformats.org/officeDocument/2006/relationships/image" Target="../media/image127.png"/><Relationship Id="rId5" Type="http://schemas.openxmlformats.org/officeDocument/2006/relationships/image" Target="../media/image128.sv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29.png"/><Relationship Id="rId3" Type="http://schemas.openxmlformats.org/officeDocument/2006/relationships/image" Target="../media/image130.svg"/><Relationship Id="rId4" Type="http://schemas.openxmlformats.org/officeDocument/2006/relationships/image" Target="../media/image131.png"/><Relationship Id="rId5" Type="http://schemas.openxmlformats.org/officeDocument/2006/relationships/image" Target="../media/image132.svg"/><Relationship Id="rId6" Type="http://schemas.openxmlformats.org/officeDocument/2006/relationships/image" Target="../media/image133.png"/><Relationship Id="rId7" Type="http://schemas.openxmlformats.org/officeDocument/2006/relationships/image" Target="../media/image134.svg"/><Relationship Id="rId8" Type="http://schemas.openxmlformats.org/officeDocument/2006/relationships/image" Target="../media/image133.png"/><Relationship Id="rId9" Type="http://schemas.openxmlformats.org/officeDocument/2006/relationships/image" Target="../media/image134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slideLayout" Target="../slideLayouts/slideLayout7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slideLayout" Target="../slideLayouts/slideLayout18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slideLayout" Target="../slideLayouts/slideLayout18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slideLayout" Target="../slideLayouts/slideLayout18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41.png"/><Relationship Id="rId7" Type="http://schemas.openxmlformats.org/officeDocument/2006/relationships/slideLayout" Target="../slideLayouts/slideLayout1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50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slideLayout" Target="../slideLayouts/slideLayout8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4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sv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8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159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0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1.png"/><Relationship Id="rId3" Type="http://schemas.openxmlformats.org/officeDocument/2006/relationships/slideLayout" Target="../slideLayouts/slideLayout1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2.png"/><Relationship Id="rId3" Type="http://schemas.openxmlformats.org/officeDocument/2006/relationships/slideLayout" Target="../slideLayouts/slideLayout1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3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164.png"/><Relationship Id="rId2" Type="http://schemas.openxmlformats.org/officeDocument/2006/relationships/image" Target="../media/image165.png"/><Relationship Id="rId3" Type="http://schemas.openxmlformats.org/officeDocument/2006/relationships/image" Target="../media/image16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167.png"/><Relationship Id="rId7" Type="http://schemas.openxmlformats.org/officeDocument/2006/relationships/image" Target="../media/image168.svg"/><Relationship Id="rId8" Type="http://schemas.openxmlformats.org/officeDocument/2006/relationships/image" Target="../media/image169.png"/><Relationship Id="rId9" Type="http://schemas.openxmlformats.org/officeDocument/2006/relationships/image" Target="../media/image170.svg"/><Relationship Id="rId10" Type="http://schemas.openxmlformats.org/officeDocument/2006/relationships/image" Target="../media/image171.jpeg"/><Relationship Id="rId11" Type="http://schemas.openxmlformats.org/officeDocument/2006/relationships/image" Target="../media/image172.png"/><Relationship Id="rId12" Type="http://schemas.openxmlformats.org/officeDocument/2006/relationships/image" Target="../media/image2.png"/><Relationship Id="rId13" Type="http://schemas.openxmlformats.org/officeDocument/2006/relationships/image" Target="../media/image173.png"/><Relationship Id="rId14" Type="http://schemas.openxmlformats.org/officeDocument/2006/relationships/slideLayout" Target="../slideLayouts/slideLayout8.xml"/><Relationship Id="rId15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156.png"/><Relationship Id="rId2" Type="http://schemas.openxmlformats.org/officeDocument/2006/relationships/image" Target="../media/image113.png"/><Relationship Id="rId3" Type="http://schemas.openxmlformats.org/officeDocument/2006/relationships/image" Target="../media/image41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56.png"/><Relationship Id="rId7" Type="http://schemas.openxmlformats.org/officeDocument/2006/relationships/image" Target="../media/image114.png"/><Relationship Id="rId8" Type="http://schemas.openxmlformats.org/officeDocument/2006/relationships/image" Target="../media/image115.svg"/><Relationship Id="rId9" Type="http://schemas.openxmlformats.org/officeDocument/2006/relationships/image" Target="../media/image176.png"/><Relationship Id="rId10" Type="http://schemas.openxmlformats.org/officeDocument/2006/relationships/image" Target="../media/image177.svg"/><Relationship Id="rId11" Type="http://schemas.openxmlformats.org/officeDocument/2006/relationships/image" Target="../media/image178.png"/><Relationship Id="rId12" Type="http://schemas.openxmlformats.org/officeDocument/2006/relationships/image" Target="../media/image179.svg"/><Relationship Id="rId13" Type="http://schemas.openxmlformats.org/officeDocument/2006/relationships/image" Target="../media/image43.png"/><Relationship Id="rId14" Type="http://schemas.openxmlformats.org/officeDocument/2006/relationships/image" Target="../media/image44.svg"/><Relationship Id="rId15" Type="http://schemas.openxmlformats.org/officeDocument/2006/relationships/image" Target="../media/image180.png"/><Relationship Id="rId16" Type="http://schemas.openxmlformats.org/officeDocument/2006/relationships/image" Target="../media/image181.svg"/><Relationship Id="rId17" Type="http://schemas.openxmlformats.org/officeDocument/2006/relationships/image" Target="../media/image157.png"/><Relationship Id="rId18" Type="http://schemas.openxmlformats.org/officeDocument/2006/relationships/image" Target="../media/image158.svg"/><Relationship Id="rId19" Type="http://schemas.openxmlformats.org/officeDocument/2006/relationships/image" Target="../media/image7.png"/><Relationship Id="rId20" Type="http://schemas.openxmlformats.org/officeDocument/2006/relationships/image" Target="../media/image1.png"/><Relationship Id="rId21" Type="http://schemas.openxmlformats.org/officeDocument/2006/relationships/slideLayout" Target="../slideLayouts/slideLayout18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82.jpeg"/><Relationship Id="rId4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164600" y="1848600"/>
            <a:ext cx="10511280" cy="1321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fontScale="92500" lnSpcReduction="19999"/>
          </a:bodyPr>
          <a:p>
            <a:pPr indent="0" algn="ctr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“Why not both?” A semi-supervised pipeline for a comprehensive and scalable analysis of immune heterogeneity in human samples</a:t>
            </a:r>
            <a:br>
              <a:rPr sz="3100"/>
            </a:b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14760" y="2977200"/>
            <a:ext cx="10511280" cy="41050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David Rach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Nginache Nampota-Nkomba, Godfrey Mvula, Felix A. Mkandawire, Osward M. Nyirenda, Winter A. Okoth,  Daniela Franco, Andrea G. Buchwald, Franklin R. Toapanta, Marcelo B. Sztein, Miriam K. Laufer,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Kirsten E. Lyke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Cristiana Cairo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University of Maryland School of Medicine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October 28, 2026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4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Box 2"/>
          <p:cNvSpPr/>
          <p:nvPr/>
        </p:nvSpPr>
        <p:spPr>
          <a:xfrm>
            <a:off x="122760" y="6332400"/>
            <a:ext cx="21038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Slides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8" descr=""/>
          <p:cNvPicPr/>
          <p:nvPr/>
        </p:nvPicPr>
        <p:blipFill>
          <a:blip r:embed="rId2"/>
          <a:stretch/>
        </p:blipFill>
        <p:spPr>
          <a:xfrm>
            <a:off x="9073800" y="156240"/>
            <a:ext cx="2853720" cy="107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Graphic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7960" y="123480"/>
            <a:ext cx="3436920" cy="89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5"/>
          <a:stretch/>
        </p:blipFill>
        <p:spPr>
          <a:xfrm>
            <a:off x="721800" y="4800600"/>
            <a:ext cx="1348200" cy="137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686160" y="1052640"/>
            <a:ext cx="5252760" cy="145728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8240" cy="6339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Picture 12" descr=""/>
          <p:cNvPicPr/>
          <p:nvPr/>
        </p:nvPicPr>
        <p:blipFill>
          <a:blip r:embed="rId1"/>
          <a:stretch/>
        </p:blipFill>
        <p:spPr>
          <a:xfrm>
            <a:off x="6095880" y="1037880"/>
            <a:ext cx="5496120" cy="444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1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"/>
          <p:cNvSpPr/>
          <p:nvPr/>
        </p:nvSpPr>
        <p:spPr>
          <a:xfrm>
            <a:off x="686160" y="2660400"/>
            <a:ext cx="5252760" cy="159552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6" name="Rectangle 7"/>
          <p:cNvSpPr/>
          <p:nvPr/>
        </p:nvSpPr>
        <p:spPr>
          <a:xfrm>
            <a:off x="748800" y="1052640"/>
            <a:ext cx="5190120" cy="20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Capable of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resolving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remarkably similar fluorophores →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increased number of markers per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conventional flow cytometry (CFC)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1"/>
          <p:cNvSpPr/>
          <p:nvPr/>
        </p:nvSpPr>
        <p:spPr>
          <a:xfrm>
            <a:off x="748800" y="2707200"/>
            <a:ext cx="519012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Allows for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rapid acquisition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 millions of events in a few minutes → typically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greater number of acquired cells per sample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mass cytometry (MC)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2"/>
          <p:cNvSpPr/>
          <p:nvPr/>
        </p:nvSpPr>
        <p:spPr>
          <a:xfrm>
            <a:off x="685800" y="4440600"/>
            <a:ext cx="51901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(SFC) datasets have an unique combination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width and depth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preceding technologies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85800" y="4397760"/>
            <a:ext cx="5253120" cy="108396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4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"/>
          <p:cNvSpPr/>
          <p:nvPr/>
        </p:nvSpPr>
        <p:spPr>
          <a:xfrm>
            <a:off x="6629400" y="1198800"/>
            <a:ext cx="5027400" cy="122940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4" name=""/>
          <p:cNvSpPr/>
          <p:nvPr/>
        </p:nvSpPr>
        <p:spPr>
          <a:xfrm>
            <a:off x="6629400" y="3837600"/>
            <a:ext cx="5024520" cy="83196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5" name=""/>
          <p:cNvSpPr/>
          <p:nvPr/>
        </p:nvSpPr>
        <p:spPr>
          <a:xfrm>
            <a:off x="6629400" y="3895200"/>
            <a:ext cx="52531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Expand our knowledge about immune system heterogeneity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629400" y="1234800"/>
            <a:ext cx="502452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Able to efficiently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 greater number of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more thorough profiling of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rare cell subsets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evaluate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cell types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invaluable for studies with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limited biospecimen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626520" y="2498400"/>
            <a:ext cx="5027400" cy="122940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2"/>
          <a:stretch/>
        </p:blipFill>
        <p:spPr>
          <a:xfrm>
            <a:off x="914400" y="1143000"/>
            <a:ext cx="5027040" cy="376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903960" y="3466080"/>
            <a:ext cx="5035320" cy="1452600"/>
          </a:xfrm>
          <a:prstGeom prst="rect">
            <a:avLst/>
          </a:prstGeom>
          <a:solidFill>
            <a:srgbClr val="780373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1" name=""/>
          <p:cNvSpPr/>
          <p:nvPr/>
        </p:nvSpPr>
        <p:spPr>
          <a:xfrm>
            <a:off x="909360" y="1603080"/>
            <a:ext cx="5023440" cy="1366920"/>
          </a:xfrm>
          <a:prstGeom prst="rect">
            <a:avLst/>
          </a:prstGeom>
          <a:solidFill>
            <a:srgbClr val="ffd8ce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Trade-off: Increasing analytical complexity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3"/>
          <p:cNvSpPr/>
          <p:nvPr/>
        </p:nvSpPr>
        <p:spPr>
          <a:xfrm>
            <a:off x="909360" y="1603080"/>
            <a:ext cx="4869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 are only interested in a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population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of cells → analysis process remains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essentially unchanged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(manual gating with a few more gates)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13"/>
          <p:cNvSpPr/>
          <p:nvPr/>
        </p:nvSpPr>
        <p:spPr>
          <a:xfrm>
            <a:off x="970560" y="3514680"/>
            <a:ext cx="49687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your goal is to characterize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cell populations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may be present → the breadth and depth of the datasets complicate the analysis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1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Picture 17" descr=""/>
          <p:cNvPicPr/>
          <p:nvPr/>
        </p:nvPicPr>
        <p:blipFill>
          <a:blip r:embed="rId2"/>
          <a:stretch/>
        </p:blipFill>
        <p:spPr>
          <a:xfrm>
            <a:off x="6400800" y="1371600"/>
            <a:ext cx="3881880" cy="410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5481720" y="1403640"/>
            <a:ext cx="5861160" cy="250164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>
            <a:off x="5486400" y="4114800"/>
            <a:ext cx="5939280" cy="13672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Datasets: Combinatorially Exponential Clusters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18" descr=""/>
          <p:cNvPicPr/>
          <p:nvPr/>
        </p:nvPicPr>
        <p:blipFill>
          <a:blip r:embed="rId1"/>
          <a:stretch/>
        </p:blipFill>
        <p:spPr>
          <a:xfrm>
            <a:off x="457200" y="1175400"/>
            <a:ext cx="5021280" cy="446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Rectangle 16"/>
          <p:cNvSpPr/>
          <p:nvPr/>
        </p:nvSpPr>
        <p:spPr>
          <a:xfrm>
            <a:off x="5403600" y="3154680"/>
            <a:ext cx="557100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At the end, we will have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only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expressed the same markers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7"/>
          <p:cNvSpPr/>
          <p:nvPr/>
        </p:nvSpPr>
        <p:spPr>
          <a:xfrm>
            <a:off x="5482800" y="4114800"/>
            <a:ext cx="59670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4" name="Rectangle 18"/>
          <p:cNvSpPr/>
          <p:nvPr/>
        </p:nvSpPr>
        <p:spPr>
          <a:xfrm>
            <a:off x="5486400" y="4572000"/>
            <a:ext cx="5939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216000" indent="-21600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“Groups” per panel = 2</a:t>
            </a:r>
            <a:r>
              <a:rPr b="0" lang="en-US" sz="2400" strike="noStrike" u="none" baseline="3300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Number of Fluorophores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Picture 2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Rectangle 19"/>
          <p:cNvSpPr/>
          <p:nvPr/>
        </p:nvSpPr>
        <p:spPr>
          <a:xfrm>
            <a:off x="5403600" y="1325880"/>
            <a:ext cx="571068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If for a given marker in your panel, you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split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the cells into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positive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negative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populations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30"/>
          <p:cNvSpPr/>
          <p:nvPr/>
        </p:nvSpPr>
        <p:spPr>
          <a:xfrm>
            <a:off x="5403600" y="2240280"/>
            <a:ext cx="593928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this splitting process was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repeated for every marker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 your panel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31"/>
          <p:cNvSpPr/>
          <p:nvPr/>
        </p:nvSpPr>
        <p:spPr>
          <a:xfrm>
            <a:off x="5486400" y="5029200"/>
            <a:ext cx="61714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>
            <a:off x="5481720" y="1403640"/>
            <a:ext cx="5861160" cy="250164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1" name=""/>
          <p:cNvSpPr/>
          <p:nvPr/>
        </p:nvSpPr>
        <p:spPr>
          <a:xfrm>
            <a:off x="5486400" y="4114800"/>
            <a:ext cx="5939280" cy="13672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Datasets: Combinatorially Exponential Clusters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3" descr=""/>
          <p:cNvPicPr/>
          <p:nvPr/>
        </p:nvPicPr>
        <p:blipFill>
          <a:blip r:embed="rId1"/>
          <a:stretch/>
        </p:blipFill>
        <p:spPr>
          <a:xfrm>
            <a:off x="457200" y="1175400"/>
            <a:ext cx="5021280" cy="446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angle 2"/>
          <p:cNvSpPr/>
          <p:nvPr/>
        </p:nvSpPr>
        <p:spPr>
          <a:xfrm>
            <a:off x="5403600" y="3154680"/>
            <a:ext cx="557100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At the end, we will have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only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expressed the same markers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32"/>
          <p:cNvSpPr/>
          <p:nvPr/>
        </p:nvSpPr>
        <p:spPr>
          <a:xfrm>
            <a:off x="5482800" y="4114800"/>
            <a:ext cx="5967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9-color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at most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33"/>
          <p:cNvSpPr/>
          <p:nvPr/>
        </p:nvSpPr>
        <p:spPr>
          <a:xfrm>
            <a:off x="5482800" y="4572000"/>
            <a:ext cx="6171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1.1e+12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Picture 2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Rectangle 34"/>
          <p:cNvSpPr/>
          <p:nvPr/>
        </p:nvSpPr>
        <p:spPr>
          <a:xfrm>
            <a:off x="5403600" y="1325880"/>
            <a:ext cx="571068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If for a given marker in your panel, you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split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the cells into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positive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negative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populations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35"/>
          <p:cNvSpPr/>
          <p:nvPr/>
        </p:nvSpPr>
        <p:spPr>
          <a:xfrm>
            <a:off x="5403600" y="2240280"/>
            <a:ext cx="593928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this splitting process was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repeated for every marker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 your panel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6"/>
          <p:cNvSpPr/>
          <p:nvPr/>
        </p:nvSpPr>
        <p:spPr>
          <a:xfrm>
            <a:off x="5486400" y="5029200"/>
            <a:ext cx="6171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457200" y="2784600"/>
            <a:ext cx="5939280" cy="16012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36000" y="33480"/>
            <a:ext cx="12184560" cy="6505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even is a quintillion?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37"/>
          <p:cNvSpPr/>
          <p:nvPr/>
        </p:nvSpPr>
        <p:spPr>
          <a:xfrm>
            <a:off x="457200" y="2738520"/>
            <a:ext cx="5967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gate, every 10 seconds → 6 groups/minute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2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Rectangle 38"/>
          <p:cNvSpPr/>
          <p:nvPr/>
        </p:nvSpPr>
        <p:spPr>
          <a:xfrm>
            <a:off x="453600" y="1945800"/>
            <a:ext cx="6171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39"/>
          <p:cNvSpPr/>
          <p:nvPr/>
        </p:nvSpPr>
        <p:spPr>
          <a:xfrm>
            <a:off x="457200" y="3134520"/>
            <a:ext cx="5967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 minutes in an hour → 360 groups/hour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40"/>
          <p:cNvSpPr/>
          <p:nvPr/>
        </p:nvSpPr>
        <p:spPr>
          <a:xfrm>
            <a:off x="457200" y="3530520"/>
            <a:ext cx="5967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Awake 16 hours a day → 5760 groups/day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41"/>
          <p:cNvSpPr/>
          <p:nvPr/>
        </p:nvSpPr>
        <p:spPr>
          <a:xfrm>
            <a:off x="457200" y="396252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457200" y="1899000"/>
            <a:ext cx="5939280" cy="45288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41" name="" descr=""/>
          <p:cNvPicPr/>
          <p:nvPr/>
        </p:nvPicPr>
        <p:blipFill>
          <a:blip r:embed="rId2"/>
          <a:stretch/>
        </p:blipFill>
        <p:spPr>
          <a:xfrm>
            <a:off x="6567120" y="1545840"/>
            <a:ext cx="5544360" cy="302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2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PlaceHolder 12"/>
          <p:cNvSpPr/>
          <p:nvPr/>
        </p:nvSpPr>
        <p:spPr>
          <a:xfrm>
            <a:off x="424800" y="808200"/>
            <a:ext cx="8912160" cy="10875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I were to manually check for every combination...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457200" y="2784600"/>
            <a:ext cx="5939280" cy="16012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6000" y="33480"/>
            <a:ext cx="12184560" cy="6505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even is a quintillion?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45"/>
          <p:cNvSpPr/>
          <p:nvPr/>
        </p:nvSpPr>
        <p:spPr>
          <a:xfrm>
            <a:off x="457200" y="2738520"/>
            <a:ext cx="5967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gate, every 10 seconds → 6 groups/minute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Picture 3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Rectangle 53"/>
          <p:cNvSpPr/>
          <p:nvPr/>
        </p:nvSpPr>
        <p:spPr>
          <a:xfrm>
            <a:off x="453600" y="1945800"/>
            <a:ext cx="6171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54"/>
          <p:cNvSpPr/>
          <p:nvPr/>
        </p:nvSpPr>
        <p:spPr>
          <a:xfrm>
            <a:off x="457200" y="3134520"/>
            <a:ext cx="5967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 minutes in an hour → 360 groups/hour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55"/>
          <p:cNvSpPr/>
          <p:nvPr/>
        </p:nvSpPr>
        <p:spPr>
          <a:xfrm>
            <a:off x="457200" y="3530520"/>
            <a:ext cx="5967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Awake 16 hours a day → 5760 groups/day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56"/>
          <p:cNvSpPr/>
          <p:nvPr/>
        </p:nvSpPr>
        <p:spPr>
          <a:xfrm>
            <a:off x="457200" y="396252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457200" y="1899000"/>
            <a:ext cx="5939280" cy="45288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53" name="" descr=""/>
          <p:cNvPicPr/>
          <p:nvPr/>
        </p:nvPicPr>
        <p:blipFill>
          <a:blip r:embed="rId2"/>
          <a:stretch/>
        </p:blipFill>
        <p:spPr>
          <a:xfrm>
            <a:off x="6567120" y="1545840"/>
            <a:ext cx="5544360" cy="302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"/>
          <p:cNvSpPr/>
          <p:nvPr/>
        </p:nvSpPr>
        <p:spPr>
          <a:xfrm>
            <a:off x="1910520" y="4601520"/>
            <a:ext cx="28882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….Not even close….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4"/>
          <p:cNvSpPr/>
          <p:nvPr/>
        </p:nvSpPr>
        <p:spPr>
          <a:xfrm>
            <a:off x="424800" y="808200"/>
            <a:ext cx="8912160" cy="10875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I were to manually check for every combination...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>
            <a:off x="5490000" y="2056680"/>
            <a:ext cx="5935680" cy="11674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Picture 3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Rectangle 43"/>
          <p:cNvSpPr/>
          <p:nvPr/>
        </p:nvSpPr>
        <p:spPr>
          <a:xfrm>
            <a:off x="5486400" y="1371600"/>
            <a:ext cx="6171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44"/>
          <p:cNvSpPr/>
          <p:nvPr/>
        </p:nvSpPr>
        <p:spPr>
          <a:xfrm>
            <a:off x="5490000" y="2046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5486400" y="1371600"/>
            <a:ext cx="5939280" cy="45288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2"/>
          <a:stretch/>
        </p:blipFill>
        <p:spPr>
          <a:xfrm>
            <a:off x="457200" y="1371600"/>
            <a:ext cx="4872240" cy="265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Rectangle 46"/>
          <p:cNvSpPr/>
          <p:nvPr/>
        </p:nvSpPr>
        <p:spPr>
          <a:xfrm>
            <a:off x="5490000" y="2406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47"/>
          <p:cNvSpPr/>
          <p:nvPr/>
        </p:nvSpPr>
        <p:spPr>
          <a:xfrm>
            <a:off x="5490000" y="2730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9"/>
          <p:cNvSpPr/>
          <p:nvPr/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4874400" cy="265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"/>
          <p:cNvSpPr/>
          <p:nvPr/>
        </p:nvSpPr>
        <p:spPr>
          <a:xfrm>
            <a:off x="5490000" y="3578760"/>
            <a:ext cx="5935680" cy="143532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0" name=""/>
          <p:cNvSpPr/>
          <p:nvPr/>
        </p:nvSpPr>
        <p:spPr>
          <a:xfrm>
            <a:off x="5490000" y="2056680"/>
            <a:ext cx="5935680" cy="11674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Picture 32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Rectangle 42"/>
          <p:cNvSpPr/>
          <p:nvPr/>
        </p:nvSpPr>
        <p:spPr>
          <a:xfrm>
            <a:off x="5486400" y="1371600"/>
            <a:ext cx="6171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48"/>
          <p:cNvSpPr/>
          <p:nvPr/>
        </p:nvSpPr>
        <p:spPr>
          <a:xfrm>
            <a:off x="5490000" y="2046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49"/>
          <p:cNvSpPr/>
          <p:nvPr/>
        </p:nvSpPr>
        <p:spPr>
          <a:xfrm>
            <a:off x="5490000" y="3578760"/>
            <a:ext cx="59392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 we need ~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50 immortal researchers working continuously since the Big Bang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just to check all group combinations for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60-fluorophore panel .fcs file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5486400" y="1371600"/>
            <a:ext cx="5939280" cy="45288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7" name="Rectangle 51"/>
          <p:cNvSpPr/>
          <p:nvPr/>
        </p:nvSpPr>
        <p:spPr>
          <a:xfrm>
            <a:off x="5490000" y="2406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52"/>
          <p:cNvSpPr/>
          <p:nvPr/>
        </p:nvSpPr>
        <p:spPr>
          <a:xfrm>
            <a:off x="5490000" y="2730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1"/>
          <p:cNvSpPr/>
          <p:nvPr/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4874400" cy="265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"/>
          <p:cNvSpPr/>
          <p:nvPr/>
        </p:nvSpPr>
        <p:spPr>
          <a:xfrm>
            <a:off x="5490000" y="3578760"/>
            <a:ext cx="5935680" cy="143532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3" name=""/>
          <p:cNvSpPr/>
          <p:nvPr/>
        </p:nvSpPr>
        <p:spPr>
          <a:xfrm>
            <a:off x="5490000" y="2056680"/>
            <a:ext cx="5935680" cy="11674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Picture 3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Rectangle 57"/>
          <p:cNvSpPr/>
          <p:nvPr/>
        </p:nvSpPr>
        <p:spPr>
          <a:xfrm>
            <a:off x="5486400" y="1371600"/>
            <a:ext cx="6171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58"/>
          <p:cNvSpPr/>
          <p:nvPr/>
        </p:nvSpPr>
        <p:spPr>
          <a:xfrm>
            <a:off x="5490000" y="2046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59"/>
          <p:cNvSpPr/>
          <p:nvPr/>
        </p:nvSpPr>
        <p:spPr>
          <a:xfrm>
            <a:off x="5490000" y="3578760"/>
            <a:ext cx="59392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 we need ~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50 immortal researchers working continuously since the Big Bang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just to check all group combinations for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60-fluorophore panel .fcs file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5486400" y="1371600"/>
            <a:ext cx="5939280" cy="45288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0" name="Rectangle 60"/>
          <p:cNvSpPr/>
          <p:nvPr/>
        </p:nvSpPr>
        <p:spPr>
          <a:xfrm>
            <a:off x="5490000" y="2406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61"/>
          <p:cNvSpPr/>
          <p:nvPr/>
        </p:nvSpPr>
        <p:spPr>
          <a:xfrm>
            <a:off x="5490000" y="2730600"/>
            <a:ext cx="6167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16"/>
          <p:cNvSpPr/>
          <p:nvPr/>
        </p:nvSpPr>
        <p:spPr>
          <a:xfrm>
            <a:off x="0" y="-182520"/>
            <a:ext cx="12184560" cy="13176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"/>
          <p:cNvSpPr/>
          <p:nvPr/>
        </p:nvSpPr>
        <p:spPr>
          <a:xfrm>
            <a:off x="6629400" y="5215320"/>
            <a:ext cx="3884400" cy="76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file down, 99 more to go!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"/>
          <p:cNvGrpSpPr/>
          <p:nvPr/>
        </p:nvGrpSpPr>
        <p:grpSpPr>
          <a:xfrm>
            <a:off x="6858000" y="1371600"/>
            <a:ext cx="5024880" cy="4110480"/>
            <a:chOff x="6858000" y="1371600"/>
            <a:chExt cx="5024880" cy="4110480"/>
          </a:xfrm>
        </p:grpSpPr>
        <p:pic>
          <p:nvPicPr>
            <p:cNvPr id="296" name="" descr=""/>
            <p:cNvPicPr/>
            <p:nvPr/>
          </p:nvPicPr>
          <p:blipFill>
            <a:blip r:embed="rId1"/>
            <a:srcRect l="0" t="0" r="75396" b="50082"/>
            <a:stretch/>
          </p:blipFill>
          <p:spPr>
            <a:xfrm>
              <a:off x="7073280" y="1762920"/>
              <a:ext cx="4363920" cy="371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7" name=""/>
            <p:cNvSpPr/>
            <p:nvPr/>
          </p:nvSpPr>
          <p:spPr>
            <a:xfrm>
              <a:off x="6858000" y="2743200"/>
              <a:ext cx="568440" cy="15631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7239600" y="1371600"/>
              <a:ext cx="568800" cy="975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11314440" y="1567440"/>
              <a:ext cx="568440" cy="975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300" name="Picture 73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"/>
          <p:cNvSpPr/>
          <p:nvPr/>
        </p:nvSpPr>
        <p:spPr>
          <a:xfrm>
            <a:off x="685800" y="1135800"/>
            <a:ext cx="5935680" cy="143532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2" name="Rectangle 62"/>
          <p:cNvSpPr/>
          <p:nvPr/>
        </p:nvSpPr>
        <p:spPr>
          <a:xfrm>
            <a:off x="685800" y="1143000"/>
            <a:ext cx="59392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Consequently, if the goal is to characterize all cell populations present, some form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(algorithm) or semi-supervised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analytical approaches will be needed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-18360" y="48600"/>
            <a:ext cx="12206160" cy="1087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Alternative: Unsupervised Analysis (Algorithms)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63"/>
          <p:cNvSpPr/>
          <p:nvPr/>
        </p:nvSpPr>
        <p:spPr>
          <a:xfrm>
            <a:off x="685800" y="1143000"/>
            <a:ext cx="59392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Consequently, if the goal is to characterize all cell populations present, some form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(algorithm) or semi-supervised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analytical approaches will be needed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64"/>
          <p:cNvSpPr/>
          <p:nvPr/>
        </p:nvSpPr>
        <p:spPr>
          <a:xfrm>
            <a:off x="685800" y="3159000"/>
            <a:ext cx="59392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Clustering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FlowSOM, Phenograph, Xshift,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65"/>
          <p:cNvSpPr/>
          <p:nvPr/>
        </p:nvSpPr>
        <p:spPr>
          <a:xfrm>
            <a:off x="685800" y="3789000"/>
            <a:ext cx="59392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Dimensionality visualization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opt-SNE, UMAP, PaCMAP, Phate,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85800" y="4813200"/>
            <a:ext cx="5939280" cy="910080"/>
          </a:xfrm>
          <a:prstGeom prst="rect">
            <a:avLst/>
          </a:prstGeom>
          <a:solidFill>
            <a:srgbClr val="3faf4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8" name="Rectangle 69"/>
          <p:cNvSpPr/>
          <p:nvPr/>
        </p:nvSpPr>
        <p:spPr>
          <a:xfrm>
            <a:off x="685800" y="4932000"/>
            <a:ext cx="59392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Gating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openCyto, flowMagic, ElasticGate,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85800" y="3104640"/>
            <a:ext cx="5939280" cy="153504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Picture 2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1840" cy="639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Picture 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35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1840" cy="639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3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"/>
          <p:cNvSpPr/>
          <p:nvPr/>
        </p:nvSpPr>
        <p:spPr>
          <a:xfrm flipH="1" flipV="1" rot="16074000">
            <a:off x="1857240" y="894240"/>
            <a:ext cx="452880" cy="49572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Picture 37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1840" cy="639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Picture 3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"/>
          <p:cNvSpPr/>
          <p:nvPr/>
        </p:nvSpPr>
        <p:spPr>
          <a:xfrm flipH="1" flipV="1" rot="16074000">
            <a:off x="9401040" y="894240"/>
            <a:ext cx="452880" cy="49572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Picture 39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1840" cy="639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Picture 40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"/>
          <p:cNvSpPr/>
          <p:nvPr/>
        </p:nvSpPr>
        <p:spPr>
          <a:xfrm>
            <a:off x="3321360" y="525780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9" name=""/>
          <p:cNvSpPr/>
          <p:nvPr/>
        </p:nvSpPr>
        <p:spPr>
          <a:xfrm flipH="1">
            <a:off x="3321360" y="548640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Picture 104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6160" cy="3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"/>
          <p:cNvSpPr/>
          <p:nvPr/>
        </p:nvSpPr>
        <p:spPr>
          <a:xfrm>
            <a:off x="101880" y="89280"/>
            <a:ext cx="12008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Many algorithmic tools struggle with SFC data’s quirks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4760" cy="35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 descr=""/>
          <p:cNvPicPr/>
          <p:nvPr/>
        </p:nvPicPr>
        <p:blipFill>
          <a:blip r:embed="rId3"/>
          <a:stretch/>
        </p:blipFill>
        <p:spPr>
          <a:xfrm>
            <a:off x="2769120" y="1062000"/>
            <a:ext cx="6688440" cy="464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375000" y="4572360"/>
            <a:ext cx="1137600" cy="113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>
            <a:off x="7929000" y="2900880"/>
            <a:ext cx="4113000" cy="1312560"/>
          </a:xfrm>
          <a:prstGeom prst="rect">
            <a:avLst/>
          </a:prstGeom>
          <a:solidFill>
            <a:srgbClr val="6b5e9b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37" name="Picture 171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6160" cy="3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"/>
          <p:cNvSpPr/>
          <p:nvPr/>
        </p:nvSpPr>
        <p:spPr>
          <a:xfrm>
            <a:off x="101880" y="89280"/>
            <a:ext cx="12008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Full biological discovery potential often out of reach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82"/>
          <p:cNvSpPr/>
          <p:nvPr/>
        </p:nvSpPr>
        <p:spPr>
          <a:xfrm>
            <a:off x="7929000" y="2900880"/>
            <a:ext cx="4113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For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spectral flow cytometry datasets, only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handful of cell populations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end up being analyzed by any method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4760" cy="35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" descr=""/>
          <p:cNvPicPr/>
          <p:nvPr/>
        </p:nvPicPr>
        <p:blipFill>
          <a:blip r:embed="rId3"/>
          <a:srcRect l="0" t="0" r="0" b="9428"/>
          <a:stretch/>
        </p:blipFill>
        <p:spPr>
          <a:xfrm>
            <a:off x="228600" y="1371600"/>
            <a:ext cx="7542000" cy="388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7" descr=""/>
          <p:cNvPicPr/>
          <p:nvPr/>
        </p:nvPicPr>
        <p:blipFill>
          <a:blip r:embed="rId1"/>
          <a:stretch/>
        </p:blipFill>
        <p:spPr>
          <a:xfrm>
            <a:off x="1908720" y="698760"/>
            <a:ext cx="8372160" cy="586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My PhD’s focus: HIV-exposed Uninfected Infants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Picture 9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2" descr=""/>
          <p:cNvPicPr/>
          <p:nvPr/>
        </p:nvPicPr>
        <p:blipFill>
          <a:blip r:embed="rId1"/>
          <a:stretch/>
        </p:blipFill>
        <p:spPr>
          <a:xfrm>
            <a:off x="2773080" y="228600"/>
            <a:ext cx="9141840" cy="639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Malawian Cohort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Picture 4" descr=""/>
          <p:cNvPicPr/>
          <p:nvPr/>
        </p:nvPicPr>
        <p:blipFill>
          <a:blip r:embed="rId2"/>
          <a:stretch/>
        </p:blipFill>
        <p:spPr>
          <a:xfrm>
            <a:off x="459000" y="1765440"/>
            <a:ext cx="3067920" cy="356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Picture 5" descr=""/>
          <p:cNvPicPr/>
          <p:nvPr/>
        </p:nvPicPr>
        <p:blipFill>
          <a:blip r:embed="rId3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Study Timeline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2" name="Picture 3" descr=""/>
          <p:cNvPicPr/>
          <p:nvPr/>
        </p:nvPicPr>
        <p:blipFill>
          <a:blip r:embed="rId1"/>
          <a:srcRect l="0" t="18235" r="0" b="29137"/>
          <a:stretch/>
        </p:blipFill>
        <p:spPr>
          <a:xfrm>
            <a:off x="404640" y="1332360"/>
            <a:ext cx="11380680" cy="41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Arrow: Right 4"/>
          <p:cNvSpPr/>
          <p:nvPr/>
        </p:nvSpPr>
        <p:spPr>
          <a:xfrm rot="16200000">
            <a:off x="4167720" y="5541840"/>
            <a:ext cx="529560" cy="284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4" name="Arrow: Right 5"/>
          <p:cNvSpPr/>
          <p:nvPr/>
        </p:nvSpPr>
        <p:spPr>
          <a:xfrm rot="16200000">
            <a:off x="9073080" y="5555880"/>
            <a:ext cx="529560" cy="284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5" name="Arrow: Right 6"/>
          <p:cNvSpPr/>
          <p:nvPr/>
        </p:nvSpPr>
        <p:spPr>
          <a:xfrm rot="16200000">
            <a:off x="10784880" y="5577120"/>
            <a:ext cx="529560" cy="284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6" name="Picture 7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32-Fluorophore Spectral Flow Cytometry Panel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Picture 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0" name=""/>
          <p:cNvGrpSpPr/>
          <p:nvPr/>
        </p:nvGrpSpPr>
        <p:grpSpPr>
          <a:xfrm>
            <a:off x="914400" y="757800"/>
            <a:ext cx="2284200" cy="5641200"/>
            <a:chOff x="914400" y="757800"/>
            <a:chExt cx="2284200" cy="5641200"/>
          </a:xfrm>
        </p:grpSpPr>
        <p:pic>
          <p:nvPicPr>
            <p:cNvPr id="361" name="Picture 3" descr=""/>
            <p:cNvPicPr/>
            <p:nvPr/>
          </p:nvPicPr>
          <p:blipFill>
            <a:blip r:embed="rId2"/>
            <a:srcRect l="0" t="0" r="0" b="29919"/>
            <a:stretch/>
          </p:blipFill>
          <p:spPr>
            <a:xfrm>
              <a:off x="914400" y="757800"/>
              <a:ext cx="2284200" cy="2572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2" name="Picture 7" descr=""/>
            <p:cNvPicPr/>
            <p:nvPr/>
          </p:nvPicPr>
          <p:blipFill>
            <a:blip r:embed="rId3"/>
            <a:stretch/>
          </p:blipFill>
          <p:spPr>
            <a:xfrm>
              <a:off x="914400" y="3324960"/>
              <a:ext cx="2277360" cy="30740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363" name="Picture 43" descr=""/>
          <p:cNvPicPr/>
          <p:nvPr/>
        </p:nvPicPr>
        <p:blipFill>
          <a:blip r:embed="rId4"/>
          <a:srcRect l="0" t="6125" r="0" b="0"/>
          <a:stretch/>
        </p:blipFill>
        <p:spPr>
          <a:xfrm>
            <a:off x="2743200" y="1022400"/>
            <a:ext cx="8227800" cy="540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" descr=""/>
          <p:cNvPicPr/>
          <p:nvPr/>
        </p:nvPicPr>
        <p:blipFill>
          <a:blip r:embed="rId5"/>
          <a:stretch/>
        </p:blipFill>
        <p:spPr>
          <a:xfrm>
            <a:off x="231120" y="6389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>
            <a:off x="6118920" y="3496680"/>
            <a:ext cx="5103720" cy="143532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6" name="Picture 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657360" y="104400"/>
            <a:ext cx="10898280" cy="60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Personal Goal: No cell left behind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Picture 4" descr=""/>
          <p:cNvPicPr/>
          <p:nvPr/>
        </p:nvPicPr>
        <p:blipFill>
          <a:blip r:embed="rId2"/>
          <a:stretch/>
        </p:blipFill>
        <p:spPr>
          <a:xfrm>
            <a:off x="1311840" y="792360"/>
            <a:ext cx="4108680" cy="548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Box 6"/>
          <p:cNvSpPr/>
          <p:nvPr/>
        </p:nvSpPr>
        <p:spPr>
          <a:xfrm>
            <a:off x="6095880" y="1191240"/>
            <a:ext cx="504468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Repeated 3 AM thoughts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What makes spectral flow cytometry data amazing is both the depth and the breadth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6118920" y="3223800"/>
            <a:ext cx="504468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How to fully profile the entirety of the acquired dataset, not just a single cell population of interest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6095880" y="1847880"/>
            <a:ext cx="5103720" cy="143532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2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Picture 3" descr=""/>
          <p:cNvPicPr/>
          <p:nvPr/>
        </p:nvPicPr>
        <p:blipFill>
          <a:blip r:embed="rId1"/>
          <a:stretch/>
        </p:blipFill>
        <p:spPr>
          <a:xfrm>
            <a:off x="1633320" y="1017360"/>
            <a:ext cx="5832720" cy="46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"/>
          <p:cNvSpPr/>
          <p:nvPr/>
        </p:nvSpPr>
        <p:spPr>
          <a:xfrm>
            <a:off x="7503480" y="1130400"/>
            <a:ext cx="4381920" cy="45540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5" name=""/>
          <p:cNvSpPr/>
          <p:nvPr/>
        </p:nvSpPr>
        <p:spPr>
          <a:xfrm>
            <a:off x="7507800" y="1780200"/>
            <a:ext cx="4377600" cy="78408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7543800" y="2639160"/>
            <a:ext cx="4341600" cy="784080"/>
          </a:xfrm>
          <a:prstGeom prst="rect">
            <a:avLst/>
          </a:prstGeom>
          <a:solidFill>
            <a:srgbClr val="e8a202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7543800" y="3573000"/>
            <a:ext cx="4341600" cy="1141200"/>
          </a:xfrm>
          <a:prstGeom prst="rect">
            <a:avLst/>
          </a:prstGeom>
          <a:solidFill>
            <a:srgbClr val="a7074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7543800" y="4860000"/>
            <a:ext cx="4341600" cy="76860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Previously looked at unconventional T cells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5"/>
          <p:cNvSpPr/>
          <p:nvPr/>
        </p:nvSpPr>
        <p:spPr>
          <a:xfrm>
            <a:off x="7457760" y="1780200"/>
            <a:ext cx="4463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MT Extra" charset="2"/>
              <a:buChar char="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Shifting from 50%-50% FlowJo – R to increasingly more 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8960" y="2425680"/>
            <a:ext cx="1517040" cy="15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Box 9"/>
          <p:cNvSpPr/>
          <p:nvPr/>
        </p:nvSpPr>
        <p:spPr>
          <a:xfrm>
            <a:off x="241920" y="4029840"/>
            <a:ext cx="127656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Paper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Picture 10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TextBox 16"/>
          <p:cNvSpPr/>
          <p:nvPr/>
        </p:nvSpPr>
        <p:spPr>
          <a:xfrm>
            <a:off x="7457760" y="3162600"/>
            <a:ext cx="44636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Building around reproducibility from the start (not as an after thought)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7"/>
          <p:cNvSpPr/>
          <p:nvPr/>
        </p:nvSpPr>
        <p:spPr>
          <a:xfrm>
            <a:off x="7484400" y="4847400"/>
            <a:ext cx="470592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MT Extra" charset="2"/>
              <a:buChar char="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Improved Bioconductor interoperability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18"/>
          <p:cNvSpPr/>
          <p:nvPr/>
        </p:nvSpPr>
        <p:spPr>
          <a:xfrm>
            <a:off x="7474680" y="1096920"/>
            <a:ext cx="4463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Main differences this time around: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20"/>
          <p:cNvSpPr/>
          <p:nvPr/>
        </p:nvSpPr>
        <p:spPr>
          <a:xfrm>
            <a:off x="7457760" y="2237400"/>
            <a:ext cx="44636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Targeted re-writes in Rust to speed up original R code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8240" cy="6339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Semi-supervised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Picture 19" descr=""/>
          <p:cNvPicPr/>
          <p:nvPr/>
        </p:nvPicPr>
        <p:blipFill>
          <a:blip r:embed="rId1"/>
          <a:stretch/>
        </p:blipFill>
        <p:spPr>
          <a:xfrm>
            <a:off x="2061000" y="491400"/>
            <a:ext cx="8264520" cy="57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1" name="Picture 4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2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ectangle 1"/>
          <p:cNvSpPr/>
          <p:nvPr/>
        </p:nvSpPr>
        <p:spPr>
          <a:xfrm>
            <a:off x="2548800" y="697320"/>
            <a:ext cx="5118480" cy="546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4" name="Rectangle 22"/>
          <p:cNvSpPr/>
          <p:nvPr/>
        </p:nvSpPr>
        <p:spPr>
          <a:xfrm>
            <a:off x="2668680" y="1095120"/>
            <a:ext cx="4559040" cy="319824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Acquisition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6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296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Rectangle 50"/>
          <p:cNvSpPr/>
          <p:nvPr/>
        </p:nvSpPr>
        <p:spPr>
          <a:xfrm>
            <a:off x="2645280" y="1318320"/>
            <a:ext cx="46144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Acquired day of staining on a 5-Laser Cytek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flushed with 10% Contrad and Water for 20 minutes pre-use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passed by both the UMGCCC FCSR and Cytek’s QC criteria immediately before acquisition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3"/>
          <p:cNvSpPr/>
          <p:nvPr/>
        </p:nvSpPr>
        <p:spPr>
          <a:xfrm>
            <a:off x="7428600" y="2621880"/>
            <a:ext cx="24998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UMGCCC FCSR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InstrumentQC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1"/>
          <p:cNvSpPr/>
          <p:nvPr/>
        </p:nvSpPr>
        <p:spPr>
          <a:xfrm>
            <a:off x="9473760" y="2621880"/>
            <a:ext cx="2499840" cy="101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Plots for our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5L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2"/>
          <p:cNvSpPr/>
          <p:nvPr/>
        </p:nvSpPr>
        <p:spPr>
          <a:xfrm>
            <a:off x="9487800" y="5092200"/>
            <a:ext cx="249984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How-To-Set-Up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3"/>
          <p:cNvSpPr/>
          <p:nvPr/>
        </p:nvSpPr>
        <p:spPr>
          <a:xfrm>
            <a:off x="7524360" y="5085000"/>
            <a:ext cx="249984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Historical Data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5L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Graphic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37720" y="3212280"/>
            <a:ext cx="1846440" cy="18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Graphic 1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05120" y="858600"/>
            <a:ext cx="1823400" cy="182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Graphic 1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30080" y="851760"/>
            <a:ext cx="1836000" cy="183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Graphic 2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15560" y="3288240"/>
            <a:ext cx="1845360" cy="18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Arrow: Down 23"/>
          <p:cNvSpPr/>
          <p:nvPr/>
        </p:nvSpPr>
        <p:spPr>
          <a:xfrm rot="16200000">
            <a:off x="207000" y="98568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07" name="Picture 24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5787000" y="3558600"/>
            <a:ext cx="4727160" cy="784080"/>
          </a:xfrm>
          <a:prstGeom prst="rect">
            <a:avLst/>
          </a:prstGeom>
          <a:solidFill>
            <a:srgbClr val="ffbf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1640" cy="695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Daily Processing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Picture 64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7760" cy="53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2" name="Picture 65" descr=""/>
          <p:cNvPicPr/>
          <p:nvPr/>
        </p:nvPicPr>
        <p:blipFill>
          <a:blip r:embed="rId2"/>
          <a:stretch/>
        </p:blipFill>
        <p:spPr>
          <a:xfrm>
            <a:off x="1010520" y="952920"/>
            <a:ext cx="4527000" cy="476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Rectangle 66"/>
          <p:cNvSpPr/>
          <p:nvPr/>
        </p:nvSpPr>
        <p:spPr>
          <a:xfrm>
            <a:off x="5730480" y="2142360"/>
            <a:ext cx="54694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Behind-the-scenes: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Using R (and increasingly Rust) to process the .fcs files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67"/>
          <p:cNvSpPr/>
          <p:nvPr/>
        </p:nvSpPr>
        <p:spPr>
          <a:xfrm>
            <a:off x="5751000" y="4163760"/>
            <a:ext cx="4991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Quarto Website gets updated twice daily via a GitHub action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68"/>
          <p:cNvSpPr/>
          <p:nvPr/>
        </p:nvSpPr>
        <p:spPr>
          <a:xfrm>
            <a:off x="5751000" y="3177360"/>
            <a:ext cx="54694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transfer to GitHub via Windows Task Scheduler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5787000" y="4601880"/>
            <a:ext cx="4727160" cy="784080"/>
          </a:xfrm>
          <a:prstGeom prst="rect">
            <a:avLst/>
          </a:prstGeom>
          <a:solidFill>
            <a:srgbClr val="e0c2cd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5751000" y="2572200"/>
            <a:ext cx="4763160" cy="784080"/>
          </a:xfrm>
          <a:prstGeom prst="rect">
            <a:avLst/>
          </a:prstGeom>
          <a:solidFill>
            <a:srgbClr val="dee6e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8" name="Picture 71" descr=""/>
          <p:cNvPicPr/>
          <p:nvPr/>
        </p:nvPicPr>
        <p:blipFill>
          <a:blip r:embed="rId3"/>
          <a:stretch/>
        </p:blipFill>
        <p:spPr>
          <a:xfrm>
            <a:off x="9108000" y="812520"/>
            <a:ext cx="1367280" cy="158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1640" cy="695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0" name="Picture 66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7760" cy="53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Picture 67" descr=""/>
          <p:cNvPicPr/>
          <p:nvPr/>
        </p:nvPicPr>
        <p:blipFill>
          <a:blip r:embed="rId2"/>
          <a:stretch/>
        </p:blipFill>
        <p:spPr>
          <a:xfrm>
            <a:off x="2069640" y="1093320"/>
            <a:ext cx="9748080" cy="444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15640" y="1154520"/>
            <a:ext cx="1645920" cy="168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-148680" y="2971800"/>
            <a:ext cx="1952640" cy="501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/>
          </p:nvPr>
        </p:nvSpPr>
        <p:spPr>
          <a:xfrm>
            <a:off x="-148680" y="5227200"/>
            <a:ext cx="1952640" cy="501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How-To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5" name="Picture 68" descr=""/>
          <p:cNvPicPr/>
          <p:nvPr/>
        </p:nvPicPr>
        <p:blipFill>
          <a:blip r:embed="rId5"/>
          <a:srcRect l="3481" t="5989" r="0" b="0"/>
          <a:stretch/>
        </p:blipFill>
        <p:spPr>
          <a:xfrm>
            <a:off x="274320" y="3545280"/>
            <a:ext cx="1663560" cy="159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1640" cy="695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Picture 69" descr=""/>
          <p:cNvPicPr/>
          <p:nvPr/>
        </p:nvPicPr>
        <p:blipFill>
          <a:blip r:embed="rId1"/>
          <a:stretch/>
        </p:blipFill>
        <p:spPr>
          <a:xfrm>
            <a:off x="10058760" y="6153840"/>
            <a:ext cx="1517760" cy="53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8" name="Picture 70" descr=""/>
          <p:cNvPicPr/>
          <p:nvPr/>
        </p:nvPicPr>
        <p:blipFill>
          <a:blip r:embed="rId2"/>
          <a:stretch/>
        </p:blipFill>
        <p:spPr>
          <a:xfrm>
            <a:off x="582120" y="726480"/>
            <a:ext cx="11026080" cy="517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Evaluating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0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296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Rectangle 1"/>
          <p:cNvSpPr/>
          <p:nvPr/>
        </p:nvSpPr>
        <p:spPr>
          <a:xfrm>
            <a:off x="2548800" y="697320"/>
            <a:ext cx="5118480" cy="5461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2" name="TextBox 3"/>
          <p:cNvSpPr/>
          <p:nvPr/>
        </p:nvSpPr>
        <p:spPr>
          <a:xfrm>
            <a:off x="7609680" y="426312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4"/>
          <p:cNvSpPr/>
          <p:nvPr/>
        </p:nvSpPr>
        <p:spPr>
          <a:xfrm>
            <a:off x="9716400" y="426708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40880" y="2308680"/>
            <a:ext cx="1867680" cy="186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Graphic 10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41840" y="2368440"/>
            <a:ext cx="1829160" cy="182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Rectangle 5"/>
          <p:cNvSpPr/>
          <p:nvPr/>
        </p:nvSpPr>
        <p:spPr>
          <a:xfrm>
            <a:off x="2658240" y="818640"/>
            <a:ext cx="4654800" cy="48142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7" name="Rectangle 6"/>
          <p:cNvSpPr/>
          <p:nvPr/>
        </p:nvSpPr>
        <p:spPr>
          <a:xfrm>
            <a:off x="2700720" y="1041840"/>
            <a:ext cx="4506120" cy="447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New unmixing controls acquired with each experiment.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Extra specimen cells acquired as additional unstained controls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Controls are screened for suitability for unmixing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Single-colors: Tandem degradation, and autofluorescence contamination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Unstained(s): Presence of multiple-autofluorescences in lymphocyte gate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Flagged unmixing controls are replaced with equivalents from adjacent experimental date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Arrow: Down 7"/>
          <p:cNvSpPr/>
          <p:nvPr/>
        </p:nvSpPr>
        <p:spPr>
          <a:xfrm rot="16200000">
            <a:off x="217800" y="204876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39" name="Picture 9" descr=""/>
          <p:cNvPicPr/>
          <p:nvPr/>
        </p:nvPicPr>
        <p:blipFill>
          <a:blip r:embed="rId6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" descr=""/>
          <p:cNvPicPr/>
          <p:nvPr/>
        </p:nvPicPr>
        <p:blipFill>
          <a:blip r:embed="rId7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4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2721960" y="0"/>
            <a:ext cx="6515280" cy="639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0" y="-6192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Luciernaga: Individual Cell Normalized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3" name="Picture 5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0" y="286920"/>
            <a:ext cx="2546640" cy="267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Box 6"/>
          <p:cNvSpPr/>
          <p:nvPr/>
        </p:nvSpPr>
        <p:spPr>
          <a:xfrm>
            <a:off x="127440" y="551016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5" name="Graphic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6920" y="3807720"/>
            <a:ext cx="1623240" cy="162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Picture 9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" descr=""/>
          <p:cNvPicPr/>
          <p:nvPr/>
        </p:nvPicPr>
        <p:blipFill>
          <a:blip r:embed="rId6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0" y="-6192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tools for screening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9" name="Picture 6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"/>
          <p:cNvSpPr/>
          <p:nvPr/>
        </p:nvSpPr>
        <p:spPr>
          <a:xfrm>
            <a:off x="6487920" y="2309040"/>
            <a:ext cx="4542840" cy="201564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3"/>
          <a:srcRect l="0" t="0" r="15005" b="0"/>
          <a:stretch/>
        </p:blipFill>
        <p:spPr>
          <a:xfrm>
            <a:off x="7459200" y="2365560"/>
            <a:ext cx="2773800" cy="15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"/>
          <p:cNvSpPr/>
          <p:nvPr/>
        </p:nvSpPr>
        <p:spPr>
          <a:xfrm>
            <a:off x="6993360" y="3948840"/>
            <a:ext cx="353232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Autofluorescence Isolation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928440" y="3677040"/>
            <a:ext cx="5048280" cy="201564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4"/>
          <a:srcRect l="36749" t="50780" r="-263" b="0"/>
          <a:stretch/>
        </p:blipFill>
        <p:spPr>
          <a:xfrm>
            <a:off x="1061640" y="3804120"/>
            <a:ext cx="479556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"/>
          <p:cNvSpPr/>
          <p:nvPr/>
        </p:nvSpPr>
        <p:spPr>
          <a:xfrm>
            <a:off x="1686600" y="5356800"/>
            <a:ext cx="353196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Autofluorescence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914400" y="1143000"/>
            <a:ext cx="5062320" cy="227520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458" name=""/>
          <p:cNvGrpSpPr/>
          <p:nvPr/>
        </p:nvGrpSpPr>
        <p:grpSpPr>
          <a:xfrm>
            <a:off x="1686600" y="1233360"/>
            <a:ext cx="3944160" cy="1781640"/>
            <a:chOff x="1686600" y="1233360"/>
            <a:chExt cx="3944160" cy="1781640"/>
          </a:xfrm>
        </p:grpSpPr>
        <p:sp>
          <p:nvSpPr>
            <p:cNvPr id="459" name="Arrow: Right 2"/>
            <p:cNvSpPr/>
            <p:nvPr/>
          </p:nvSpPr>
          <p:spPr>
            <a:xfrm rot="10800000">
              <a:off x="4871160" y="1357200"/>
              <a:ext cx="415800" cy="2192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  <p:sp>
          <p:nvSpPr>
            <p:cNvPr id="460" name="TextBox 4"/>
            <p:cNvSpPr/>
            <p:nvPr/>
          </p:nvSpPr>
          <p:spPr>
            <a:xfrm>
              <a:off x="4759200" y="1505520"/>
              <a:ext cx="87156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APC-Fire 810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61" name="Picture 4" descr="A graph of a number of data&#10;&#10;AI-generated content may be incorrect."/>
            <p:cNvPicPr/>
            <p:nvPr/>
          </p:nvPicPr>
          <p:blipFill>
            <a:blip r:embed="rId5"/>
            <a:stretch/>
          </p:blipFill>
          <p:spPr>
            <a:xfrm>
              <a:off x="1686600" y="1233360"/>
              <a:ext cx="3172680" cy="1781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62" name="TextBox 3"/>
            <p:cNvSpPr/>
            <p:nvPr/>
          </p:nvSpPr>
          <p:spPr>
            <a:xfrm>
              <a:off x="3405960" y="1486440"/>
              <a:ext cx="625680" cy="31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Arrow: Right 1"/>
            <p:cNvSpPr/>
            <p:nvPr/>
          </p:nvSpPr>
          <p:spPr>
            <a:xfrm>
              <a:off x="4076640" y="1538280"/>
              <a:ext cx="217800" cy="218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64" name=""/>
          <p:cNvSpPr/>
          <p:nvPr/>
        </p:nvSpPr>
        <p:spPr>
          <a:xfrm>
            <a:off x="1939320" y="3028680"/>
            <a:ext cx="277344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Tandem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>
            <a:off x="516600" y="3854880"/>
            <a:ext cx="6169320" cy="71604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6" name=""/>
          <p:cNvSpPr/>
          <p:nvPr/>
        </p:nvSpPr>
        <p:spPr>
          <a:xfrm>
            <a:off x="509400" y="2660400"/>
            <a:ext cx="6176520" cy="1021320"/>
          </a:xfrm>
          <a:prstGeom prst="rect">
            <a:avLst/>
          </a:prstGeom>
          <a:solidFill>
            <a:srgbClr val="ff6d6d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67" name="" descr=""/>
          <p:cNvPicPr/>
          <p:nvPr/>
        </p:nvPicPr>
        <p:blipFill>
          <a:blip r:embed="rId1"/>
          <a:stretch/>
        </p:blipFill>
        <p:spPr>
          <a:xfrm>
            <a:off x="7110000" y="1483920"/>
            <a:ext cx="4645080" cy="296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"/>
          <p:cNvSpPr/>
          <p:nvPr/>
        </p:nvSpPr>
        <p:spPr>
          <a:xfrm>
            <a:off x="277200" y="961920"/>
            <a:ext cx="558864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9" name=""/>
          <p:cNvSpPr/>
          <p:nvPr/>
        </p:nvSpPr>
        <p:spPr>
          <a:xfrm>
            <a:off x="468000" y="2588400"/>
            <a:ext cx="64339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the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 degrades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noticeable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 in variant signatures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making up substantial proportion of all cells in the unmixing control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480600" y="3813840"/>
            <a:ext cx="6397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screening all acquired unmixing controls from campus users during off-hours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0" y="47520"/>
            <a:ext cx="12341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degrading fluorophores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2" name="Picture 74" descr=""/>
          <p:cNvPicPr/>
          <p:nvPr/>
        </p:nvPicPr>
        <p:blipFill>
          <a:blip r:embed="rId2"/>
          <a:stretch/>
        </p:blipFill>
        <p:spPr>
          <a:xfrm>
            <a:off x="10436040" y="617256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" descr=""/>
          <p:cNvPicPr/>
          <p:nvPr/>
        </p:nvPicPr>
        <p:blipFill>
          <a:blip r:embed="rId3"/>
          <a:stretch/>
        </p:blipFill>
        <p:spPr>
          <a:xfrm>
            <a:off x="457920" y="617292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"/>
          <p:cNvSpPr/>
          <p:nvPr/>
        </p:nvSpPr>
        <p:spPr>
          <a:xfrm>
            <a:off x="516600" y="1444320"/>
            <a:ext cx="6168600" cy="1058040"/>
          </a:xfrm>
          <a:prstGeom prst="rect">
            <a:avLst/>
          </a:prstGeom>
          <a:solidFill>
            <a:srgbClr val="00a933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5" name=""/>
          <p:cNvSpPr/>
          <p:nvPr/>
        </p:nvSpPr>
        <p:spPr>
          <a:xfrm>
            <a:off x="473400" y="1408320"/>
            <a:ext cx="61765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Fluorophores in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good shape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predominant normalized signature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within the unmixing control raw .fcs file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"/>
          <p:cNvSpPr/>
          <p:nvPr/>
        </p:nvSpPr>
        <p:spPr>
          <a:xfrm>
            <a:off x="5257800" y="2861640"/>
            <a:ext cx="5940000" cy="986400"/>
          </a:xfrm>
          <a:prstGeom prst="rect">
            <a:avLst/>
          </a:prstGeom>
          <a:solidFill>
            <a:srgbClr val="ff3838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7" name=""/>
          <p:cNvSpPr/>
          <p:nvPr/>
        </p:nvSpPr>
        <p:spPr>
          <a:xfrm>
            <a:off x="5255280" y="4057920"/>
            <a:ext cx="5952600" cy="109008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8" name=""/>
          <p:cNvSpPr/>
          <p:nvPr/>
        </p:nvSpPr>
        <p:spPr>
          <a:xfrm>
            <a:off x="5258520" y="1494720"/>
            <a:ext cx="5940000" cy="113760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9" name="" descr=""/>
          <p:cNvPicPr/>
          <p:nvPr/>
        </p:nvPicPr>
        <p:blipFill>
          <a:blip r:embed="rId1"/>
          <a:stretch/>
        </p:blipFill>
        <p:spPr>
          <a:xfrm>
            <a:off x="2476440" y="3654720"/>
            <a:ext cx="2253600" cy="201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" descr=""/>
          <p:cNvPicPr/>
          <p:nvPr/>
        </p:nvPicPr>
        <p:blipFill>
          <a:blip r:embed="rId2"/>
          <a:stretch/>
        </p:blipFill>
        <p:spPr>
          <a:xfrm>
            <a:off x="318600" y="3675240"/>
            <a:ext cx="2049120" cy="19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"/>
          <p:cNvSpPr/>
          <p:nvPr/>
        </p:nvSpPr>
        <p:spPr>
          <a:xfrm>
            <a:off x="5259240" y="1539000"/>
            <a:ext cx="61678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approach also works to isolate variant autofluorescence signatures from unstained controls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5221800" y="3987360"/>
            <a:ext cx="59500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Return directly as an .fcs file containing just cells with same signature for use as an autofluorescent tag in SpectroFlo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5257800" y="2791080"/>
            <a:ext cx="5940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Unlike other approaches, the isolated cells share normalized signatures, only differing in terms of brightness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46800"/>
            <a:ext cx="1218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Isolating additional autofluorescence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5" name="Picture 75" descr=""/>
          <p:cNvPicPr/>
          <p:nvPr/>
        </p:nvPicPr>
        <p:blipFill>
          <a:blip r:embed="rId3"/>
          <a:stretch/>
        </p:blipFill>
        <p:spPr>
          <a:xfrm>
            <a:off x="10436040" y="617256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" descr=""/>
          <p:cNvPicPr/>
          <p:nvPr/>
        </p:nvPicPr>
        <p:blipFill>
          <a:blip r:embed="rId4"/>
          <a:stretch/>
        </p:blipFill>
        <p:spPr>
          <a:xfrm>
            <a:off x="457920" y="617292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7" name="" descr=""/>
          <p:cNvPicPr/>
          <p:nvPr/>
        </p:nvPicPr>
        <p:blipFill>
          <a:blip r:embed="rId5"/>
          <a:stretch/>
        </p:blipFill>
        <p:spPr>
          <a:xfrm>
            <a:off x="409320" y="914400"/>
            <a:ext cx="4249800" cy="263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"/>
          <p:cNvSpPr/>
          <p:nvPr/>
        </p:nvSpPr>
        <p:spPr>
          <a:xfrm>
            <a:off x="217800" y="2178000"/>
            <a:ext cx="4352400" cy="1728360"/>
          </a:xfrm>
          <a:prstGeom prst="rect">
            <a:avLst/>
          </a:prstGeom>
          <a:solidFill>
            <a:srgbClr val="afd09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9" name=""/>
          <p:cNvSpPr/>
          <p:nvPr/>
        </p:nvSpPr>
        <p:spPr>
          <a:xfrm>
            <a:off x="251280" y="4057920"/>
            <a:ext cx="4318920" cy="165528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0" name=""/>
          <p:cNvSpPr/>
          <p:nvPr/>
        </p:nvSpPr>
        <p:spPr>
          <a:xfrm>
            <a:off x="228600" y="1494720"/>
            <a:ext cx="4315680" cy="56088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1" name=""/>
          <p:cNvSpPr/>
          <p:nvPr/>
        </p:nvSpPr>
        <p:spPr>
          <a:xfrm>
            <a:off x="255240" y="1539000"/>
            <a:ext cx="43149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“As bright or brighter”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217800" y="3987360"/>
            <a:ext cx="435240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and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switching these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dim cell single-color controls to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bead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significantly improved unmixing for our panels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181800" y="2142000"/>
            <a:ext cx="438840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Dim antigen-fluorophore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combinations acquired as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often have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contribution to their signature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46800"/>
            <a:ext cx="1218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 in dim cell single-color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5" name="" descr=""/>
          <p:cNvPicPr/>
          <p:nvPr/>
        </p:nvPicPr>
        <p:blipFill>
          <a:blip r:embed="rId1"/>
          <a:stretch/>
        </p:blipFill>
        <p:spPr>
          <a:xfrm>
            <a:off x="457920" y="617292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6" name=""/>
          <p:cNvGrpSpPr/>
          <p:nvPr/>
        </p:nvGrpSpPr>
        <p:grpSpPr>
          <a:xfrm>
            <a:off x="4800600" y="1092600"/>
            <a:ext cx="6627600" cy="2106000"/>
            <a:chOff x="4800600" y="1092600"/>
            <a:chExt cx="6627600" cy="2106000"/>
          </a:xfrm>
        </p:grpSpPr>
        <p:pic>
          <p:nvPicPr>
            <p:cNvPr id="497" name="" descr=""/>
            <p:cNvPicPr/>
            <p:nvPr/>
          </p:nvPicPr>
          <p:blipFill>
            <a:blip r:embed="rId2"/>
            <a:srcRect l="0" t="47914" r="29412" b="0"/>
            <a:stretch/>
          </p:blipFill>
          <p:spPr>
            <a:xfrm>
              <a:off x="4800600" y="1100160"/>
              <a:ext cx="6627600" cy="2098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8" name=""/>
            <p:cNvSpPr/>
            <p:nvPr/>
          </p:nvSpPr>
          <p:spPr>
            <a:xfrm>
              <a:off x="5064120" y="1103040"/>
              <a:ext cx="3309840" cy="19188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9" name=""/>
            <p:cNvSpPr/>
            <p:nvPr/>
          </p:nvSpPr>
          <p:spPr>
            <a:xfrm>
              <a:off x="8028000" y="1092600"/>
              <a:ext cx="3309840" cy="1915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500" name="Picture 87" descr="A group of images of a square&#10;&#10;AI-generated content may be incorrect."/>
          <p:cNvPicPr/>
          <p:nvPr/>
        </p:nvPicPr>
        <p:blipFill>
          <a:blip r:embed="rId3"/>
          <a:srcRect l="0" t="67019" r="0" b="0"/>
          <a:stretch/>
        </p:blipFill>
        <p:spPr>
          <a:xfrm>
            <a:off x="5029200" y="3373200"/>
            <a:ext cx="6062400" cy="256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TextBox 21"/>
          <p:cNvSpPr/>
          <p:nvPr/>
        </p:nvSpPr>
        <p:spPr>
          <a:xfrm>
            <a:off x="5221800" y="5943600"/>
            <a:ext cx="3198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22"/>
          <p:cNvSpPr/>
          <p:nvPr/>
        </p:nvSpPr>
        <p:spPr>
          <a:xfrm>
            <a:off x="8001000" y="5991120"/>
            <a:ext cx="3198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without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 rot="7421400">
            <a:off x="9690480" y="1180440"/>
            <a:ext cx="455400" cy="455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6d6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Unmixing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5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296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Rectangle 1"/>
          <p:cNvSpPr/>
          <p:nvPr/>
        </p:nvSpPr>
        <p:spPr>
          <a:xfrm>
            <a:off x="2548800" y="697320"/>
            <a:ext cx="5118480" cy="5461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7" name="TextBox 5"/>
          <p:cNvSpPr/>
          <p:nvPr/>
        </p:nvSpPr>
        <p:spPr>
          <a:xfrm>
            <a:off x="7609680" y="304056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TRU-OLS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8"/>
          <p:cNvSpPr/>
          <p:nvPr/>
        </p:nvSpPr>
        <p:spPr>
          <a:xfrm>
            <a:off x="9716400" y="304416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TRU-OLS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11"/>
          <p:cNvSpPr/>
          <p:nvPr/>
        </p:nvSpPr>
        <p:spPr>
          <a:xfrm>
            <a:off x="7682040" y="560448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AutoSpectral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4"/>
          <p:cNvSpPr/>
          <p:nvPr/>
        </p:nvSpPr>
        <p:spPr>
          <a:xfrm>
            <a:off x="9773640" y="554724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AutoSpectral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Walk-through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1" name="Graphic 1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73360" y="3657600"/>
            <a:ext cx="184572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Graphic 18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04960" y="1074600"/>
            <a:ext cx="1860840" cy="186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3" name="Graphic 22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035720" y="1074600"/>
            <a:ext cx="1876320" cy="187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4" name="Graphic 2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73520" y="3634920"/>
            <a:ext cx="1849680" cy="184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Arrow: Down 25"/>
          <p:cNvSpPr/>
          <p:nvPr/>
        </p:nvSpPr>
        <p:spPr>
          <a:xfrm rot="16200000">
            <a:off x="185760" y="309096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6" name="Rectangle 26"/>
          <p:cNvSpPr/>
          <p:nvPr/>
        </p:nvSpPr>
        <p:spPr>
          <a:xfrm>
            <a:off x="2689920" y="1850040"/>
            <a:ext cx="4654800" cy="31024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7" name="Rectangle 27"/>
          <p:cNvSpPr/>
          <p:nvPr/>
        </p:nvSpPr>
        <p:spPr>
          <a:xfrm>
            <a:off x="2743200" y="2020320"/>
            <a:ext cx="4506120" cy="28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Method Agnostic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in SpectroFlo (with modified single-color and unstained inputs via Luciernaga)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in 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OLS (Luciernaga using Rust)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TRU-OLS (via Julia wrapper)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AutoSpectral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8" name="Picture 28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raphic 1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323720" y="2697480"/>
            <a:ext cx="1474560" cy="14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File Checks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2" name="Picture 2" descr=""/>
          <p:cNvPicPr/>
          <p:nvPr/>
        </p:nvPicPr>
        <p:blipFill>
          <a:blip r:embed="rId3"/>
          <a:srcRect l="0" t="0" r="68257" b="0"/>
          <a:stretch/>
        </p:blipFill>
        <p:spPr>
          <a:xfrm>
            <a:off x="-99000" y="491400"/>
            <a:ext cx="262296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Rectangle 1"/>
          <p:cNvSpPr/>
          <p:nvPr/>
        </p:nvSpPr>
        <p:spPr>
          <a:xfrm>
            <a:off x="2548800" y="697320"/>
            <a:ext cx="5118480" cy="5461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4" name="TextBox 5"/>
          <p:cNvSpPr/>
          <p:nvPr/>
        </p:nvSpPr>
        <p:spPr>
          <a:xfrm>
            <a:off x="7930800" y="2229120"/>
            <a:ext cx="16912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8"/>
          <p:cNvSpPr/>
          <p:nvPr/>
        </p:nvSpPr>
        <p:spPr>
          <a:xfrm>
            <a:off x="9994320" y="1983600"/>
            <a:ext cx="169128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 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11"/>
          <p:cNvSpPr/>
          <p:nvPr/>
        </p:nvSpPr>
        <p:spPr>
          <a:xfrm>
            <a:off x="8019000" y="4299480"/>
            <a:ext cx="16912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FlowAI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14"/>
          <p:cNvSpPr/>
          <p:nvPr/>
        </p:nvSpPr>
        <p:spPr>
          <a:xfrm>
            <a:off x="10008000" y="4339440"/>
            <a:ext cx="169128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FlowAI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8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13400" y="571320"/>
            <a:ext cx="1511280" cy="151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9" name="Graphic 7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321560" y="564480"/>
            <a:ext cx="1483560" cy="148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Graphic 10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241120" y="2695320"/>
            <a:ext cx="1465200" cy="146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1" name="Graphic 17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296920" y="4601160"/>
            <a:ext cx="1474560" cy="14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TextBox 19"/>
          <p:cNvSpPr/>
          <p:nvPr/>
        </p:nvSpPr>
        <p:spPr>
          <a:xfrm>
            <a:off x="7994880" y="5928480"/>
            <a:ext cx="169128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 in Rust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Arrow: Down 20"/>
          <p:cNvSpPr/>
          <p:nvPr/>
        </p:nvSpPr>
        <p:spPr>
          <a:xfrm rot="16200000">
            <a:off x="175320" y="424980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4" name="Rectangle 21"/>
          <p:cNvSpPr/>
          <p:nvPr/>
        </p:nvSpPr>
        <p:spPr>
          <a:xfrm>
            <a:off x="2775240" y="3987360"/>
            <a:ext cx="4654800" cy="17946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5" name="Rectangle 23"/>
          <p:cNvSpPr/>
          <p:nvPr/>
        </p:nvSpPr>
        <p:spPr>
          <a:xfrm>
            <a:off x="2828160" y="3880800"/>
            <a:ext cx="4506120" cy="17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Checking for fluidic or laser-related issues in the unmixed files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R: PeacoQC or FlowAI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Rust: PeacoQC (thanks James!)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6" name="Picture 25" descr=""/>
          <p:cNvPicPr/>
          <p:nvPr/>
        </p:nvPicPr>
        <p:blipFill>
          <a:blip r:embed="rId1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7" name="" descr=""/>
          <p:cNvPicPr/>
          <p:nvPr/>
        </p:nvPicPr>
        <p:blipFill>
          <a:blip r:embed="rId1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Manual and Automated Gating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Picture 2" descr=""/>
          <p:cNvPicPr/>
          <p:nvPr/>
        </p:nvPicPr>
        <p:blipFill>
          <a:blip r:embed="rId1"/>
          <a:srcRect l="0" t="0" r="48220" b="0"/>
          <a:stretch/>
        </p:blipFill>
        <p:spPr>
          <a:xfrm>
            <a:off x="-99000" y="491400"/>
            <a:ext cx="428040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Rectangle 1"/>
          <p:cNvSpPr/>
          <p:nvPr/>
        </p:nvSpPr>
        <p:spPr>
          <a:xfrm>
            <a:off x="4103280" y="697320"/>
            <a:ext cx="3564000" cy="5461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1" name="TextBox 3"/>
          <p:cNvSpPr/>
          <p:nvPr/>
        </p:nvSpPr>
        <p:spPr>
          <a:xfrm>
            <a:off x="7826760" y="209160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flowGate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4"/>
          <p:cNvSpPr/>
          <p:nvPr/>
        </p:nvSpPr>
        <p:spPr>
          <a:xfrm>
            <a:off x="9785160" y="208404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flowGate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5"/>
          <p:cNvSpPr/>
          <p:nvPr/>
        </p:nvSpPr>
        <p:spPr>
          <a:xfrm>
            <a:off x="7841880" y="403848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openCyto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6"/>
          <p:cNvSpPr/>
          <p:nvPr/>
        </p:nvSpPr>
        <p:spPr>
          <a:xfrm>
            <a:off x="9727920" y="403848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openCyto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Walk-through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7"/>
          <p:cNvSpPr/>
          <p:nvPr/>
        </p:nvSpPr>
        <p:spPr>
          <a:xfrm>
            <a:off x="7868520" y="593964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flowMagic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8"/>
          <p:cNvSpPr/>
          <p:nvPr/>
        </p:nvSpPr>
        <p:spPr>
          <a:xfrm>
            <a:off x="9697320" y="5761440"/>
            <a:ext cx="210384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flowMagic Manual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7" name="Graphic 1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16440" y="617400"/>
            <a:ext cx="1392480" cy="139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Graphic 1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276560" y="626040"/>
            <a:ext cx="1383480" cy="138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9" name="Graphic 1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402040" y="2558880"/>
            <a:ext cx="1395360" cy="139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Graphic 16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303920" y="2520000"/>
            <a:ext cx="1447920" cy="144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1" name="Graphic 18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427600" y="4415400"/>
            <a:ext cx="1404000" cy="140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2" name="Graphic 22" descr="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0285560" y="4452480"/>
            <a:ext cx="1374840" cy="13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Rectangle 23"/>
          <p:cNvSpPr/>
          <p:nvPr/>
        </p:nvSpPr>
        <p:spPr>
          <a:xfrm>
            <a:off x="4231800" y="2860200"/>
            <a:ext cx="3240720" cy="319824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4" name="Rectangle 24"/>
          <p:cNvSpPr/>
          <p:nvPr/>
        </p:nvSpPr>
        <p:spPr>
          <a:xfrm>
            <a:off x="4165920" y="2926080"/>
            <a:ext cx="3391920" cy="31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Doublets, Debris, Dead cell cleanup (in R or FlowJo)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Gating for major cell subsets (openCyto or flowMagic)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automated gate placements visualized via export to a 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Arrow: Down 25"/>
          <p:cNvSpPr/>
          <p:nvPr/>
        </p:nvSpPr>
        <p:spPr>
          <a:xfrm rot="5400000">
            <a:off x="4026600" y="91944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6" name="Arrow: Down 27"/>
          <p:cNvSpPr/>
          <p:nvPr/>
        </p:nvSpPr>
        <p:spPr>
          <a:xfrm rot="5400000">
            <a:off x="4019400" y="197568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57" name="Picture 28" descr=""/>
          <p:cNvPicPr/>
          <p:nvPr/>
        </p:nvPicPr>
        <p:blipFill>
          <a:blip r:embed="rId14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" descr=""/>
          <p:cNvPicPr/>
          <p:nvPr/>
        </p:nvPicPr>
        <p:blipFill>
          <a:blip r:embed="rId15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Save to FlowJo v10 .wsp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0" name="Picture 2" descr=""/>
          <p:cNvPicPr/>
          <p:nvPr/>
        </p:nvPicPr>
        <p:blipFill>
          <a:blip r:embed="rId1"/>
          <a:srcRect l="0" t="0" r="48220" b="0"/>
          <a:stretch/>
        </p:blipFill>
        <p:spPr>
          <a:xfrm>
            <a:off x="-99000" y="491400"/>
            <a:ext cx="428040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Rectangle 1"/>
          <p:cNvSpPr/>
          <p:nvPr/>
        </p:nvSpPr>
        <p:spPr>
          <a:xfrm>
            <a:off x="4103280" y="697320"/>
            <a:ext cx="3564000" cy="5461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2" name="TextBox 3"/>
          <p:cNvSpPr/>
          <p:nvPr/>
        </p:nvSpPr>
        <p:spPr>
          <a:xfrm>
            <a:off x="7826760" y="2091600"/>
            <a:ext cx="22068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flowWorkspace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4"/>
          <p:cNvSpPr/>
          <p:nvPr/>
        </p:nvSpPr>
        <p:spPr>
          <a:xfrm>
            <a:off x="9785160" y="2084040"/>
            <a:ext cx="2103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CytoML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5"/>
          <p:cNvSpPr/>
          <p:nvPr/>
        </p:nvSpPr>
        <p:spPr>
          <a:xfrm>
            <a:off x="7841880" y="403848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FlowJo to 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6"/>
          <p:cNvSpPr/>
          <p:nvPr/>
        </p:nvSpPr>
        <p:spPr>
          <a:xfrm>
            <a:off x="9727920" y="403848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 to FlowJo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7"/>
          <p:cNvSpPr/>
          <p:nvPr/>
        </p:nvSpPr>
        <p:spPr>
          <a:xfrm>
            <a:off x="7779960" y="5997600"/>
            <a:ext cx="24620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for Statistics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7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81240" y="709560"/>
            <a:ext cx="1315080" cy="131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Graphic 1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93200" y="663120"/>
            <a:ext cx="1312200" cy="131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Graphic 1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503920" y="2584080"/>
            <a:ext cx="1315080" cy="131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Graphic 2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310040" y="2584080"/>
            <a:ext cx="1315080" cy="131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Graphic 24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488800" y="4572000"/>
            <a:ext cx="1339560" cy="133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Rectangle 25"/>
          <p:cNvSpPr/>
          <p:nvPr/>
        </p:nvSpPr>
        <p:spPr>
          <a:xfrm>
            <a:off x="4178520" y="890640"/>
            <a:ext cx="3382560" cy="237996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3" name="Rectangle 26"/>
          <p:cNvSpPr/>
          <p:nvPr/>
        </p:nvSpPr>
        <p:spPr>
          <a:xfrm>
            <a:off x="4155120" y="1041840"/>
            <a:ext cx="3423600" cy="25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Everything is saved to a FlowJo v10 .wsp, via CytoML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Any automated gates that need adjustment get corrected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Arrow: Down 27"/>
          <p:cNvSpPr/>
          <p:nvPr/>
        </p:nvSpPr>
        <p:spPr>
          <a:xfrm rot="5400000">
            <a:off x="4104360" y="323028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5" name="Rectangle 28"/>
          <p:cNvSpPr/>
          <p:nvPr/>
        </p:nvSpPr>
        <p:spPr>
          <a:xfrm>
            <a:off x="4160880" y="4051080"/>
            <a:ext cx="3382560" cy="8910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6" name="Rectangle 29"/>
          <p:cNvSpPr/>
          <p:nvPr/>
        </p:nvSpPr>
        <p:spPr>
          <a:xfrm>
            <a:off x="4137480" y="4128840"/>
            <a:ext cx="3423600" cy="10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Major cell subset statistics exported and analyzed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Arrow: Down 30"/>
          <p:cNvSpPr/>
          <p:nvPr/>
        </p:nvSpPr>
        <p:spPr>
          <a:xfrm rot="5400000">
            <a:off x="4086720" y="487116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78" name="Picture 31" descr=""/>
          <p:cNvPicPr/>
          <p:nvPr/>
        </p:nvPicPr>
        <p:blipFill>
          <a:blip r:embed="rId1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9" name="" descr=""/>
          <p:cNvPicPr/>
          <p:nvPr/>
        </p:nvPicPr>
        <p:blipFill>
          <a:blip r:embed="rId1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Iterating through cell subsets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1" name="Picture 2" descr=""/>
          <p:cNvPicPr/>
          <p:nvPr/>
        </p:nvPicPr>
        <p:blipFill>
          <a:blip r:embed="rId1"/>
          <a:srcRect l="0" t="0" r="6365" b="1419"/>
          <a:stretch/>
        </p:blipFill>
        <p:spPr>
          <a:xfrm>
            <a:off x="-99000" y="491400"/>
            <a:ext cx="7741800" cy="570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Rectangle 1"/>
          <p:cNvSpPr/>
          <p:nvPr/>
        </p:nvSpPr>
        <p:spPr>
          <a:xfrm>
            <a:off x="5911560" y="697320"/>
            <a:ext cx="2337120" cy="5010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3" name="TextBox 3"/>
          <p:cNvSpPr/>
          <p:nvPr/>
        </p:nvSpPr>
        <p:spPr>
          <a:xfrm>
            <a:off x="10053000" y="2738880"/>
            <a:ext cx="197028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GatingSets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4"/>
          <p:cNvSpPr/>
          <p:nvPr/>
        </p:nvSpPr>
        <p:spPr>
          <a:xfrm>
            <a:off x="10121400" y="5346360"/>
            <a:ext cx="197028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9"/>
          <p:cNvSpPr/>
          <p:nvPr/>
        </p:nvSpPr>
        <p:spPr>
          <a:xfrm>
            <a:off x="8113680" y="2738880"/>
            <a:ext cx="20491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Subset Export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0"/>
          <p:cNvSpPr/>
          <p:nvPr/>
        </p:nvSpPr>
        <p:spPr>
          <a:xfrm>
            <a:off x="8136360" y="5343120"/>
            <a:ext cx="19702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7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7400" y="3582360"/>
            <a:ext cx="1821240" cy="162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72320" y="3570480"/>
            <a:ext cx="1817640" cy="162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9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22120" y="914400"/>
            <a:ext cx="1882080" cy="168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64680" y="929160"/>
            <a:ext cx="1810080" cy="161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Arrow: Down 19"/>
          <p:cNvSpPr/>
          <p:nvPr/>
        </p:nvSpPr>
        <p:spPr>
          <a:xfrm rot="5400000">
            <a:off x="5965200" y="164628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2" name="Rectangle 20"/>
          <p:cNvSpPr/>
          <p:nvPr/>
        </p:nvSpPr>
        <p:spPr>
          <a:xfrm>
            <a:off x="6119640" y="2360520"/>
            <a:ext cx="2058120" cy="26668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3" name="Rectangle 21"/>
          <p:cNvSpPr/>
          <p:nvPr/>
        </p:nvSpPr>
        <p:spPr>
          <a:xfrm>
            <a:off x="6095880" y="2445480"/>
            <a:ext cx="20818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 subset of interest exported out as own .fcs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cell subset .fcs files brought into 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4" name="Picture 22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Coereba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7" name="Picture 2" descr=""/>
          <p:cNvPicPr/>
          <p:nvPr/>
        </p:nvPicPr>
        <p:blipFill>
          <a:blip r:embed="rId1"/>
          <a:srcRect l="0" t="0" r="6365" b="1419"/>
          <a:stretch/>
        </p:blipFill>
        <p:spPr>
          <a:xfrm>
            <a:off x="-99000" y="491400"/>
            <a:ext cx="7741800" cy="570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Rectangle 1"/>
          <p:cNvSpPr/>
          <p:nvPr/>
        </p:nvSpPr>
        <p:spPr>
          <a:xfrm>
            <a:off x="5911560" y="697320"/>
            <a:ext cx="2337120" cy="5010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9" name="TextBox 3"/>
          <p:cNvSpPr/>
          <p:nvPr/>
        </p:nvSpPr>
        <p:spPr>
          <a:xfrm>
            <a:off x="10053000" y="2738880"/>
            <a:ext cx="197028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GatingSets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4"/>
          <p:cNvSpPr/>
          <p:nvPr/>
        </p:nvSpPr>
        <p:spPr>
          <a:xfrm>
            <a:off x="10121400" y="5346360"/>
            <a:ext cx="197028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9"/>
          <p:cNvSpPr/>
          <p:nvPr/>
        </p:nvSpPr>
        <p:spPr>
          <a:xfrm>
            <a:off x="8113680" y="2738880"/>
            <a:ext cx="20491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Subset Export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10"/>
          <p:cNvSpPr/>
          <p:nvPr/>
        </p:nvSpPr>
        <p:spPr>
          <a:xfrm>
            <a:off x="8136360" y="5343120"/>
            <a:ext cx="19702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3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7400" y="3582360"/>
            <a:ext cx="1821240" cy="162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4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72320" y="3570480"/>
            <a:ext cx="1817640" cy="162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22120" y="914400"/>
            <a:ext cx="1882080" cy="168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6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64680" y="929160"/>
            <a:ext cx="1810080" cy="161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Arrow: Down 19"/>
          <p:cNvSpPr/>
          <p:nvPr/>
        </p:nvSpPr>
        <p:spPr>
          <a:xfrm rot="5400000">
            <a:off x="6177960" y="325152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8" name="Rectangle 21"/>
          <p:cNvSpPr/>
          <p:nvPr/>
        </p:nvSpPr>
        <p:spPr>
          <a:xfrm>
            <a:off x="5989680" y="875880"/>
            <a:ext cx="208188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Rectangle 8"/>
          <p:cNvSpPr/>
          <p:nvPr/>
        </p:nvSpPr>
        <p:spPr>
          <a:xfrm>
            <a:off x="6095880" y="2828160"/>
            <a:ext cx="1865520" cy="4230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0" name="TextBox 6"/>
          <p:cNvSpPr/>
          <p:nvPr/>
        </p:nvSpPr>
        <p:spPr>
          <a:xfrm>
            <a:off x="6095880" y="2845440"/>
            <a:ext cx="183384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1" name="Picture 11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2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Grouping cells that share every marker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4" name="Picture 27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2200" cy="177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5" name="Picture 72" descr=""/>
          <p:cNvPicPr/>
          <p:nvPr/>
        </p:nvPicPr>
        <p:blipFill>
          <a:blip r:embed="rId2"/>
          <a:stretch/>
        </p:blipFill>
        <p:spPr>
          <a:xfrm>
            <a:off x="1523880" y="1185480"/>
            <a:ext cx="9141840" cy="639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Arrow: Down 2"/>
          <p:cNvSpPr/>
          <p:nvPr/>
        </p:nvSpPr>
        <p:spPr>
          <a:xfrm>
            <a:off x="7251480" y="829440"/>
            <a:ext cx="518760" cy="7527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17" name="Picture 76" descr=""/>
          <p:cNvPicPr/>
          <p:nvPr/>
        </p:nvPicPr>
        <p:blipFill>
          <a:blip r:embed="rId3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0" name="Picture 4" descr=""/>
          <p:cNvPicPr/>
          <p:nvPr/>
        </p:nvPicPr>
        <p:blipFill>
          <a:blip r:embed="rId1"/>
          <a:srcRect l="28389" t="0" r="0" b="0"/>
          <a:stretch/>
        </p:blipFill>
        <p:spPr>
          <a:xfrm>
            <a:off x="3166200" y="293040"/>
            <a:ext cx="6562080" cy="64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1" name="Picture 5" descr=""/>
          <p:cNvPicPr/>
          <p:nvPr/>
        </p:nvPicPr>
        <p:blipFill>
          <a:blip r:embed="rId2"/>
          <a:srcRect l="0" t="26724" r="72153" b="28563"/>
          <a:stretch/>
        </p:blipFill>
        <p:spPr>
          <a:xfrm>
            <a:off x="373320" y="777240"/>
            <a:ext cx="2550600" cy="28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2" name="TextBox 8"/>
          <p:cNvSpPr/>
          <p:nvPr/>
        </p:nvSpPr>
        <p:spPr>
          <a:xfrm>
            <a:off x="499680" y="558468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3" name="Graphic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0760" y="3645360"/>
            <a:ext cx="1830600" cy="183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Picture 10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" descr=""/>
          <p:cNvPicPr/>
          <p:nvPr/>
        </p:nvPicPr>
        <p:blipFill>
          <a:blip r:embed="rId6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Initial automated gate, with ability to adjust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7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2200" cy="177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8" name="Picture 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9" name="Picture 2" descr=""/>
          <p:cNvPicPr/>
          <p:nvPr/>
        </p:nvPicPr>
        <p:blipFill>
          <a:blip r:embed="rId3"/>
          <a:srcRect l="0" t="0" r="50000" b="26630"/>
          <a:stretch/>
        </p:blipFill>
        <p:spPr>
          <a:xfrm>
            <a:off x="1844640" y="1020240"/>
            <a:ext cx="4249080" cy="445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TextBox 3"/>
          <p:cNvSpPr/>
          <p:nvPr/>
        </p:nvSpPr>
        <p:spPr>
          <a:xfrm>
            <a:off x="6531840" y="1122480"/>
            <a:ext cx="4449240" cy="37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Initial gates for designated markers calculated via openCyto (mindensity)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Ability to update gate_range constraints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Launch a Shiny app and designate interactively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6557400" y="1407600"/>
            <a:ext cx="3956400" cy="136980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6557400" y="3999600"/>
            <a:ext cx="3956400" cy="94248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6531840" y="2905920"/>
            <a:ext cx="3956400" cy="94248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4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CoerebaID column gets added to the .fcs file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6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2200" cy="177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7" name="Picture 4" descr=""/>
          <p:cNvPicPr/>
          <p:nvPr/>
        </p:nvPicPr>
        <p:blipFill>
          <a:blip r:embed="rId2"/>
          <a:stretch/>
        </p:blipFill>
        <p:spPr>
          <a:xfrm>
            <a:off x="7691040" y="776880"/>
            <a:ext cx="7575480" cy="530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Picture 7" descr=""/>
          <p:cNvPicPr/>
          <p:nvPr/>
        </p:nvPicPr>
        <p:blipFill>
          <a:blip r:embed="rId3"/>
          <a:srcRect l="0" t="0" r="0" b="54009"/>
          <a:stretch/>
        </p:blipFill>
        <p:spPr>
          <a:xfrm>
            <a:off x="-219600" y="2347920"/>
            <a:ext cx="7830360" cy="251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Picture 8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0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2" name="Picture 2" descr=""/>
          <p:cNvPicPr/>
          <p:nvPr/>
        </p:nvPicPr>
        <p:blipFill>
          <a:blip r:embed="rId1"/>
          <a:srcRect l="0" t="0" r="27212" b="0"/>
          <a:stretch/>
        </p:blipFill>
        <p:spPr>
          <a:xfrm>
            <a:off x="-99000" y="491400"/>
            <a:ext cx="601776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3" name="Rectangle 1"/>
          <p:cNvSpPr/>
          <p:nvPr/>
        </p:nvSpPr>
        <p:spPr>
          <a:xfrm>
            <a:off x="5897880" y="733680"/>
            <a:ext cx="2669760" cy="5424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4" name="Arrow: Down 3"/>
          <p:cNvSpPr/>
          <p:nvPr/>
        </p:nvSpPr>
        <p:spPr>
          <a:xfrm rot="5400000">
            <a:off x="6107040" y="475092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5" name="Rectangle 4"/>
          <p:cNvSpPr/>
          <p:nvPr/>
        </p:nvSpPr>
        <p:spPr>
          <a:xfrm>
            <a:off x="5960160" y="2318040"/>
            <a:ext cx="2490840" cy="239004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6" name="Rectangle 5"/>
          <p:cNvSpPr/>
          <p:nvPr/>
        </p:nvSpPr>
        <p:spPr>
          <a:xfrm>
            <a:off x="5978880" y="2509200"/>
            <a:ext cx="2450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stored in a Summarized Experiment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Interoperability with Bioconductor statistics packages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7" name="Picture 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8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50"/>
          <p:cNvSpPr/>
          <p:nvPr/>
        </p:nvSpPr>
        <p:spPr>
          <a:xfrm>
            <a:off x="7864560" y="1079280"/>
            <a:ext cx="3872520" cy="45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Permits rapid re-aggregation of the terminal nodes for re-evaluation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Ties in with downstream Bioconductor statistics packages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Portable. Don’t like how we aggregated groups of cells? File is small enough to store in the same data repository as .fcs files for subsequent re-analysis.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Filterable by metadata or node.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only in HEU-hi?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unique to one individual?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1" name="Picture 2" descr=""/>
          <p:cNvPicPr/>
          <p:nvPr/>
        </p:nvPicPr>
        <p:blipFill>
          <a:blip r:embed="rId1"/>
          <a:stretch/>
        </p:blipFill>
        <p:spPr>
          <a:xfrm>
            <a:off x="718560" y="705240"/>
            <a:ext cx="7186320" cy="560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3" name=""/>
          <p:cNvSpPr/>
          <p:nvPr/>
        </p:nvSpPr>
        <p:spPr>
          <a:xfrm>
            <a:off x="7864560" y="1079280"/>
            <a:ext cx="3792240" cy="976320"/>
          </a:xfrm>
          <a:prstGeom prst="rect">
            <a:avLst/>
          </a:prstGeom>
          <a:solidFill>
            <a:srgbClr val="ff4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7864560" y="2186280"/>
            <a:ext cx="3792240" cy="74772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7864560" y="3007800"/>
            <a:ext cx="3792240" cy="144180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7864560" y="4572000"/>
            <a:ext cx="3792240" cy="102816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7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9680" cy="6354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Selectively re-aggregate in seconds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9" name="Picture 77" descr=""/>
          <p:cNvPicPr/>
          <p:nvPr/>
        </p:nvPicPr>
        <p:blipFill>
          <a:blip r:embed="rId1"/>
          <a:stretch/>
        </p:blipFill>
        <p:spPr>
          <a:xfrm>
            <a:off x="1523880" y="1725480"/>
            <a:ext cx="9139680" cy="639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Arrow: Down 1"/>
          <p:cNvSpPr/>
          <p:nvPr/>
        </p:nvSpPr>
        <p:spPr>
          <a:xfrm rot="5366400">
            <a:off x="5482080" y="-723600"/>
            <a:ext cx="516600" cy="40557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61" name="Picture 7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680" cy="39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368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Arrow: Down 4"/>
          <p:cNvSpPr/>
          <p:nvPr/>
        </p:nvSpPr>
        <p:spPr>
          <a:xfrm rot="5366400">
            <a:off x="6241320" y="556200"/>
            <a:ext cx="545760" cy="251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1063080" y="0"/>
            <a:ext cx="10511280" cy="694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Retrieval of marker expressions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5" name="Picture 151" descr=""/>
          <p:cNvPicPr/>
          <p:nvPr/>
        </p:nvPicPr>
        <p:blipFill>
          <a:blip r:embed="rId1"/>
          <a:stretch/>
        </p:blipFill>
        <p:spPr>
          <a:xfrm>
            <a:off x="72000" y="108000"/>
            <a:ext cx="1843560" cy="159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Graphic 15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515600" y="0"/>
            <a:ext cx="1595880" cy="159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7" name="Picture 2" descr=""/>
          <p:cNvPicPr/>
          <p:nvPr/>
        </p:nvPicPr>
        <p:blipFill>
          <a:blip r:embed="rId4"/>
          <a:stretch/>
        </p:blipFill>
        <p:spPr>
          <a:xfrm>
            <a:off x="1863720" y="1362240"/>
            <a:ext cx="8462520" cy="457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9" name="Picture 60" descr=""/>
          <p:cNvPicPr/>
          <p:nvPr/>
        </p:nvPicPr>
        <p:blipFill>
          <a:blip r:embed="rId6"/>
          <a:stretch/>
        </p:blipFill>
        <p:spPr>
          <a:xfrm>
            <a:off x="10435680" y="6172560"/>
            <a:ext cx="1140840" cy="39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Normalization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1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812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2" name="TextBox 3"/>
          <p:cNvSpPr/>
          <p:nvPr/>
        </p:nvSpPr>
        <p:spPr>
          <a:xfrm>
            <a:off x="9582480" y="302508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CytoNorm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4"/>
          <p:cNvSpPr/>
          <p:nvPr/>
        </p:nvSpPr>
        <p:spPr>
          <a:xfrm>
            <a:off x="9693720" y="554724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CyCombine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9"/>
          <p:cNvSpPr/>
          <p:nvPr/>
        </p:nvSpPr>
        <p:spPr>
          <a:xfrm>
            <a:off x="7718760" y="301428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CytoNorm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10"/>
          <p:cNvSpPr/>
          <p:nvPr/>
        </p:nvSpPr>
        <p:spPr>
          <a:xfrm>
            <a:off x="7696440" y="553932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CyCombine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6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40600" y="3577680"/>
            <a:ext cx="1884960" cy="188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50120" y="3641760"/>
            <a:ext cx="1832040" cy="183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8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100360" y="1054080"/>
            <a:ext cx="1803960" cy="180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9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972720" y="1065960"/>
            <a:ext cx="1824120" cy="182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0" name="Arrow: Down 19"/>
          <p:cNvSpPr/>
          <p:nvPr/>
        </p:nvSpPr>
        <p:spPr>
          <a:xfrm rot="5400000">
            <a:off x="7329600" y="92304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81" name="Picture 20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2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Clustering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4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812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5" name="TextBox 3"/>
          <p:cNvSpPr/>
          <p:nvPr/>
        </p:nvSpPr>
        <p:spPr>
          <a:xfrm>
            <a:off x="9624960" y="294012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FlowSOM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Box 9"/>
          <p:cNvSpPr/>
          <p:nvPr/>
        </p:nvSpPr>
        <p:spPr>
          <a:xfrm>
            <a:off x="7707960" y="294012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FlowSOM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7" name="Graphic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25840" y="947520"/>
            <a:ext cx="1803960" cy="180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929160" y="937080"/>
            <a:ext cx="1846440" cy="18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Arrow: Down 8"/>
          <p:cNvSpPr/>
          <p:nvPr/>
        </p:nvSpPr>
        <p:spPr>
          <a:xfrm rot="5400000">
            <a:off x="7233840" y="202896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90" name="Picture 11" descr=""/>
          <p:cNvPicPr/>
          <p:nvPr/>
        </p:nvPicPr>
        <p:blipFill>
          <a:blip r:embed="rId6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1" name="" descr=""/>
          <p:cNvPicPr/>
          <p:nvPr/>
        </p:nvPicPr>
        <p:blipFill>
          <a:blip r:embed="rId7"/>
          <a:stretch/>
        </p:blipFill>
        <p:spPr>
          <a:xfrm>
            <a:off x="230760" y="628092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Dimensionality Visualization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3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8120" cy="57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TextBox 3"/>
          <p:cNvSpPr/>
          <p:nvPr/>
        </p:nvSpPr>
        <p:spPr>
          <a:xfrm>
            <a:off x="9624960" y="294012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Box 9"/>
          <p:cNvSpPr/>
          <p:nvPr/>
        </p:nvSpPr>
        <p:spPr>
          <a:xfrm>
            <a:off x="7707960" y="294012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Box 1"/>
          <p:cNvSpPr/>
          <p:nvPr/>
        </p:nvSpPr>
        <p:spPr>
          <a:xfrm>
            <a:off x="9660600" y="5346360"/>
            <a:ext cx="2103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PaCMAP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4"/>
          <p:cNvSpPr/>
          <p:nvPr/>
        </p:nvSpPr>
        <p:spPr>
          <a:xfrm>
            <a:off x="7860240" y="5420880"/>
            <a:ext cx="21038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PaCMAP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8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25840" y="1011600"/>
            <a:ext cx="1814760" cy="181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9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21600" y="3429000"/>
            <a:ext cx="1793520" cy="179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Graphic 13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956880" y="1028520"/>
            <a:ext cx="1786680" cy="17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Graphic 1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02960" y="3429000"/>
            <a:ext cx="1786680" cy="178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Arrow: Down 15"/>
          <p:cNvSpPr/>
          <p:nvPr/>
        </p:nvSpPr>
        <p:spPr>
          <a:xfrm rot="5400000">
            <a:off x="7212600" y="3088440"/>
            <a:ext cx="518760" cy="67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03" name="Picture 16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4" name="" descr=""/>
          <p:cNvPicPr/>
          <p:nvPr/>
        </p:nvPicPr>
        <p:blipFill>
          <a:blip r:embed="rId11"/>
          <a:stretch/>
        </p:blipFill>
        <p:spPr>
          <a:xfrm>
            <a:off x="230760" y="617292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Ability to contrast unsupervised methods vs. “manual” ground-truth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6" name="Picture 4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7" name="" descr=""/>
          <p:cNvPicPr/>
          <p:nvPr/>
        </p:nvPicPr>
        <p:blipFill>
          <a:blip r:embed="rId2"/>
          <a:stretch/>
        </p:blipFill>
        <p:spPr>
          <a:xfrm>
            <a:off x="914400" y="1504080"/>
            <a:ext cx="10282680" cy="420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8" name="" descr=""/>
          <p:cNvPicPr/>
          <p:nvPr/>
        </p:nvPicPr>
        <p:blipFill>
          <a:blip r:embed="rId3"/>
          <a:stretch/>
        </p:blipFill>
        <p:spPr>
          <a:xfrm>
            <a:off x="457560" y="617256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Retrieving and re-enumerating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0" name="Picture 1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1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2" name="" descr=""/>
          <p:cNvPicPr/>
          <p:nvPr/>
        </p:nvPicPr>
        <p:blipFill>
          <a:blip r:embed="rId3"/>
          <a:srcRect l="0" t="0" r="75396" b="50082"/>
          <a:stretch/>
        </p:blipFill>
        <p:spPr>
          <a:xfrm>
            <a:off x="685800" y="1438200"/>
            <a:ext cx="2615040" cy="224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3" name="" descr=""/>
          <p:cNvPicPr/>
          <p:nvPr/>
        </p:nvPicPr>
        <p:blipFill>
          <a:blip r:embed="rId4"/>
          <a:srcRect l="0" t="0" r="0" b="46265"/>
          <a:stretch/>
        </p:blipFill>
        <p:spPr>
          <a:xfrm>
            <a:off x="3568680" y="2062800"/>
            <a:ext cx="3879360" cy="187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4" name="" descr=""/>
          <p:cNvPicPr/>
          <p:nvPr/>
        </p:nvPicPr>
        <p:blipFill>
          <a:blip r:embed="rId5"/>
          <a:srcRect l="28789" t="0" r="0" b="79839"/>
          <a:stretch/>
        </p:blipFill>
        <p:spPr>
          <a:xfrm>
            <a:off x="5927760" y="4227480"/>
            <a:ext cx="5497920" cy="1602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5" name=""/>
          <p:cNvGrpSpPr/>
          <p:nvPr/>
        </p:nvGrpSpPr>
        <p:grpSpPr>
          <a:xfrm>
            <a:off x="1307160" y="3902760"/>
            <a:ext cx="1731600" cy="589320"/>
            <a:chOff x="1307160" y="3902760"/>
            <a:chExt cx="1731600" cy="589320"/>
          </a:xfrm>
        </p:grpSpPr>
        <p:sp>
          <p:nvSpPr>
            <p:cNvPr id="716" name=""/>
            <p:cNvSpPr/>
            <p:nvPr/>
          </p:nvSpPr>
          <p:spPr>
            <a:xfrm>
              <a:off x="1307160" y="3902760"/>
              <a:ext cx="1525320" cy="589320"/>
            </a:xfrm>
            <a:prstGeom prst="rect">
              <a:avLst/>
            </a:prstGeom>
            <a:solidFill>
              <a:srgbClr val="afd095">
                <a:alpha val="50000"/>
              </a:srgbClr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7" name=""/>
            <p:cNvSpPr/>
            <p:nvPr/>
          </p:nvSpPr>
          <p:spPr>
            <a:xfrm>
              <a:off x="1491480" y="3956760"/>
              <a:ext cx="15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1) Gate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8" name=""/>
          <p:cNvSpPr/>
          <p:nvPr/>
        </p:nvSpPr>
        <p:spPr>
          <a:xfrm>
            <a:off x="4051800" y="1319040"/>
            <a:ext cx="3154680" cy="73944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9" name=""/>
          <p:cNvSpPr/>
          <p:nvPr/>
        </p:nvSpPr>
        <p:spPr>
          <a:xfrm>
            <a:off x="7963200" y="3495960"/>
            <a:ext cx="2414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3) Re-enumerate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plot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3283920" y="1522080"/>
            <a:ext cx="547920" cy="64224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1" name=""/>
          <p:cNvSpPr/>
          <p:nvPr/>
        </p:nvSpPr>
        <p:spPr>
          <a:xfrm>
            <a:off x="6994800" y="3729240"/>
            <a:ext cx="565200" cy="62640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2" name=""/>
          <p:cNvSpPr/>
          <p:nvPr/>
        </p:nvSpPr>
        <p:spPr>
          <a:xfrm>
            <a:off x="4203360" y="1387080"/>
            <a:ext cx="3200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2) Retrieve manual-annotated gates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7766640" y="3428640"/>
            <a:ext cx="2588040" cy="73944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Picture 6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680" cy="39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5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368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"/>
          <p:cNvSpPr/>
          <p:nvPr/>
        </p:nvSpPr>
        <p:spPr>
          <a:xfrm>
            <a:off x="457200" y="89280"/>
            <a:ext cx="11200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For each island, re-aggregate cells from each donor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5011560" y="5800320"/>
            <a:ext cx="1598760" cy="34740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5011560" y="5739120"/>
            <a:ext cx="1616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DN T cells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9" name=""/>
          <p:cNvGrpSpPr/>
          <p:nvPr/>
        </p:nvGrpSpPr>
        <p:grpSpPr>
          <a:xfrm>
            <a:off x="838440" y="914400"/>
            <a:ext cx="10590480" cy="4545000"/>
            <a:chOff x="838440" y="914400"/>
            <a:chExt cx="10590480" cy="4545000"/>
          </a:xfrm>
        </p:grpSpPr>
        <p:pic>
          <p:nvPicPr>
            <p:cNvPr id="730" name="" descr=""/>
            <p:cNvPicPr/>
            <p:nvPr/>
          </p:nvPicPr>
          <p:blipFill>
            <a:blip r:embed="rId3"/>
            <a:stretch/>
          </p:blipFill>
          <p:spPr>
            <a:xfrm>
              <a:off x="838440" y="914400"/>
              <a:ext cx="10590480" cy="1507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31" name="" descr=""/>
            <p:cNvPicPr/>
            <p:nvPr/>
          </p:nvPicPr>
          <p:blipFill>
            <a:blip r:embed="rId4"/>
            <a:stretch/>
          </p:blipFill>
          <p:spPr>
            <a:xfrm>
              <a:off x="838440" y="2442600"/>
              <a:ext cx="10590480" cy="1508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32" name="" descr=""/>
            <p:cNvPicPr/>
            <p:nvPr/>
          </p:nvPicPr>
          <p:blipFill>
            <a:blip r:embed="rId5"/>
            <a:stretch/>
          </p:blipFill>
          <p:spPr>
            <a:xfrm>
              <a:off x="838440" y="3951720"/>
              <a:ext cx="10590480" cy="15076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Picture 10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680" cy="39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4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3680" cy="35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5" name="" descr=""/>
          <p:cNvPicPr/>
          <p:nvPr/>
        </p:nvPicPr>
        <p:blipFill>
          <a:blip r:embed="rId3"/>
          <a:stretch/>
        </p:blipFill>
        <p:spPr>
          <a:xfrm>
            <a:off x="4286520" y="914400"/>
            <a:ext cx="4398840" cy="457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6" name="" descr=""/>
          <p:cNvPicPr/>
          <p:nvPr/>
        </p:nvPicPr>
        <p:blipFill>
          <a:blip r:embed="rId4"/>
          <a:stretch/>
        </p:blipFill>
        <p:spPr>
          <a:xfrm>
            <a:off x="457200" y="914400"/>
            <a:ext cx="3336120" cy="45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7" name="" descr=""/>
          <p:cNvPicPr/>
          <p:nvPr/>
        </p:nvPicPr>
        <p:blipFill>
          <a:blip r:embed="rId5"/>
          <a:stretch/>
        </p:blipFill>
        <p:spPr>
          <a:xfrm>
            <a:off x="9141840" y="914400"/>
            <a:ext cx="2286720" cy="457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"/>
          <p:cNvSpPr/>
          <p:nvPr/>
        </p:nvSpPr>
        <p:spPr>
          <a:xfrm>
            <a:off x="1143000" y="5569560"/>
            <a:ext cx="1731600" cy="408600"/>
          </a:xfrm>
          <a:prstGeom prst="rect">
            <a:avLst/>
          </a:prstGeom>
          <a:solidFill>
            <a:srgbClr val="ff4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5844960" y="5643000"/>
            <a:ext cx="1694880" cy="40860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>
            <a:off x="9601200" y="5594760"/>
            <a:ext cx="1598760" cy="34740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9655200" y="5558760"/>
            <a:ext cx="1616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DN T cells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>
            <a:off x="5844960" y="5664960"/>
            <a:ext cx="1694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CD8 T cells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1164960" y="5569560"/>
            <a:ext cx="1709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CD4  T cells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0" y="112680"/>
            <a:ext cx="12114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Cord blood T cells - Baseline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Picture 12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680" cy="39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6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3680" cy="35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7" name="" descr=""/>
          <p:cNvPicPr/>
          <p:nvPr/>
        </p:nvPicPr>
        <p:blipFill>
          <a:blip r:embed="rId3"/>
          <a:stretch/>
        </p:blipFill>
        <p:spPr>
          <a:xfrm>
            <a:off x="3531600" y="3257280"/>
            <a:ext cx="3414960" cy="245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" descr=""/>
          <p:cNvPicPr/>
          <p:nvPr/>
        </p:nvPicPr>
        <p:blipFill>
          <a:blip r:embed="rId4"/>
          <a:stretch/>
        </p:blipFill>
        <p:spPr>
          <a:xfrm>
            <a:off x="3531600" y="914400"/>
            <a:ext cx="3255480" cy="234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"/>
          <p:cNvSpPr/>
          <p:nvPr/>
        </p:nvSpPr>
        <p:spPr>
          <a:xfrm>
            <a:off x="675000" y="201600"/>
            <a:ext cx="10982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CD4-CD8- Cord blood T cell subsets driving observed IFN</a:t>
            </a:r>
            <a:r>
              <a:rPr b="0" lang="en-US" sz="2800" strike="noStrike" u="sng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γ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0" name="" descr=""/>
          <p:cNvPicPr/>
          <p:nvPr/>
        </p:nvPicPr>
        <p:blipFill>
          <a:blip r:embed="rId5"/>
          <a:stretch/>
        </p:blipFill>
        <p:spPr>
          <a:xfrm>
            <a:off x="7315200" y="914400"/>
            <a:ext cx="3445920" cy="412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1" name="Arrow: Down 5"/>
          <p:cNvSpPr/>
          <p:nvPr/>
        </p:nvSpPr>
        <p:spPr>
          <a:xfrm rot="5366400">
            <a:off x="10929600" y="1092600"/>
            <a:ext cx="545760" cy="915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52" name="" descr=""/>
          <p:cNvPicPr/>
          <p:nvPr/>
        </p:nvPicPr>
        <p:blipFill>
          <a:blip r:embed="rId6"/>
          <a:stretch/>
        </p:blipFill>
        <p:spPr>
          <a:xfrm>
            <a:off x="457200" y="914400"/>
            <a:ext cx="2742120" cy="457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"/>
          <p:cNvSpPr/>
          <p:nvPr/>
        </p:nvSpPr>
        <p:spPr>
          <a:xfrm>
            <a:off x="1600200" y="806400"/>
            <a:ext cx="684720" cy="4799520"/>
          </a:xfrm>
          <a:prstGeom prst="rect">
            <a:avLst/>
          </a:prstGeom>
          <a:noFill/>
          <a:ln w="3672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Picture 11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680" cy="39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5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3680" cy="35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6" name="" descr=""/>
          <p:cNvPicPr/>
          <p:nvPr/>
        </p:nvPicPr>
        <p:blipFill>
          <a:blip r:embed="rId3"/>
          <a:stretch/>
        </p:blipFill>
        <p:spPr>
          <a:xfrm>
            <a:off x="4358160" y="3429000"/>
            <a:ext cx="3655800" cy="274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7" name="" descr=""/>
          <p:cNvPicPr/>
          <p:nvPr/>
        </p:nvPicPr>
        <p:blipFill>
          <a:blip r:embed="rId4"/>
          <a:stretch/>
        </p:blipFill>
        <p:spPr>
          <a:xfrm>
            <a:off x="4125600" y="842400"/>
            <a:ext cx="4136760" cy="258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8" name="" descr=""/>
          <p:cNvPicPr/>
          <p:nvPr/>
        </p:nvPicPr>
        <p:blipFill>
          <a:blip r:embed="rId5"/>
          <a:stretch/>
        </p:blipFill>
        <p:spPr>
          <a:xfrm>
            <a:off x="8263800" y="806400"/>
            <a:ext cx="3655800" cy="274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9" name="" descr=""/>
          <p:cNvPicPr/>
          <p:nvPr/>
        </p:nvPicPr>
        <p:blipFill>
          <a:blip r:embed="rId6"/>
          <a:stretch/>
        </p:blipFill>
        <p:spPr>
          <a:xfrm>
            <a:off x="548640" y="1029960"/>
            <a:ext cx="3336120" cy="457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0" name=""/>
          <p:cNvSpPr/>
          <p:nvPr/>
        </p:nvSpPr>
        <p:spPr>
          <a:xfrm>
            <a:off x="685800" y="89280"/>
            <a:ext cx="11200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Conventional Cord blood T cell subsets also show changes in CD62L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2478600" y="914400"/>
            <a:ext cx="684720" cy="4799520"/>
          </a:xfrm>
          <a:prstGeom prst="rect">
            <a:avLst/>
          </a:prstGeom>
          <a:noFill/>
          <a:ln w="3672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5"/>
          <p:cNvSpPr/>
          <p:nvPr/>
        </p:nvSpPr>
        <p:spPr>
          <a:xfrm>
            <a:off x="7269840" y="1225800"/>
            <a:ext cx="4731840" cy="56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Fun off-label uses thus far: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Contrasting where “manually-gated” cells end up vs. our unsupervised methods (normalization, clustering, etc.)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Added benefit of looking-at-the-forest: Easy to identify badly cryopreserved specimens where cell populations were lost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Functional and Iterative: plenty for everyone to dislike 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:)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4" name="Picture 2" descr=""/>
          <p:cNvPicPr/>
          <p:nvPr/>
        </p:nvPicPr>
        <p:blipFill>
          <a:blip r:embed="rId1"/>
          <a:stretch/>
        </p:blipFill>
        <p:spPr>
          <a:xfrm>
            <a:off x="479160" y="1063080"/>
            <a:ext cx="6453360" cy="451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5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6" name=""/>
          <p:cNvSpPr/>
          <p:nvPr/>
        </p:nvSpPr>
        <p:spPr>
          <a:xfrm>
            <a:off x="7315200" y="1297800"/>
            <a:ext cx="4341600" cy="372600"/>
          </a:xfrm>
          <a:prstGeom prst="rect">
            <a:avLst/>
          </a:prstGeom>
          <a:solidFill>
            <a:srgbClr val="ff8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7315200" y="1949400"/>
            <a:ext cx="4341600" cy="159840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7315200" y="3765600"/>
            <a:ext cx="4341600" cy="1598400"/>
          </a:xfrm>
          <a:prstGeom prst="rect">
            <a:avLst/>
          </a:prstGeom>
          <a:solidFill>
            <a:srgbClr val="dde8c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9" name="" descr=""/>
          <p:cNvPicPr/>
          <p:nvPr/>
        </p:nvPicPr>
        <p:blipFill>
          <a:blip r:embed="rId3"/>
          <a:stretch/>
        </p:blipFill>
        <p:spPr>
          <a:xfrm>
            <a:off x="230760" y="617292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1840" cy="637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Are our high-dimensional analysis problems fixed?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1" name="Picture 6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084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2" name="Picture 48" descr=""/>
          <p:cNvPicPr/>
          <p:nvPr/>
        </p:nvPicPr>
        <p:blipFill>
          <a:blip r:embed="rId2"/>
          <a:srcRect l="19530" t="32518" r="20344" b="27769"/>
          <a:stretch/>
        </p:blipFill>
        <p:spPr>
          <a:xfrm>
            <a:off x="1098360" y="1371960"/>
            <a:ext cx="10327680" cy="383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3" name="" descr=""/>
          <p:cNvPicPr/>
          <p:nvPr/>
        </p:nvPicPr>
        <p:blipFill>
          <a:blip r:embed="rId3"/>
          <a:stretch/>
        </p:blipFill>
        <p:spPr>
          <a:xfrm>
            <a:off x="230400" y="617256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8240" cy="6339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Semi-supervised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5" name="Picture 45" descr=""/>
          <p:cNvPicPr/>
          <p:nvPr/>
        </p:nvPicPr>
        <p:blipFill>
          <a:blip r:embed="rId1"/>
          <a:stretch/>
        </p:blipFill>
        <p:spPr>
          <a:xfrm>
            <a:off x="2061000" y="491400"/>
            <a:ext cx="8264520" cy="57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6" name="Picture 47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2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3120" cy="1316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good is any tool if the community is not able to use it?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9" name="Picture 5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800" cy="39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0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81" name=""/>
          <p:cNvGrpSpPr/>
          <p:nvPr/>
        </p:nvGrpSpPr>
        <p:grpSpPr>
          <a:xfrm>
            <a:off x="5486400" y="1150920"/>
            <a:ext cx="6254280" cy="4337280"/>
            <a:chOff x="5486400" y="1150920"/>
            <a:chExt cx="6254280" cy="4337280"/>
          </a:xfrm>
        </p:grpSpPr>
        <p:pic>
          <p:nvPicPr>
            <p:cNvPr id="782" name="" descr=""/>
            <p:cNvPicPr/>
            <p:nvPr/>
          </p:nvPicPr>
          <p:blipFill>
            <a:blip r:embed="rId3"/>
            <a:stretch/>
          </p:blipFill>
          <p:spPr>
            <a:xfrm>
              <a:off x="5486400" y="1150920"/>
              <a:ext cx="6254280" cy="4337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3" name="" descr=""/>
            <p:cNvPicPr/>
            <p:nvPr/>
          </p:nvPicPr>
          <p:blipFill>
            <a:blip r:embed="rId4"/>
            <a:stretch/>
          </p:blipFill>
          <p:spPr>
            <a:xfrm>
              <a:off x="8780760" y="1379520"/>
              <a:ext cx="2340360" cy="2568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84" name=""/>
          <p:cNvSpPr/>
          <p:nvPr/>
        </p:nvSpPr>
        <p:spPr>
          <a:xfrm>
            <a:off x="444600" y="1150920"/>
            <a:ext cx="4565880" cy="45622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5" name="Rectangle 9"/>
          <p:cNvSpPr/>
          <p:nvPr/>
        </p:nvSpPr>
        <p:spPr>
          <a:xfrm>
            <a:off x="415440" y="1186920"/>
            <a:ext cx="46119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 resources to learn Cytometry in R to begin with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Those that exist aimed at those with intermediate-advanced R skills, not beginners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Know-how concentrated at a few institutions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self-learning attempts end in frustration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3120" cy="1316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R: A free weekly course for flow cytometrist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 no-to-little coding experience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7" name="Picture 5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800" cy="39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8" name="" descr=""/>
          <p:cNvPicPr/>
          <p:nvPr/>
        </p:nvPicPr>
        <p:blipFill>
          <a:blip r:embed="rId2"/>
          <a:stretch/>
        </p:blipFill>
        <p:spPr>
          <a:xfrm>
            <a:off x="3500640" y="1081800"/>
            <a:ext cx="6819480" cy="151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9" name="" descr=""/>
          <p:cNvPicPr/>
          <p:nvPr/>
        </p:nvPicPr>
        <p:blipFill>
          <a:blip r:embed="rId3"/>
          <a:stretch/>
        </p:blipFill>
        <p:spPr>
          <a:xfrm>
            <a:off x="3483720" y="2774160"/>
            <a:ext cx="6836400" cy="401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0" name="Picture 52" descr=""/>
          <p:cNvPicPr/>
          <p:nvPr/>
        </p:nvPicPr>
        <p:blipFill>
          <a:blip r:embed="rId4"/>
          <a:stretch/>
        </p:blipFill>
        <p:spPr>
          <a:xfrm>
            <a:off x="757800" y="1094760"/>
            <a:ext cx="1971720" cy="145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1" name="Graphic 2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4800" y="3429000"/>
            <a:ext cx="1354320" cy="11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2" name="PlaceHolder 27"/>
          <p:cNvSpPr/>
          <p:nvPr/>
        </p:nvSpPr>
        <p:spPr>
          <a:xfrm>
            <a:off x="613800" y="4836600"/>
            <a:ext cx="1548720" cy="10458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3" name="" descr=""/>
          <p:cNvPicPr/>
          <p:nvPr/>
        </p:nvPicPr>
        <p:blipFill>
          <a:blip r:embed="rId7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"/>
          <p:cNvSpPr/>
          <p:nvPr/>
        </p:nvSpPr>
        <p:spPr>
          <a:xfrm>
            <a:off x="6629400" y="1467000"/>
            <a:ext cx="4336920" cy="37843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95" name="" descr=""/>
          <p:cNvPicPr/>
          <p:nvPr/>
        </p:nvPicPr>
        <p:blipFill>
          <a:blip r:embed="rId1"/>
          <a:stretch/>
        </p:blipFill>
        <p:spPr>
          <a:xfrm>
            <a:off x="228600" y="868320"/>
            <a:ext cx="5708160" cy="552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400" cy="1315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YouTube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Rectangle 70"/>
          <p:cNvSpPr/>
          <p:nvPr/>
        </p:nvSpPr>
        <p:spPr>
          <a:xfrm>
            <a:off x="6665400" y="1467000"/>
            <a:ext cx="459432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Three live-streams a week (accommodating different timezones and schedules)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Recordings available immediately after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Best of the weekly livestreams added to the playlist, cutting down on editing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8" name="Picture 79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5080" cy="39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120" cy="35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>
            <a:off x="252000" y="1238040"/>
            <a:ext cx="4649760" cy="42415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400" cy="1315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Website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Rectangle 71"/>
          <p:cNvSpPr/>
          <p:nvPr/>
        </p:nvSpPr>
        <p:spPr>
          <a:xfrm>
            <a:off x="307440" y="1443600"/>
            <a:ext cx="459432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Created with Quarto, hosted via GitHub pages.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Code, code outputs, screenshots and explanations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Searchable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New weekly material added as a new .qmd file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3" name="Picture 8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080" cy="39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4" name="" descr=""/>
          <p:cNvPicPr/>
          <p:nvPr/>
        </p:nvPicPr>
        <p:blipFill>
          <a:blip r:embed="rId2"/>
          <a:stretch/>
        </p:blipFill>
        <p:spPr>
          <a:xfrm>
            <a:off x="5029200" y="1062000"/>
            <a:ext cx="5396760" cy="441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5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120" cy="35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"/>
          <p:cNvSpPr/>
          <p:nvPr/>
        </p:nvSpPr>
        <p:spPr>
          <a:xfrm>
            <a:off x="6773760" y="914400"/>
            <a:ext cx="4649760" cy="47941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400" cy="1315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GitHub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72"/>
          <p:cNvSpPr/>
          <p:nvPr/>
        </p:nvSpPr>
        <p:spPr>
          <a:xfrm>
            <a:off x="6828480" y="1048680"/>
            <a:ext cx="459432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 and datasets available via the GitHub repository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Course participants start course by creating GitHub account and forking the repository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After Positron is linked to GitHub account, pull locally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new material posted each week, sync and pull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9" name="Picture 8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080" cy="39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0" name="" descr=""/>
          <p:cNvPicPr/>
          <p:nvPr/>
        </p:nvPicPr>
        <p:blipFill>
          <a:blip r:embed="rId2"/>
          <a:stretch/>
        </p:blipFill>
        <p:spPr>
          <a:xfrm>
            <a:off x="457200" y="914400"/>
            <a:ext cx="6040080" cy="480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"/>
          <p:cNvSpPr/>
          <p:nvPr/>
        </p:nvSpPr>
        <p:spPr>
          <a:xfrm>
            <a:off x="685800" y="2561400"/>
            <a:ext cx="4649760" cy="13651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400" cy="1315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Discussion Forum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Rectangle 73"/>
          <p:cNvSpPr/>
          <p:nvPr/>
        </p:nvSpPr>
        <p:spPr>
          <a:xfrm>
            <a:off x="717480" y="2561400"/>
            <a:ext cx="45943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GitHub Discussions page has been repurposed as a community forum for questions, etc.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4" name="Picture 8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080" cy="39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5" name="" descr=""/>
          <p:cNvPicPr/>
          <p:nvPr/>
        </p:nvPicPr>
        <p:blipFill>
          <a:blip r:embed="rId2"/>
          <a:stretch/>
        </p:blipFill>
        <p:spPr>
          <a:xfrm>
            <a:off x="5591520" y="914400"/>
            <a:ext cx="5832000" cy="503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"/>
          <p:cNvSpPr/>
          <p:nvPr/>
        </p:nvSpPr>
        <p:spPr>
          <a:xfrm>
            <a:off x="2569320" y="4523400"/>
            <a:ext cx="6623280" cy="15940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3120" cy="1316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Half-way through this passion project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10"/>
          <p:cNvSpPr/>
          <p:nvPr/>
        </p:nvSpPr>
        <p:spPr>
          <a:xfrm>
            <a:off x="2569320" y="4523400"/>
            <a:ext cx="702468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Wrapping up Cytometry Core module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Gathering steam to start on the Unsupervised Analysis section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9" name="Picture 5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800" cy="39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0" name="" descr=""/>
          <p:cNvPicPr/>
          <p:nvPr/>
        </p:nvPicPr>
        <p:blipFill>
          <a:blip r:embed="rId2"/>
          <a:stretch/>
        </p:blipFill>
        <p:spPr>
          <a:xfrm>
            <a:off x="228600" y="914400"/>
            <a:ext cx="11654280" cy="344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840" cy="35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2" name=""/>
          <p:cNvSpPr/>
          <p:nvPr/>
        </p:nvSpPr>
        <p:spPr>
          <a:xfrm rot="19411800">
            <a:off x="10549800" y="793440"/>
            <a:ext cx="455400" cy="912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"/>
          <p:cNvSpPr/>
          <p:nvPr/>
        </p:nvSpPr>
        <p:spPr>
          <a:xfrm>
            <a:off x="349200" y="4885200"/>
            <a:ext cx="2163600" cy="5994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4" name=""/>
          <p:cNvSpPr/>
          <p:nvPr/>
        </p:nvSpPr>
        <p:spPr>
          <a:xfrm>
            <a:off x="10395000" y="2685600"/>
            <a:ext cx="1365480" cy="6796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5" name=""/>
          <p:cNvSpPr/>
          <p:nvPr/>
        </p:nvSpPr>
        <p:spPr>
          <a:xfrm>
            <a:off x="8458200" y="2649600"/>
            <a:ext cx="1365480" cy="6796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6" name=""/>
          <p:cNvSpPr/>
          <p:nvPr/>
        </p:nvSpPr>
        <p:spPr>
          <a:xfrm>
            <a:off x="4102200" y="3828600"/>
            <a:ext cx="3897000" cy="21132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7" name=""/>
          <p:cNvSpPr/>
          <p:nvPr/>
        </p:nvSpPr>
        <p:spPr>
          <a:xfrm>
            <a:off x="349200" y="3803400"/>
            <a:ext cx="2161080" cy="9100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8" name=""/>
          <p:cNvSpPr/>
          <p:nvPr/>
        </p:nvSpPr>
        <p:spPr>
          <a:xfrm>
            <a:off x="349200" y="1204200"/>
            <a:ext cx="3422880" cy="681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9" name=""/>
          <p:cNvSpPr/>
          <p:nvPr/>
        </p:nvSpPr>
        <p:spPr>
          <a:xfrm>
            <a:off x="338400" y="2118600"/>
            <a:ext cx="3422880" cy="15940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3886200" y="46080"/>
            <a:ext cx="4562640" cy="1316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Acknowledgments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1" name="Picture 54" descr=""/>
          <p:cNvPicPr/>
          <p:nvPr/>
        </p:nvPicPr>
        <p:blipFill>
          <a:blip r:embed="rId1"/>
          <a:stretch/>
        </p:blipFill>
        <p:spPr>
          <a:xfrm>
            <a:off x="9290520" y="3601800"/>
            <a:ext cx="2361960" cy="42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2" name="Picture 55" descr=""/>
          <p:cNvPicPr/>
          <p:nvPr/>
        </p:nvPicPr>
        <p:blipFill>
          <a:blip r:embed="rId2"/>
          <a:stretch/>
        </p:blipFill>
        <p:spPr>
          <a:xfrm>
            <a:off x="9673200" y="4028400"/>
            <a:ext cx="1980720" cy="39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Content Placeholder 1"/>
          <p:cNvSpPr/>
          <p:nvPr/>
        </p:nvSpPr>
        <p:spPr>
          <a:xfrm>
            <a:off x="228600" y="3803400"/>
            <a:ext cx="3970440" cy="181944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Cristiana Cairo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Kirsten E. Lyke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Xiaoxuan Fan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Box 23"/>
          <p:cNvSpPr/>
          <p:nvPr/>
        </p:nvSpPr>
        <p:spPr>
          <a:xfrm>
            <a:off x="255240" y="1215000"/>
            <a:ext cx="339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mothers and their infants, and their communities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Box 24"/>
          <p:cNvSpPr/>
          <p:nvPr/>
        </p:nvSpPr>
        <p:spPr>
          <a:xfrm>
            <a:off x="302400" y="2203200"/>
            <a:ext cx="33980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the open-source contributors, developers, and maintainers, that collectively made the tool sets without which all of this would not be feasible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Content Placeholder 3"/>
          <p:cNvSpPr/>
          <p:nvPr/>
        </p:nvSpPr>
        <p:spPr>
          <a:xfrm>
            <a:off x="9829800" y="1486800"/>
            <a:ext cx="3970440" cy="181944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Box 25"/>
          <p:cNvSpPr/>
          <p:nvPr/>
        </p:nvSpPr>
        <p:spPr>
          <a:xfrm>
            <a:off x="8001000" y="2846880"/>
            <a:ext cx="225504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Box 26"/>
          <p:cNvSpPr/>
          <p:nvPr/>
        </p:nvSpPr>
        <p:spPr>
          <a:xfrm>
            <a:off x="10287000" y="2895120"/>
            <a:ext cx="15692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Bioconductor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Zulip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9" name="Picture 56" descr=""/>
          <p:cNvPicPr/>
          <p:nvPr/>
        </p:nvPicPr>
        <p:blipFill>
          <a:blip r:embed="rId3"/>
          <a:stretch/>
        </p:blipFill>
        <p:spPr>
          <a:xfrm>
            <a:off x="9144000" y="5715000"/>
            <a:ext cx="2741400" cy="107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0" name="Graphic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18880" y="5771520"/>
            <a:ext cx="3436920" cy="89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1" name="TextBox 27"/>
          <p:cNvSpPr/>
          <p:nvPr/>
        </p:nvSpPr>
        <p:spPr>
          <a:xfrm>
            <a:off x="228600" y="5065200"/>
            <a:ext cx="34992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spAutoFit/>
          </a:bodyPr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Daniela Franco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Natarajan Ayithan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2" name="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0200" y="1036800"/>
            <a:ext cx="1594080" cy="15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3" name="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51000" y="1062000"/>
            <a:ext cx="1594080" cy="15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4" name="Picture 57" descr="A picture containing text, person, indoor, working&#10;&#10;Description automatically generated"/>
          <p:cNvPicPr/>
          <p:nvPr/>
        </p:nvPicPr>
        <p:blipFill>
          <a:blip r:embed="rId10"/>
          <a:stretch/>
        </p:blipFill>
        <p:spPr>
          <a:xfrm>
            <a:off x="4305240" y="1234080"/>
            <a:ext cx="3577320" cy="242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5" name="Picture 58" descr=""/>
          <p:cNvPicPr/>
          <p:nvPr/>
        </p:nvPicPr>
        <p:blipFill>
          <a:blip r:embed="rId11"/>
          <a:stretch/>
        </p:blipFill>
        <p:spPr>
          <a:xfrm>
            <a:off x="156600" y="122400"/>
            <a:ext cx="3577320" cy="93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6" name="Picture 59" descr=""/>
          <p:cNvPicPr/>
          <p:nvPr/>
        </p:nvPicPr>
        <p:blipFill>
          <a:blip r:embed="rId12"/>
          <a:stretch/>
        </p:blipFill>
        <p:spPr>
          <a:xfrm>
            <a:off x="9493200" y="109080"/>
            <a:ext cx="2512800" cy="94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7" name="Rectangle 14"/>
          <p:cNvSpPr/>
          <p:nvPr/>
        </p:nvSpPr>
        <p:spPr>
          <a:xfrm>
            <a:off x="4138200" y="3850200"/>
            <a:ext cx="374040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U01 HD092309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Rectangle 15"/>
          <p:cNvSpPr/>
          <p:nvPr/>
        </p:nvSpPr>
        <p:spPr>
          <a:xfrm>
            <a:off x="8602200" y="4417200"/>
            <a:ext cx="3740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www.linkedin.com/in/david-rach/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9" name="" descr=""/>
          <p:cNvPicPr/>
          <p:nvPr/>
        </p:nvPicPr>
        <p:blipFill>
          <a:blip r:embed="rId13"/>
          <a:stretch/>
        </p:blipFill>
        <p:spPr>
          <a:xfrm>
            <a:off x="8769600" y="4453200"/>
            <a:ext cx="40032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0" name=""/>
          <p:cNvSpPr/>
          <p:nvPr/>
        </p:nvSpPr>
        <p:spPr>
          <a:xfrm>
            <a:off x="8686800" y="5065200"/>
            <a:ext cx="3090600" cy="4194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1" name=""/>
          <p:cNvSpPr/>
          <p:nvPr/>
        </p:nvSpPr>
        <p:spPr>
          <a:xfrm>
            <a:off x="8686800" y="5101200"/>
            <a:ext cx="30060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Want to collaborate? Reach out!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1143000" y="-182520"/>
            <a:ext cx="10051920" cy="13190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Rectangle 74"/>
          <p:cNvSpPr/>
          <p:nvPr/>
        </p:nvSpPr>
        <p:spPr>
          <a:xfrm>
            <a:off x="8557200" y="2791800"/>
            <a:ext cx="2965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UMGCCC FCSR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dashboard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Rectangle 75"/>
          <p:cNvSpPr/>
          <p:nvPr/>
        </p:nvSpPr>
        <p:spPr>
          <a:xfrm>
            <a:off x="4991400" y="5257800"/>
            <a:ext cx="2965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YouTube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@CytometryInR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Rectangle 76"/>
          <p:cNvSpPr/>
          <p:nvPr/>
        </p:nvSpPr>
        <p:spPr>
          <a:xfrm>
            <a:off x="4991400" y="2791800"/>
            <a:ext cx="2965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 - 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Rectangle 77"/>
          <p:cNvSpPr/>
          <p:nvPr/>
        </p:nvSpPr>
        <p:spPr>
          <a:xfrm>
            <a:off x="876600" y="2791800"/>
            <a:ext cx="2965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Luciernaga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Rectangle 78"/>
          <p:cNvSpPr/>
          <p:nvPr/>
        </p:nvSpPr>
        <p:spPr>
          <a:xfrm>
            <a:off x="876600" y="5257800"/>
            <a:ext cx="2965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ectangle 79"/>
          <p:cNvSpPr/>
          <p:nvPr/>
        </p:nvSpPr>
        <p:spPr>
          <a:xfrm>
            <a:off x="8557200" y="5029200"/>
            <a:ext cx="2965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How-To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9" name="Picture 83" descr=""/>
          <p:cNvPicPr/>
          <p:nvPr/>
        </p:nvPicPr>
        <p:blipFill>
          <a:blip r:embed="rId1"/>
          <a:stretch/>
        </p:blipFill>
        <p:spPr>
          <a:xfrm>
            <a:off x="4023000" y="3578400"/>
            <a:ext cx="2104920" cy="159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0" name="Picture 84" descr=""/>
          <p:cNvPicPr/>
          <p:nvPr/>
        </p:nvPicPr>
        <p:blipFill>
          <a:blip r:embed="rId2"/>
          <a:stretch/>
        </p:blipFill>
        <p:spPr>
          <a:xfrm>
            <a:off x="171720" y="3596400"/>
            <a:ext cx="1841400" cy="159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1" name="Picture 85" descr=""/>
          <p:cNvPicPr/>
          <p:nvPr/>
        </p:nvPicPr>
        <p:blipFill>
          <a:blip r:embed="rId3"/>
          <a:stretch/>
        </p:blipFill>
        <p:spPr>
          <a:xfrm>
            <a:off x="8557200" y="3673440"/>
            <a:ext cx="1365120" cy="157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2" name="Picture 86" descr=""/>
          <p:cNvPicPr/>
          <p:nvPr/>
        </p:nvPicPr>
        <p:blipFill>
          <a:blip r:embed="rId4"/>
          <a:stretch/>
        </p:blipFill>
        <p:spPr>
          <a:xfrm>
            <a:off x="208080" y="1071000"/>
            <a:ext cx="1841040" cy="159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3" name="Picture 88" descr=""/>
          <p:cNvPicPr/>
          <p:nvPr/>
        </p:nvPicPr>
        <p:blipFill>
          <a:blip r:embed="rId5"/>
          <a:srcRect l="33723" t="6681" r="35970" b="0"/>
          <a:stretch/>
        </p:blipFill>
        <p:spPr>
          <a:xfrm rot="24000">
            <a:off x="8186400" y="1119600"/>
            <a:ext cx="1952280" cy="158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4" name="Picture 89" descr=""/>
          <p:cNvPicPr/>
          <p:nvPr/>
        </p:nvPicPr>
        <p:blipFill>
          <a:blip r:embed="rId6"/>
          <a:stretch/>
        </p:blipFill>
        <p:spPr>
          <a:xfrm>
            <a:off x="4023000" y="1035000"/>
            <a:ext cx="2104920" cy="159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5" name="Graphic 20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2140200" y="3429000"/>
            <a:ext cx="1822320" cy="182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6" name="Graphic 23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134400" y="3429000"/>
            <a:ext cx="1822320" cy="182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7" name="Graphic 25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2140200" y="927000"/>
            <a:ext cx="1822320" cy="182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8" name="Graphic 26" descr="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0121400" y="963000"/>
            <a:ext cx="1822320" cy="182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9" name="Graphic 27" descr="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10157400" y="3537000"/>
            <a:ext cx="1686600" cy="168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0" name="Graphic 28" descr="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6134400" y="963000"/>
            <a:ext cx="1822320" cy="182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1" name="" descr=""/>
          <p:cNvPicPr/>
          <p:nvPr/>
        </p:nvPicPr>
        <p:blipFill>
          <a:blip r:embed="rId19"/>
          <a:stretch/>
        </p:blipFill>
        <p:spPr>
          <a:xfrm>
            <a:off x="230760" y="6172920"/>
            <a:ext cx="1363680" cy="35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2" name="Picture 90" descr=""/>
          <p:cNvPicPr/>
          <p:nvPr/>
        </p:nvPicPr>
        <p:blipFill>
          <a:blip r:embed="rId20"/>
          <a:stretch/>
        </p:blipFill>
        <p:spPr>
          <a:xfrm>
            <a:off x="10435680" y="6172560"/>
            <a:ext cx="1133640" cy="39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"/>
          <p:cNvSpPr/>
          <p:nvPr/>
        </p:nvSpPr>
        <p:spPr>
          <a:xfrm>
            <a:off x="8217720" y="3377520"/>
            <a:ext cx="3439800" cy="408600"/>
          </a:xfrm>
          <a:prstGeom prst="rect">
            <a:avLst/>
          </a:prstGeom>
          <a:solidFill>
            <a:srgbClr val="ff4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8181720" y="4063320"/>
            <a:ext cx="3475800" cy="40860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5" name=""/>
          <p:cNvSpPr/>
          <p:nvPr/>
        </p:nvSpPr>
        <p:spPr>
          <a:xfrm>
            <a:off x="8217720" y="3399120"/>
            <a:ext cx="34398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CD4 T cells → 16241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ectangle 80"/>
          <p:cNvSpPr/>
          <p:nvPr/>
        </p:nvSpPr>
        <p:spPr>
          <a:xfrm>
            <a:off x="7893720" y="4063320"/>
            <a:ext cx="37638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CD8 T cells → 12466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8229600" y="1371600"/>
            <a:ext cx="3427920" cy="72936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78" name="Picture 4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680" cy="39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9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3680" cy="35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0" name="" descr=""/>
          <p:cNvPicPr/>
          <p:nvPr/>
        </p:nvPicPr>
        <p:blipFill>
          <a:blip r:embed="rId3"/>
          <a:stretch/>
        </p:blipFill>
        <p:spPr>
          <a:xfrm>
            <a:off x="456840" y="1191600"/>
            <a:ext cx="7542720" cy="41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1" name=""/>
          <p:cNvSpPr/>
          <p:nvPr/>
        </p:nvSpPr>
        <p:spPr>
          <a:xfrm>
            <a:off x="0" y="89280"/>
            <a:ext cx="12190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Biology is (fortunately) not just math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Rectangle 81"/>
          <p:cNvSpPr/>
          <p:nvPr/>
        </p:nvSpPr>
        <p:spPr>
          <a:xfrm>
            <a:off x="8229600" y="1371600"/>
            <a:ext cx="34257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29-color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               → 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536 million (theory)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8196480" y="4665600"/>
            <a:ext cx="3461040" cy="57600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"/>
          <p:cNvSpPr/>
          <p:nvPr/>
        </p:nvSpPr>
        <p:spPr>
          <a:xfrm>
            <a:off x="8229600" y="4701600"/>
            <a:ext cx="34279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DN T cells →    9035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>
            <a:off x="8000640" y="2514600"/>
            <a:ext cx="38412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actually exploring our panels dimensional space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</TotalTime>
  <Application>LibreOffice/25.2.3.2$Linux_X86_64 LibreOffice_project/520$Build-2</Application>
  <AppVersion>15.0000</AppVersion>
  <Words>1146</Words>
  <Paragraphs>268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2025-07-21T11:58:18Z</dcterms:created>
  <dc:creator>Thomas Evans</dc:creator>
  <dc:description/>
  <dc:language>en-US</dc:language>
  <cp:lastModifiedBy/>
  <cp:lastPrinted>2026-10-28T07:44:23Z</cp:lastPrinted>
  <dcterms:modified xsi:type="dcterms:W3CDTF">2026-10-28T07:45:21Z</dcterms:modified>
  <cp:revision>68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0x010100804A9A38EF1C6344A4E9D5FEC9AF05B5</vt:lpwstr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39</vt:i4>
  </property>
  <property fmtid="{D5CDD505-2E9C-101B-9397-08002B2CF9AE}" pid="6" name="_dlc_DocIdItemGuid">
    <vt:lpwstr>4d3e5825-e8bc-4995-b9ad-4f8ee15e5c87</vt:lpwstr>
  </property>
</Properties>
</file>